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d7edd4bb86432a" /><Relationship Type="http://schemas.openxmlformats.org/officeDocument/2006/relationships/extended-properties" Target="/docProps/app.xml" Id="Ra805cac2651e4deb" /><Relationship Type="http://schemas.openxmlformats.org/officeDocument/2006/relationships/officeDocument" Target="/ppt/presentation.xml" Id="R1625eb35f9064c2f" /></Relationships>
</file>

<file path=ppt/presentation.xml><?xml version="1.0" encoding="utf-8"?>
<p:presentation xmlns:p="http://schemas.openxmlformats.org/presentationml/2006/main">
  <p:sldMasterIdLst>
    <p:sldMasterId xmlns:r="http://schemas.openxmlformats.org/officeDocument/2006/relationships" id="2147483648" r:id="R524eaddc8a534a80"/>
  </p:sldMasterIdLst>
  <p:notesMasterIdLst>
    <p:notesMasterId xmlns:r="http://schemas.openxmlformats.org/officeDocument/2006/relationships" r:id="R3343be7cbfae4144"/>
  </p:notesMasterIdLst>
  <p:sldIdLst>
    <p:sldId xmlns:r="http://schemas.openxmlformats.org/officeDocument/2006/relationships" id="256" r:id="Rbf06f873f0544c67"/>
    <p:sldId xmlns:r="http://schemas.openxmlformats.org/officeDocument/2006/relationships" id="257" r:id="R8f5ebc04f38f45af"/>
    <p:sldId xmlns:r="http://schemas.openxmlformats.org/officeDocument/2006/relationships" id="258" r:id="R796d54ff6b9048ae"/>
    <p:sldId xmlns:r="http://schemas.openxmlformats.org/officeDocument/2006/relationships" id="259" r:id="R2df7db1608654dc2"/>
    <p:sldId xmlns:r="http://schemas.openxmlformats.org/officeDocument/2006/relationships" id="260" r:id="Ra4c0a542827b448d"/>
    <p:sldId xmlns:r="http://schemas.openxmlformats.org/officeDocument/2006/relationships" id="261" r:id="Rb69a6649a2414d29"/>
    <p:sldId xmlns:r="http://schemas.openxmlformats.org/officeDocument/2006/relationships" id="262" r:id="R49cb16cf6eb24073"/>
    <p:sldId xmlns:r="http://schemas.openxmlformats.org/officeDocument/2006/relationships" id="263" r:id="R5f0bae0d70c646a2"/>
    <p:sldId xmlns:r="http://schemas.openxmlformats.org/officeDocument/2006/relationships" id="264" r:id="Rbb7f5fd7a28a425e"/>
    <p:sldId xmlns:r="http://schemas.openxmlformats.org/officeDocument/2006/relationships" id="265" r:id="R19e1e7cd32184891"/>
    <p:sldId xmlns:r="http://schemas.openxmlformats.org/officeDocument/2006/relationships" id="266" r:id="R9dd14898330f4e3d"/>
    <p:sldId xmlns:r="http://schemas.openxmlformats.org/officeDocument/2006/relationships" id="267" r:id="R6506581143d548a5"/>
    <p:sldId xmlns:r="http://schemas.openxmlformats.org/officeDocument/2006/relationships" id="268" r:id="Ra647eecabe3b4734"/>
    <p:sldId xmlns:r="http://schemas.openxmlformats.org/officeDocument/2006/relationships" id="269" r:id="R55b27259b73c4b4e"/>
    <p:sldId xmlns:r="http://schemas.openxmlformats.org/officeDocument/2006/relationships" id="270" r:id="R536fae760d6d4bc2"/>
    <p:sldId xmlns:r="http://schemas.openxmlformats.org/officeDocument/2006/relationships" id="271" r:id="Rd6e4f3c2f0194c34"/>
    <p:sldId xmlns:r="http://schemas.openxmlformats.org/officeDocument/2006/relationships" id="272" r:id="R715601e88fc94d3f"/>
    <p:sldId xmlns:r="http://schemas.openxmlformats.org/officeDocument/2006/relationships" id="273" r:id="R9c8a8465148147c7"/>
    <p:sldId xmlns:r="http://schemas.openxmlformats.org/officeDocument/2006/relationships" id="274" r:id="R2de98823471649ef"/>
    <p:sldId xmlns:r="http://schemas.openxmlformats.org/officeDocument/2006/relationships" id="275" r:id="R2c7c8b0d33324bac"/>
    <p:sldId xmlns:r="http://schemas.openxmlformats.org/officeDocument/2006/relationships" id="276" r:id="Ra59dcfc84d874efc"/>
    <p:sldId xmlns:r="http://schemas.openxmlformats.org/officeDocument/2006/relationships" id="277" r:id="R89f98b4d3d2c4975"/>
    <p:sldId xmlns:r="http://schemas.openxmlformats.org/officeDocument/2006/relationships" id="278" r:id="R1f1d711297574311"/>
    <p:sldId xmlns:r="http://schemas.openxmlformats.org/officeDocument/2006/relationships" id="279" r:id="Ra281f48aa78b4fed"/>
    <p:sldId xmlns:r="http://schemas.openxmlformats.org/officeDocument/2006/relationships" id="280" r:id="R1830759a99434f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ba515ddf694237" /><Relationship Type="http://schemas.openxmlformats.org/officeDocument/2006/relationships/slideMaster" Target="/ppt/slideMasters/slideMaster1.xml" Id="R524eaddc8a534a80" /><Relationship Type="http://schemas.openxmlformats.org/officeDocument/2006/relationships/notesMaster" Target="/ppt/notesMasters/notesMaster1.xml" Id="R3343be7cbfae4144" /><Relationship Type="http://schemas.openxmlformats.org/officeDocument/2006/relationships/presProps" Target="/ppt/presProps.xml" Id="Re3579827e2ae4ff1" /><Relationship Type="http://schemas.openxmlformats.org/officeDocument/2006/relationships/tableStyles" Target="/ppt/tableStyles.xml" Id="R6be6d3b5efb24226" /><Relationship Type="http://schemas.openxmlformats.org/officeDocument/2006/relationships/slide" Target="/ppt/slides/slide1.xml" Id="Rbf06f873f0544c67" /><Relationship Type="http://schemas.openxmlformats.org/officeDocument/2006/relationships/slide" Target="/ppt/slides/slide2.xml" Id="R8f5ebc04f38f45af" /><Relationship Type="http://schemas.openxmlformats.org/officeDocument/2006/relationships/slide" Target="/ppt/slides/slide3.xml" Id="R796d54ff6b9048ae" /><Relationship Type="http://schemas.openxmlformats.org/officeDocument/2006/relationships/slide" Target="/ppt/slides/slide4.xml" Id="R2df7db1608654dc2" /><Relationship Type="http://schemas.openxmlformats.org/officeDocument/2006/relationships/slide" Target="/ppt/slides/slide5.xml" Id="Ra4c0a542827b448d" /><Relationship Type="http://schemas.openxmlformats.org/officeDocument/2006/relationships/slide" Target="/ppt/slides/slide6.xml" Id="Rb69a6649a2414d29" /><Relationship Type="http://schemas.openxmlformats.org/officeDocument/2006/relationships/slide" Target="/ppt/slides/slide7.xml" Id="R49cb16cf6eb24073" /><Relationship Type="http://schemas.openxmlformats.org/officeDocument/2006/relationships/slide" Target="/ppt/slides/slide8.xml" Id="R5f0bae0d70c646a2" /><Relationship Type="http://schemas.openxmlformats.org/officeDocument/2006/relationships/slide" Target="/ppt/slides/slide9.xml" Id="Rbb7f5fd7a28a425e" /><Relationship Type="http://schemas.openxmlformats.org/officeDocument/2006/relationships/slide" Target="/ppt/slides/slide10.xml" Id="R19e1e7cd32184891" /><Relationship Type="http://schemas.openxmlformats.org/officeDocument/2006/relationships/slide" Target="/ppt/slides/slide11.xml" Id="R9dd14898330f4e3d" /><Relationship Type="http://schemas.openxmlformats.org/officeDocument/2006/relationships/slide" Target="/ppt/slides/slide12.xml" Id="R6506581143d548a5" /><Relationship Type="http://schemas.openxmlformats.org/officeDocument/2006/relationships/slide" Target="/ppt/slides/slide13.xml" Id="Ra647eecabe3b4734" /><Relationship Type="http://schemas.openxmlformats.org/officeDocument/2006/relationships/slide" Target="/ppt/slides/slide14.xml" Id="R55b27259b73c4b4e" /><Relationship Type="http://schemas.openxmlformats.org/officeDocument/2006/relationships/slide" Target="/ppt/slides/slide15.xml" Id="R536fae760d6d4bc2" /><Relationship Type="http://schemas.openxmlformats.org/officeDocument/2006/relationships/slide" Target="/ppt/slides/slide16.xml" Id="Rd6e4f3c2f0194c34" /><Relationship Type="http://schemas.openxmlformats.org/officeDocument/2006/relationships/slide" Target="/ppt/slides/slide17.xml" Id="R715601e88fc94d3f" /><Relationship Type="http://schemas.openxmlformats.org/officeDocument/2006/relationships/slide" Target="/ppt/slides/slide18.xml" Id="R9c8a8465148147c7" /><Relationship Type="http://schemas.openxmlformats.org/officeDocument/2006/relationships/slide" Target="/ppt/slides/slide19.xml" Id="R2de98823471649ef" /><Relationship Type="http://schemas.openxmlformats.org/officeDocument/2006/relationships/slide" Target="/ppt/slides/slide20.xml" Id="R2c7c8b0d33324bac" /><Relationship Type="http://schemas.openxmlformats.org/officeDocument/2006/relationships/slide" Target="/ppt/slides/slide21.xml" Id="Ra59dcfc84d874efc" /><Relationship Type="http://schemas.openxmlformats.org/officeDocument/2006/relationships/slide" Target="/ppt/slides/slide22.xml" Id="R89f98b4d3d2c4975" /><Relationship Type="http://schemas.openxmlformats.org/officeDocument/2006/relationships/slide" Target="/ppt/slides/slide23.xml" Id="R1f1d711297574311" /><Relationship Type="http://schemas.openxmlformats.org/officeDocument/2006/relationships/slide" Target="/ppt/slides/slide24.xml" Id="Ra281f48aa78b4fed" /><Relationship Type="http://schemas.openxmlformats.org/officeDocument/2006/relationships/slide" Target="/ppt/slides/slide25.xml" Id="R1830759a99434f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d0c8bef7e146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27b8b5ed3449d7" /><Relationship Type="http://schemas.openxmlformats.org/officeDocument/2006/relationships/notesMaster" Target="/ppt/notesMasters/notesMaster1.xml" Id="R253500e8c64847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e6476a113042ad" /><Relationship Type="http://schemas.openxmlformats.org/officeDocument/2006/relationships/notesMaster" Target="/ppt/notesMasters/notesMaster1.xml" Id="Rf9d35f3a968a43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fe7fd532484656" /><Relationship Type="http://schemas.openxmlformats.org/officeDocument/2006/relationships/notesMaster" Target="/ppt/notesMasters/notesMaster1.xml" Id="Rb5d95b57142d4d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fc83799a3e45a9" /><Relationship Type="http://schemas.openxmlformats.org/officeDocument/2006/relationships/notesMaster" Target="/ppt/notesMasters/notesMaster1.xml" Id="R6b4cc62892414d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149f7cf0df429a" /><Relationship Type="http://schemas.openxmlformats.org/officeDocument/2006/relationships/notesMaster" Target="/ppt/notesMasters/notesMaster1.xml" Id="R68f3b915ac9a40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5748fecb644455" /><Relationship Type="http://schemas.openxmlformats.org/officeDocument/2006/relationships/notesMaster" Target="/ppt/notesMasters/notesMaster1.xml" Id="R1977d3091b0741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3105527319441f" /><Relationship Type="http://schemas.openxmlformats.org/officeDocument/2006/relationships/notesMaster" Target="/ppt/notesMasters/notesMaster1.xml" Id="R8d8b5c99948d43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7b423ef7254d5e" /><Relationship Type="http://schemas.openxmlformats.org/officeDocument/2006/relationships/notesMaster" Target="/ppt/notesMasters/notesMaster1.xml" Id="R6cb9316a3d6048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e27e818be4425a" /><Relationship Type="http://schemas.openxmlformats.org/officeDocument/2006/relationships/notesMaster" Target="/ppt/notesMasters/notesMaster1.xml" Id="R1df9e54be7d542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74d3f47d6d4337" /><Relationship Type="http://schemas.openxmlformats.org/officeDocument/2006/relationships/notesMaster" Target="/ppt/notesMasters/notesMaster1.xml" Id="R7df6152b569f43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b0dc059d394ead" /><Relationship Type="http://schemas.openxmlformats.org/officeDocument/2006/relationships/notesMaster" Target="/ppt/notesMasters/notesMaster1.xml" Id="Ra37dcda3930c4c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4945465a4446f8" /><Relationship Type="http://schemas.openxmlformats.org/officeDocument/2006/relationships/notesMaster" Target="/ppt/notesMasters/notesMaster1.xml" Id="R523a52ee0ffa46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bc0c8ee9564e45" /><Relationship Type="http://schemas.openxmlformats.org/officeDocument/2006/relationships/notesMaster" Target="/ppt/notesMasters/notesMaster1.xml" Id="Rea6d1a3c790348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1c53c5c2b74cf2" /><Relationship Type="http://schemas.openxmlformats.org/officeDocument/2006/relationships/notesMaster" Target="/ppt/notesMasters/notesMaster1.xml" Id="R422232aa18ba41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29a93519494474" /><Relationship Type="http://schemas.openxmlformats.org/officeDocument/2006/relationships/notesMaster" Target="/ppt/notesMasters/notesMaster1.xml" Id="R9e8cd0c23dbd4d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e3c97681d54ff5" /><Relationship Type="http://schemas.openxmlformats.org/officeDocument/2006/relationships/notesMaster" Target="/ppt/notesMasters/notesMaster1.xml" Id="R50e9fae12ee248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8da527163ec4fe7" /><Relationship Type="http://schemas.openxmlformats.org/officeDocument/2006/relationships/notesMaster" Target="/ppt/notesMasters/notesMaster1.xml" Id="Re5e332be3b234f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9baa844ccd442a" /><Relationship Type="http://schemas.openxmlformats.org/officeDocument/2006/relationships/notesMaster" Target="/ppt/notesMasters/notesMaster1.xml" Id="R94c22ee416594d5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f671dbbc854c6d" /><Relationship Type="http://schemas.openxmlformats.org/officeDocument/2006/relationships/notesMaster" Target="/ppt/notesMasters/notesMaster1.xml" Id="R6e612d69f13c41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64a236dec3d4521" /><Relationship Type="http://schemas.openxmlformats.org/officeDocument/2006/relationships/notesMaster" Target="/ppt/notesMasters/notesMaster1.xml" Id="R75a41c85d04742f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195e1521fbc4b1c" /><Relationship Type="http://schemas.openxmlformats.org/officeDocument/2006/relationships/notesMaster" Target="/ppt/notesMasters/notesMaster1.xml" Id="Radd8188c94d547c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1dc2819197d4f45" /><Relationship Type="http://schemas.openxmlformats.org/officeDocument/2006/relationships/notesMaster" Target="/ppt/notesMasters/notesMaster1.xml" Id="R99fe73d732af48e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94ffbfcf716441c" /><Relationship Type="http://schemas.openxmlformats.org/officeDocument/2006/relationships/notesMaster" Target="/ppt/notesMasters/notesMaster1.xml" Id="R2298e50ba8d9413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03ea7583f5a482a" /><Relationship Type="http://schemas.openxmlformats.org/officeDocument/2006/relationships/notesMaster" Target="/ppt/notesMasters/notesMaster1.xml" Id="R66cf1704ccfb410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9d2835025f4d90" /><Relationship Type="http://schemas.openxmlformats.org/officeDocument/2006/relationships/notesMaster" Target="/ppt/notesMasters/notesMaster1.xml" Id="R08444eb3e1f14d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0,5 min.</a:t>
            </a:r>
          </a:p>
          <a:p xmlns:a="http://schemas.openxmlformats.org/drawingml/2006/main">
            <a:r>
              <a:t>Présenter le sujet : comparer trois réseaux récurrents avec un protocole commun, puis vérifier leur utilité face à une référence simple. Le premier exemple sert à comprendre les séquences. L’expérience principale utilise des températures réelles. Annoncer que les résultats ne désignent pas un gagnant universel.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Présenter la question avant les architectures. Nous cherchons un compromis entre erreur, nombre de paramètres et temps mesuré. Le signal synthétique rend la fenêtre visible. Jena permet une expérience réelle. Les modèles ont le même nombre d’unités, pas le même nombre de paramètres. La référence simple évite de confondre fonctionnement du réseau et réelle valeur ajoutée.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Expliquer que NumPy n’impose pas des données artificielles. Nous avons choisi de créer une sinusoïde pour la première expérience. La seconde utilise des températures observées. L’horizon passe d’une étape à vingt-quatre heures et les unités changent. Les scores bruts des deux expériences ne se comparent donc pas directement. Sources : expériences exécutées dans les deux Notebooks du projet. Les CSV conservent les valeurs non arrondies.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Le trait régulier représente la sinusoïde et l’autre les mesures bruitées. La période vaut cinquante étapes. Les réseaux prévoient la prochaine valeur à partir des quarante précédentes. Sur le test, MAE : persistance 0,1361, SimpleRNN 0,0819, LSTM 0,0809, GRU 0,0850. Les trois réseaux améliorent cette référence. Cette tâche ne teste pas rigoureusement les dépendances lointaines. Source : figures/01_signal_synthetique.png et resultats/comparaison_finale_test.csv.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 min.</a:t>
            </a:r>
          </a:p>
          <a:p xmlns:a="http://schemas.openxmlformats.org/drawingml/2006/main">
            <a:r>
              <a:t/>
            </a:r>
          </a:p>
          <a:p xmlns:a="http://schemas.openxmlformats.org/drawingml/2006/main">
            <a:r>
              <a:t>Une RNN lit les observations dans l’ordre. À chaque instant, elle combine l’entrée actuelle et son état précédent. Les poids sont partagés entre les instants. L’état est un vecteur appris, pas une copie exacte de tout le passé. Expliquer chaque symbole : x est l’entrée, h l’état, W les poids, b le biais. Le calcul se répète sur les 72 instants, puis Dense produit la prévision. Les dépendances longues peuvent être difficiles à apprendre, notamment à cause des gradients qui diminuent ou augmentent. Nos courbes seules ne prouvent pas ce mécanisme. Sources : https://keras.io/api/layers/recurrent_layers/simple_rnn/ ; https://keras.io/api/layers/recurrent_layers/lstm/ ; https://keras.io/api/layers/recurrent_layers/gru/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 min.</a:t>
            </a:r>
          </a:p>
          <a:p xmlns:a="http://schemas.openxmlformats.org/drawingml/2006/main">
            <a:r>
              <a:t/>
            </a:r>
          </a:p>
          <a:p xmlns:a="http://schemas.openxmlformats.org/drawingml/2006/main">
            <a:r>
              <a:t>LSTM appartient à la famille des réseaux récurrents. Elle possède l’état caché h et l’état de cellule c. La porte d’oubli module l’ancienne mémoire. La porte d’entrée module l’ajout d’une information candidate. La porte de sortie module l’information transmise dans h. Les portes utilisent des valeurs entre zéro et un, apprises, et non des décisions humaines. La formule de cellule illustre la conservation additive. Le symbole ⊙ indique un produit composante par composante. LSTM facilite la gestion du passé sans garantir la meilleure erreur sur chaque problème. Sources : https://keras.io/api/layers/recurrent_layers/simple_rnn/ ; https://keras.io/api/layers/recurrent_layers/lstm/ ; https://keras.io/api/layers/recurrent_layers/gru/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min.</a:t>
            </a:r>
          </a:p>
          <a:p xmlns:a="http://schemas.openxmlformats.org/drawingml/2006/main">
            <a:r>
              <a:t/>
            </a:r>
          </a:p>
          <a:p xmlns:a="http://schemas.openxmlformats.org/drawingml/2006/main">
            <a:r>
              <a:t>La GRU est aussi récurrente. Elle n’a pas d’état de cellule séparé. La porte de réinitialisation règle l’utilisation du passé lors du calcul de l’état candidat. La porte de mise à jour règle la combinaison de l’ancien état et de l’état candidat. Avec la convention affichée, z favorise l’ancien état lorsqu’il est proche de un. D’autres textes utilisent la convention complémentaire. Ici, la variante Keras reset_after=True emploie deux ensembles de biais. Elle explique le comptage de paramètres. Sources : https://keras.io/api/layers/recurrent_layers/simple_rnn/ ; https://keras.io/api/layers/recurrent_layers/lstm/ ; https://keras.io/api/layers/recurrent_layers/gru/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Les 72 pas correspondent aux observations, et les 32 unités à la taille de l’état caché. Dense(1) transforme le dernier état en température standardisée prévue. Les trois modèles relisent chaque fenêtre avec un nouvel état initial, car stateful=False. La longueur 72 n’augmente pas le nombre de poids récurrents, car ils sont partagés. Les comptes incluent les 33 paramètres de Dense. Source : resultats/jena/4614d659431c/architectures.csv et documentation Keras.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Les données proviennent du Max Planck Institute for Biogeochemistry. L’archive du tutoriel TensorFlow couvre 2009 à 2016. Elle comprend quatorze variables météorologiques, mais notre expérience n’utilise que T (degC). Nous calculons des moyennes horaires, alors que le tutoriel sélectionne une mesure sur six. Une heure étiquetée 14 h résume [13 h,14 h). Les 70 129 positions horaires comprennent des lacunes. La dernière étiquette déborde au 1er janvier 2017 à cause du regroupement. Source externe : https://www.tensorflow.org/tutorials/structured_data/time_series . Source locale : protocole.json.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min.</a:t>
            </a:r>
          </a:p>
          <a:p xmlns:a="http://schemas.openxmlformats.org/drawingml/2006/main">
            <a:r>
              <a:t/>
            </a:r>
          </a:p>
          <a:p xmlns:a="http://schemas.openxmlformats.org/drawingml/2006/main">
            <a:r>
              <a:t>Le contrôle a trouvé 327 dates dupliquées dans les lignes originales et 88 positions horaires manquantes. Il n’a pas trouvé de température brute hors de notre plage de contrôle ni de valeur brute absente. L’absence de ligne n’est pas une valeur NaN dans un CSV avant création de la grille. Les deux périodes manquantes durent 15 et 73 heures. Nous remplissons les trois premières heures de chaque lacune depuis le passé, et conservons les 82 heures restantes comme absentes. Nous excluons ensuite fenêtres incomplètes, cibles initialement manquantes et références hebdomadaires absentes. Les motifs se recouvrent : leur somme n’est pas le total exclu. Au total, 348 candidats sont exclus avant les délais de frontière. Source : protocole.json, exclusions.json et periodes_manquantes.csv.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min.</a:t>
            </a:r>
          </a:p>
          <a:p xmlns:a="http://schemas.openxmlformats.org/drawingml/2006/main">
            <a:r>
              <a:t/>
            </a:r>
          </a:p>
          <a:p xmlns:a="http://schemas.openxmlformats.org/drawingml/2006/main">
            <a:r>
              <a:t>Lire le graphique de gauche à droite. Chaque point bleu correspond à une moyenne horaire disponible. Les 72 dernières observations couvrent trois jours au sens de 72 mesures horaires, leur première et dernière étiquettes étant espacées de 71 heures. La zone grise couvre l’horizon. Le point rouge est une cible d’entraînement. Les températures intermédiaires ne sont pas fournies au modèle. À chaque instant de prévision ultérieur, nous utilisons les observations réellement devenues disponibles. Ce n’est pas une simulation récursive de toute la période. Source : figures/jena/4614d659431c/02_fenetre_horizon.png.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min.</a:t>
            </a:r>
          </a:p>
          <a:p xmlns:a="http://schemas.openxmlformats.org/drawingml/2006/main">
            <a:r>
              <a:t/>
            </a:r>
          </a:p>
          <a:p xmlns:a="http://schemas.openxmlformats.org/drawingml/2006/main">
            <a:r>
              <a:t>Les proportions portent sur la grille horaire brute, avant exclusions, puis les exemples sont affectés par leur cible. Cela explique que les nombres finaux ne soient pas exactement 70/15/15. Les premiers 24 h de cibles de validation et de test sont écartés afin que les modèles n’aient pas appris d’étiquettes encore futures au moment de prévoir. Des observations du passé peuvent figurer dans une fenêtre du jeu suivant. La standardisation utilise uniquement l’entraînement, moyenne 9,110 °C et écart-type 8,645 °C. Les exemples voisins se chevauchent. Source : divisions.csv et protocole.json.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Une époque est un passage sur tous les exemples d’entraînement, avec une mise à jour par lot. L’ordre reste chronologique et la mémoire ne passe pas d’une fenêtre à l’autre. Nous gardons les mêmes hyperparamètres, ce qui donne une comparaison contrôlée mais pas la performance optimale de chaque architecture. La graine est la même, mais les poids diffèrent en forme et l’exécution GPU n’est pas nécessairement reproductible bit à bit. Le modèle évalué est celui de la vingtième époque, et non le meilleur point choisi après coup. Aucun réglage ne change après la lecture du test. Source : protocole.json et Notebook 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min.</a:t>
            </a:r>
          </a:p>
          <a:p xmlns:a="http://schemas.openxmlformats.org/drawingml/2006/main">
            <a:r>
              <a:t/>
            </a:r>
          </a:p>
          <a:p xmlns:a="http://schemas.openxmlformats.org/drawingml/2006/main">
            <a:r>
              <a:t>Prendre trois erreurs absolues : 2, 1 et 3 degrés. MAE vaut 2 degrés. Le carré moyen vaut (4+1+9)/3, soit 4,667 degrés carrés. Sa racine donne RMSE 2,160 degrés. Les carrés donnent davantage de poids aux grandes erreurs. Une MAE de 2,46 degrés ne signifie pas que chaque point se trompe exactement de 2,46 degrés et ne correspond pas à un pourcentage de précision. Durant fit, nous minimisons la MSE sur les températures standardisées. Pour le tableau final, nous revenons en °C avant de calculer les deux métriques.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À l’instant t, nous prévoyons la température t+24. La persistance emploie T(t). C’est aussi la même heure la veille de la cible, donc ces deux noms désignent la même prédiction ici. Le modèle hebdomadaire emploie la valeur une semaine avant la cible, soit t−144, qui est disponible mais hors de la fenêtre réseau. Les méthodes ne reçoivent donc pas exactement les mêmes données historiques, mais respectent toutes la disponibilité temporelle et les mêmes cibles. Une référence hebdomadaire n’est pas nécessairement forte en météo. Source : references_validation.csv, comparaison_test.csv.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min.</a:t>
            </a:r>
          </a:p>
          <a:p xmlns:a="http://schemas.openxmlformats.org/drawingml/2006/main">
            <a:r>
              <a:t/>
            </a:r>
          </a:p>
          <a:p xmlns:a="http://schemas.openxmlformats.org/drawingml/2006/main">
            <a:r>
              <a:t>Le graphique reproduit les MSE normalisées de validation à chaque époque. LSTM et GRU évoluent plus régulièrement, tandis que SimpleRNN oscille. Cette observation décrit cette initialisation, cet ordre des exemples et ce réglage. Elle n’est pas une preuve isolée de disparition du gradient. L’entraînement de LSTM baisse encore tandis que sa validation plafonne : cela invite à examiner la généralisation, mais nous conservons le protocole fixé. Les poids finaux à l’époque vingt alimentent tous les scores. Source : historique_SimpleRNN.csv, historique_LSTM.csv et historique_GRU.csv.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min.</a:t>
            </a:r>
          </a:p>
          <a:p xmlns:a="http://schemas.openxmlformats.org/drawingml/2006/main">
            <a:r>
              <a:t/>
            </a:r>
          </a:p>
          <a:p xmlns:a="http://schemas.openxmlformats.org/drawingml/2006/main">
            <a:r>
              <a:t>Lire le tableau en degrés Celsius. Le test comprend 10 258 cibles. GRU présente les plus petites erreurs de cette exécution, puis LSTM. La différence de MAE entre elles est seulement 0,00456 °C. SimpleRNN se situe légèrement au-dessus de la persistance. La référence hebdomadaire est nettement moins bonne. Nous montrons tous les résultats, même lorsqu’un réseau ne bat pas la méthode simple. Source : comparaison_test.csv, expérience 4614d659431c.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Le graphique commence à zéro et conserve la référence hebdomadaire, afin de ne pas exagérer les écarts. GRU diminue MAE de 0,03371 °C et LSTM de 0,02915 °C face à la persistance. En relatif, les gains sont 1,35 % et 1,17 %. SimpleRNN augmente MAE de 2,66 %. Ces pourcentages mesurent la réduction du même indicateur, pas une précision de classification. Une seule graine et des fenêtres corrélées ne permettent pas de conclure à une supériorité statistique. Source : comparaison_test.csv.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min.</a:t>
            </a:r>
          </a:p>
          <a:p xmlns:a="http://schemas.openxmlformats.org/drawingml/2006/main">
            <a:r>
              <a:t/>
            </a:r>
          </a:p>
          <a:p xmlns:a="http://schemas.openxmlformats.org/drawingml/2006/main">
            <a:r>
              <a:t>Le noir est la réalité, le gris la persistance et les couleurs les réseaux. La première semaine de test a été choisie avant inspection, pas comme une meilleure fenêtre. Certaines baisses et certains pics diffèrent sensiblement des prévisions. Le réseau dispose uniquement des températures passées et doit anticiper vingt-quatre heures. Le trait prévu peut suivre une structure quotidienne sans prévoir correctement un changement météo. Le graphique n’évalue que cette semaine visuellement, alors que les métriques portent sur tout le test. Nous conservons les 168 observations horaires de cette première semaine. La référence hebdomadaire figure dans le tableau et le graphique de MAE, mais pas ici pour conserver la lisibilité. Source : predictions_test.csv.</a:t>
            </a:r>
          </a:p>
          <a:p xmlns:a="http://schemas.openxmlformats.org/drawingml/2006/main">
            <a:r>
              <a:t>Pour la lisibilité, ce graphique affiche une mesure sur six dans la première semaine, sans moyenne supplémentaire. Les métriques utilisent toutes les cibles horaires du test. Le graphique complet reste dans les exports du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Les trois graphiques partagent les couleurs des architectures. SimpleRNN contient moins de paramètres mais ne termine pas la plus vite sur ce GPU. Les implémentations accélérées, la compilation et le démarrage interviennent dans le coût. Après la première époque, les médianes restent les plus faibles pour GRU sur cette session. L’ordre d’exécution et une seule mesure ne donnent pas un benchmark universel. Source : temps_SimpleRNN.json, temps_LSTM.json, temps_GRU.json et comparaison_test.csv.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Une station et la température seule ne couvrent pas toutes les informations météo. Nous étudions un horizon unique de vingt-quatre heures et des fenêtres de soixante-douze heures. La comparaison garde les hyperparamètres égaux, sans optimiser chaque architecture. Une seule initialisation ne renseigne pas sur la dispersion des scores. Les fenêtres se recouvrent et les années diffèrent selon le jeu. Les résultats synthétiques et réels ne sont pas comparables en valeur brute. Des prolongements peuvent utiliser plusieurs graines, d’autres horizons et des variables supplémentaires. Comme nous avons déjà lu le test, tout réglage ultérieur devra être évalué sur une nouvelle période tenue à l’écart.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 min.</a:t>
            </a:r>
          </a:p>
          <a:p xmlns:a="http://schemas.openxmlformats.org/drawingml/2006/main">
            <a:r>
              <a:t/>
            </a:r>
          </a:p>
          <a:p xmlns:a="http://schemas.openxmlformats.org/drawingml/2006/main">
            <a:r>
              <a:t>Revenir à la question initiale. Une mémoire plus élaborée n’entraîne pas automatiquement un grand gain. Sur la sinusoïde, les réseaux améliorent nettement la persistance. Sur Jena à vingt-quatre heures, la persistance constitue une référence forte, et les gains de LSTM et GRU restent modestes. GRU présente le meilleur compromis observé entre score et temps sur cette session, mais LSTM est quasiment équivalente en erreur. SimpleRNN suffit sur l’exemple simple, pas pour battre notre référence météo avec ces réglages. Insister sur la conclusion limitée au protocole.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 min.</a:t>
            </a:r>
          </a:p>
          <a:p xmlns:a="http://schemas.openxmlformats.org/drawingml/2006/main">
            <a:r>
              <a:t/>
            </a:r>
          </a:p>
          <a:p xmlns:a="http://schemas.openxmlformats.org/drawingml/2006/main">
            <a:r>
              <a:t>Temps réservé aux échanges. Si l’on demande pourquoi les modèles n’améliorent que peu la référence : citer l’horizon vingt-quatre heures, la température seule, la force de la persistance quotidienne et les réglages communs non optimisés. Ne pas présenter ces facteurs comme des causes démontrées séparément. Pour la vitesse, rappeler les implémentations GPU et les temps après démarrage. Pour le classement, rappeler la graine unique.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0 min.</a:t>
            </a:r>
          </a:p>
          <a:p xmlns:a="http://schemas.openxmlformats.org/drawingml/2006/main">
            <a:r>
              <a:t/>
            </a:r>
          </a:p>
          <a:p xmlns:a="http://schemas.openxmlformats.org/drawingml/2006/main">
            <a:r>
              <a:t>Annexe hors durée principale. Pour d=1 et u=32, SimpleRNN a u(d+u+1)=1 088 paramètres récurrents. LSTM en a quatre fois autant, 4 352. La variante GRU reset_after=True possède 3u(d+u+2)=3 360 paramètres, en raison des deux groupes de biais. Dense(1) ajoute u+1=33 à chaque modèle. Ainsi les comptes totaux sont 1 121, 4 385 et 3 393. Ces paramètres sont partagés dans le temps. La fenêtre n’est pas multipliée par le nombre de poids. Sources : https://keras.io/api/layers/recurrent_layers/simple_rnn/ ; https://keras.io/api/layers/recurrent_layers/lstm/ ; https://keras.io/api/layers/recurrent_layers/gru/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0 min.</a:t>
            </a:r>
          </a:p>
          <a:p xmlns:a="http://schemas.openxmlformats.org/drawingml/2006/main">
            <a:r>
              <a:t/>
            </a:r>
          </a:p>
          <a:p xmlns:a="http://schemas.openxmlformats.org/drawingml/2006/main">
            <a:r>
              <a:t>Références à consulter pour les données et les API. Les scores expérimentaux proviennent exclusivement des fichiers locaux de l’utilisateur. Expérience Jena 4614d659431c, archive SHA-256 63d757501e92284a7de7cdbef0337f03b24e13ead7ac2b5b8c86a18d8e38ba5b. Python 3.12.3, TensorFlow 2.21.0, Keras 3.15.1. Archive : https://storage.googleapis.com/tensorflow/tf-keras-datasets/jena_climate_2009_2016.csv.zip. Sources : https://keras.io/api/layers/recurrent_layers/simple_rnn/ ; https://keras.io/api/layers/recurrent_layers/lstm/ ; https://keras.io/api/layers/recurrent_layers/gru/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0f3a6b1e8749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bf54e1943a47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59b225594e42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67e0fd17db49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99678d23974a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560b72402342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35C968-0B6A-42AE-AACE-83EA559C18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72B0331-4D27-48A4-80BA-8FFBBF3DBDE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E565649-9609-470E-8DBC-3E723620EC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52F40-34B2-4122-878C-7621911A77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3808B4-C943-44F8-8D8D-82AE86FEFB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90D7E21-542B-4496-822A-A29E2A64EA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CF94A0-921D-4874-BAE2-0F4EB41464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3AAD50-C38A-43F3-9E1B-D168FABB2FD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D8D1F5-62CA-4500-B794-8A0B40DC0F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8F66EC-C0C9-423C-934B-000AFFB238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b8eed336734224" /><Relationship Type="http://schemas.openxmlformats.org/officeDocument/2006/relationships/slideLayout" Target="/ppt/slideLayouts/slideLayout1.xml" Id="R2a9266f6a31941bb" /><Relationship Type="http://schemas.openxmlformats.org/officeDocument/2006/relationships/slideLayout" Target="/ppt/slideLayouts/slideLayout2.xml" Id="R783262254e7a4b1a" /><Relationship Type="http://schemas.openxmlformats.org/officeDocument/2006/relationships/slideLayout" Target="/ppt/slideLayouts/slideLayout3.xml" Id="Rd539a44ca1d44112" /><Relationship Type="http://schemas.openxmlformats.org/officeDocument/2006/relationships/slideLayout" Target="/ppt/slideLayouts/slideLayout4.xml" Id="R02bddcbedfca415c" /><Relationship Type="http://schemas.openxmlformats.org/officeDocument/2006/relationships/slideLayout" Target="/ppt/slideLayouts/slideLayout5.xml" Id="R3003e50f1b344f46" /><Relationship Type="http://schemas.openxmlformats.org/officeDocument/2006/relationships/slideLayout" Target="/ppt/slideLayouts/slideLayout6.xml" Id="Rd42f1c4343014f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9266f6a31941bb"/>
    <p:sldLayoutId xmlns:r="http://schemas.openxmlformats.org/officeDocument/2006/relationships" id="2147483650" r:id="R783262254e7a4b1a"/>
    <p:sldLayoutId xmlns:r="http://schemas.openxmlformats.org/officeDocument/2006/relationships" id="2147483651" r:id="Rd539a44ca1d44112"/>
    <p:sldLayoutId xmlns:r="http://schemas.openxmlformats.org/officeDocument/2006/relationships" id="2147483652" r:id="R02bddcbedfca415c"/>
    <p:sldLayoutId xmlns:r="http://schemas.openxmlformats.org/officeDocument/2006/relationships" id="2147483653" r:id="R3003e50f1b344f46"/>
    <p:sldLayoutId xmlns:r="http://schemas.openxmlformats.org/officeDocument/2006/relationships" id="2147483654" r:id="Rd42f1c4343014f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c6942c64d6467d" /><Relationship Type="http://schemas.openxmlformats.org/officeDocument/2006/relationships/notesSlide" Target="/ppt/notesSlides/notesSlide1.xml" Id="R6dc3f816444e4c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6f10b3e3b8409f" /><Relationship Type="http://schemas.openxmlformats.org/officeDocument/2006/relationships/notesSlide" Target="/ppt/notesSlides/notesSlide2.xml" Id="R85b76b45b8eb48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95f2d68ceb4b26" /><Relationship Type="http://schemas.openxmlformats.org/officeDocument/2006/relationships/notesSlide" Target="/ppt/notesSlides/notesSlide3.xml" Id="R267f4406f81243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6a8ef29e934ceb" /><Relationship Type="http://schemas.openxmlformats.org/officeDocument/2006/relationships/image" Target="/ppt/media/image.png" Id="R8e4560fdf2c44fe4" /><Relationship Type="http://schemas.openxmlformats.org/officeDocument/2006/relationships/notesSlide" Target="/ppt/notesSlides/notesSlide4.xml" Id="R19983a714f954b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624c629fb1445c" /><Relationship Type="http://schemas.openxmlformats.org/officeDocument/2006/relationships/notesSlide" Target="/ppt/notesSlides/notesSlide5.xml" Id="R05e7b8c264d940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26564464f6489d" /><Relationship Type="http://schemas.openxmlformats.org/officeDocument/2006/relationships/notesSlide" Target="/ppt/notesSlides/notesSlide6.xml" Id="R837e3cc6a9784c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ec58bcaa924b21" /><Relationship Type="http://schemas.openxmlformats.org/officeDocument/2006/relationships/notesSlide" Target="/ppt/notesSlides/notesSlide7.xml" Id="R7f25a214518547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390c260f3e42e0" /><Relationship Type="http://schemas.openxmlformats.org/officeDocument/2006/relationships/notesSlide" Target="/ppt/notesSlides/notesSlide8.xml" Id="Rd803a53d253d45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57482f72cae46f1" /><Relationship Type="http://schemas.openxmlformats.org/officeDocument/2006/relationships/notesSlide" Target="/ppt/notesSlides/notesSlide9.xml" Id="R16c921b8223d49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42b382df7d4dee" /><Relationship Type="http://schemas.openxmlformats.org/officeDocument/2006/relationships/notesSlide" Target="/ppt/notesSlides/notesSlide10.xml" Id="Rc51faf7a6f8444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69ec45323b4e60" /><Relationship Type="http://schemas.openxmlformats.org/officeDocument/2006/relationships/image" Target="/ppt/media/image2.png" Id="Rab7d66cac7fb4f94" /><Relationship Type="http://schemas.openxmlformats.org/officeDocument/2006/relationships/notesSlide" Target="/ppt/notesSlides/notesSlide11.xml" Id="R7fe8e602c6d646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e455d640c1c42be" /><Relationship Type="http://schemas.openxmlformats.org/officeDocument/2006/relationships/notesSlide" Target="/ppt/notesSlides/notesSlide12.xml" Id="Rcf36e6b2626b41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f8d983b10da4124" /><Relationship Type="http://schemas.openxmlformats.org/officeDocument/2006/relationships/notesSlide" Target="/ppt/notesSlides/notesSlide13.xml" Id="R97ca73cfa1e44b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659fb20647240dd" /><Relationship Type="http://schemas.openxmlformats.org/officeDocument/2006/relationships/notesSlide" Target="/ppt/notesSlides/notesSlide14.xml" Id="Rdf41c4cee1714a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71a9268fc924a3f" /><Relationship Type="http://schemas.openxmlformats.org/officeDocument/2006/relationships/notesSlide" Target="/ppt/notesSlides/notesSlide15.xml" Id="R8b41253a1a104d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fabc5be30844415" /><Relationship Type="http://schemas.openxmlformats.org/officeDocument/2006/relationships/chart" Target="/ppt/slides/charts/chart1.xml" Id="Rf4933a61933a4b91" /><Relationship Type="http://schemas.openxmlformats.org/officeDocument/2006/relationships/notesSlide" Target="/ppt/notesSlides/notesSlide16.xml" Id="Ra57793dfa0a64f4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29e634d6fa744f3" /><Relationship Type="http://schemas.openxmlformats.org/officeDocument/2006/relationships/notesSlide" Target="/ppt/notesSlides/notesSlide17.xml" Id="Rcd1ae26df8fc45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bd569d48384320" /><Relationship Type="http://schemas.openxmlformats.org/officeDocument/2006/relationships/chart" Target="/ppt/slides/charts/chart2.xml" Id="R1e888c3241b646b8" /><Relationship Type="http://schemas.openxmlformats.org/officeDocument/2006/relationships/notesSlide" Target="/ppt/notesSlides/notesSlide18.xml" Id="R29246d1f5c82414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a59cef397f14074" /><Relationship Type="http://schemas.openxmlformats.org/officeDocument/2006/relationships/chart" Target="/ppt/slides/charts/chart3.xml" Id="R402e5ef0f608498a" /><Relationship Type="http://schemas.openxmlformats.org/officeDocument/2006/relationships/notesSlide" Target="/ppt/notesSlides/notesSlide19.xml" Id="R520bf30305a94b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7274792e736458f" /><Relationship Type="http://schemas.openxmlformats.org/officeDocument/2006/relationships/chart" Target="/ppt/slides/charts/chart4.xml" Id="Re5eec746571f4047" /><Relationship Type="http://schemas.openxmlformats.org/officeDocument/2006/relationships/chart" Target="/ppt/slides/charts/chart5.xml" Id="Rd83f47972019434f" /><Relationship Type="http://schemas.openxmlformats.org/officeDocument/2006/relationships/chart" Target="/ppt/slides/charts/chart6.xml" Id="R6215a535aeaa4e8f" /><Relationship Type="http://schemas.openxmlformats.org/officeDocument/2006/relationships/notesSlide" Target="/ppt/notesSlides/notesSlide20.xml" Id="Rc5cc78d51fd74a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125984af3014d58" /><Relationship Type="http://schemas.openxmlformats.org/officeDocument/2006/relationships/notesSlide" Target="/ppt/notesSlides/notesSlide21.xml" Id="R6691680e0ece48b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84c98ddc7dc45db" /><Relationship Type="http://schemas.openxmlformats.org/officeDocument/2006/relationships/notesSlide" Target="/ppt/notesSlides/notesSlide22.xml" Id="Rd83fa2f5b0bb400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5b430797d964200" /><Relationship Type="http://schemas.openxmlformats.org/officeDocument/2006/relationships/notesSlide" Target="/ppt/notesSlides/notesSlide23.xml" Id="Rf0b19877c40e409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ec61a4c858f4887" /><Relationship Type="http://schemas.openxmlformats.org/officeDocument/2006/relationships/notesSlide" Target="/ppt/notesSlides/notesSlide24.xml" Id="R048f409712e34ca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a312bda6d3843ad" /><Relationship Type="http://schemas.openxmlformats.org/officeDocument/2006/relationships/notesSlide" Target="/ppt/notesSlides/notesSlide25.xml" Id="R04f51434b8da4b33" /></Relationships>
</file>

<file path=ppt/slides/charts/chart1.xml><?xml version="1.0" encoding="utf-8"?>
<c:chartSpace xmlns:c="http://schemas.openxmlformats.org/drawingml/2006/chart">
  <c:lang val="en-US"/>
  <c:chart>
    <c:plotArea>
      <c:lineChart>
        <c:grouping val="standard"/>
        <c:varyColors val="0"/>
        <c:ser>
          <c:idx val="0"/>
          <c:order val="0"/>
          <c:tx>
            <c:v>SimpleRNN</c:v>
          </c:tx>
          <c:spPr>
            <a:ln xmlns:a="http://schemas.openxmlformats.org/drawingml/2006/main" w="28575">
              <a:solidFill>
                <a:srgbClr val="2376BD"/>
              </a:solidFill>
            </a:ln>
          </c:spPr>
          <c:marker>
            <c:symbol val="none"/>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0.00</c:formatCode>
              <c:ptCount val="20"/>
              <c:pt idx="0">
                <c:v>0.17474426329135895</c:v>
              </c:pt>
              <c:pt idx="1">
                <c:v>0.15476129949092865</c:v>
              </c:pt>
              <c:pt idx="2">
                <c:v>0.2140210121870041</c:v>
              </c:pt>
              <c:pt idx="3">
                <c:v>0.15945419669151306</c:v>
              </c:pt>
              <c:pt idx="4">
                <c:v>0.2246621549129486</c:v>
              </c:pt>
              <c:pt idx="5">
                <c:v>0.1713370531797409</c:v>
              </c:pt>
              <c:pt idx="6">
                <c:v>0.1960228532552719</c:v>
              </c:pt>
              <c:pt idx="7">
                <c:v>0.20287582278251648</c:v>
              </c:pt>
              <c:pt idx="8">
                <c:v>0.16256003081798553</c:v>
              </c:pt>
              <c:pt idx="9">
                <c:v>0.20811651647090912</c:v>
              </c:pt>
              <c:pt idx="10">
                <c:v>0.24240165948867798</c:v>
              </c:pt>
              <c:pt idx="11">
                <c:v>0.16063453257083893</c:v>
              </c:pt>
              <c:pt idx="12">
                <c:v>0.1884012222290039</c:v>
              </c:pt>
              <c:pt idx="13">
                <c:v>0.18720589578151703</c:v>
              </c:pt>
              <c:pt idx="14">
                <c:v>0.16625067591667175</c:v>
              </c:pt>
              <c:pt idx="15">
                <c:v>0.1936134248971939</c:v>
              </c:pt>
              <c:pt idx="16">
                <c:v>0.1583651602268219</c:v>
              </c:pt>
              <c:pt idx="17">
                <c:v>0.14488202333450317</c:v>
              </c:pt>
              <c:pt idx="18">
                <c:v>0.14333240687847137</c:v>
              </c:pt>
              <c:pt idx="19">
                <c:v>0.15034745633602142</c:v>
              </c:pt>
            </c:numLit>
          </c:val>
          <c:smooth val="0"/>
        </c:ser>
        <c:ser>
          <c:idx val="1"/>
          <c:order val="1"/>
          <c:tx>
            <c:v>LSTM</c:v>
          </c:tx>
          <c:spPr>
            <a:ln xmlns:a="http://schemas.openxmlformats.org/drawingml/2006/main" w="28575">
              <a:solidFill>
                <a:srgbClr val="D47722"/>
              </a:solidFill>
            </a:ln>
          </c:spPr>
          <c:marker>
            <c:symbol val="none"/>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0.00</c:formatCode>
              <c:ptCount val="20"/>
              <c:pt idx="0">
                <c:v>0.16228631138801575</c:v>
              </c:pt>
              <c:pt idx="1">
                <c:v>0.14990536868572235</c:v>
              </c:pt>
              <c:pt idx="2">
                <c:v>0.1475784331560135</c:v>
              </c:pt>
              <c:pt idx="3">
                <c:v>0.14622612297534943</c:v>
              </c:pt>
              <c:pt idx="4">
                <c:v>0.14531812071800232</c:v>
              </c:pt>
              <c:pt idx="5">
                <c:v>0.14482498168945312</c:v>
              </c:pt>
              <c:pt idx="6">
                <c:v>0.1438315361738205</c:v>
              </c:pt>
              <c:pt idx="7">
                <c:v>0.1434178501367569</c:v>
              </c:pt>
              <c:pt idx="8">
                <c:v>0.14395050704479218</c:v>
              </c:pt>
              <c:pt idx="9">
                <c:v>0.14427027106285095</c:v>
              </c:pt>
              <c:pt idx="10">
                <c:v>0.14441333711147308</c:v>
              </c:pt>
              <c:pt idx="11">
                <c:v>0.14651446044445038</c:v>
              </c:pt>
              <c:pt idx="12">
                <c:v>0.14502984285354614</c:v>
              </c:pt>
              <c:pt idx="13">
                <c:v>0.14532391726970673</c:v>
              </c:pt>
              <c:pt idx="14">
                <c:v>0.1436574012041092</c:v>
              </c:pt>
              <c:pt idx="15">
                <c:v>0.14392665028572083</c:v>
              </c:pt>
              <c:pt idx="16">
                <c:v>0.14306282997131348</c:v>
              </c:pt>
              <c:pt idx="17">
                <c:v>0.14390619099140167</c:v>
              </c:pt>
              <c:pt idx="18">
                <c:v>0.14672107994556427</c:v>
              </c:pt>
              <c:pt idx="19">
                <c:v>0.1458415389060974</c:v>
              </c:pt>
            </c:numLit>
          </c:val>
          <c:smooth val="0"/>
        </c:ser>
        <c:ser>
          <c:idx val="2"/>
          <c:order val="2"/>
          <c:tx>
            <c:v>GRU</c:v>
          </c:tx>
          <c:spPr>
            <a:ln xmlns:a="http://schemas.openxmlformats.org/drawingml/2006/main" w="28575">
              <a:solidFill>
                <a:srgbClr val="22845C"/>
              </a:solidFill>
            </a:ln>
          </c:spPr>
          <c:marker>
            <c:symbol val="none"/>
          </c:marker>
          <c:cat>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cat>
          <c:val>
            <c:numLit>
              <c:formatCode>0.00</c:formatCode>
              <c:ptCount val="20"/>
              <c:pt idx="0">
                <c:v>0.1537851095199585</c:v>
              </c:pt>
              <c:pt idx="1">
                <c:v>0.14982372522354126</c:v>
              </c:pt>
              <c:pt idx="2">
                <c:v>0.14836516976356506</c:v>
              </c:pt>
              <c:pt idx="3">
                <c:v>0.14760610461235046</c:v>
              </c:pt>
              <c:pt idx="4">
                <c:v>0.14713895320892334</c:v>
              </c:pt>
              <c:pt idx="5">
                <c:v>0.146820530295372</c:v>
              </c:pt>
              <c:pt idx="6">
                <c:v>0.14658455550670624</c:v>
              </c:pt>
              <c:pt idx="7">
                <c:v>0.14640140533447266</c:v>
              </c:pt>
              <c:pt idx="8">
                <c:v>0.14624978601932526</c:v>
              </c:pt>
              <c:pt idx="9">
                <c:v>0.14612214267253876</c:v>
              </c:pt>
              <c:pt idx="10">
                <c:v>0.14600089192390442</c:v>
              </c:pt>
              <c:pt idx="11">
                <c:v>0.14588332176208496</c:v>
              </c:pt>
              <c:pt idx="12">
                <c:v>0.1457267701625824</c:v>
              </c:pt>
              <c:pt idx="13">
                <c:v>0.14551512897014618</c:v>
              </c:pt>
              <c:pt idx="14">
                <c:v>0.14522691071033478</c:v>
              </c:pt>
              <c:pt idx="15">
                <c:v>0.144917294383049</c:v>
              </c:pt>
              <c:pt idx="16">
                <c:v>0.14447474479675293</c:v>
              </c:pt>
              <c:pt idx="17">
                <c:v>0.14432565867900848</c:v>
              </c:pt>
              <c:pt idx="18">
                <c:v>0.14384886622428894</c:v>
              </c:pt>
              <c:pt idx="19">
                <c:v>0.14350736141204834</c:v>
              </c:pt>
            </c:numLit>
          </c:val>
          <c:smooth val="0"/>
        </c:ser>
        <c:dLbls>
          <c:numFmt formatCode="0.00" sourceLinked="0"/>
          <c:txPr>
            <a:bodyPr xmlns:a="http://schemas.openxmlformats.org/drawingml/2006/main" anchorCtr="1"/>
            <a:lstStyle xmlns:a="http://schemas.openxmlformats.org/drawingml/2006/main"/>
            <a:p xmlns:a="http://schemas.openxmlformats.org/drawingml/2006/main">
              <a:pPr>
                <a:defRPr sz="1500">
                  <a:solidFill>
                    <a:srgbClr val="122336"/>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Époque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B8C4D0"/>
            </a:solidFill>
          </a:ln>
        </c:spPr>
        <c:txPr>
          <a:bodyPr xmlns:a="http://schemas.openxmlformats.org/drawingml/2006/main" anchorCtr="1"/>
          <a:lstStyle xmlns:a="http://schemas.openxmlformats.org/drawingml/2006/main"/>
          <a:p xmlns:a="http://schemas.openxmlformats.org/drawingml/2006/main">
            <a:pPr>
              <a:defRPr sz="1425">
                <a:solidFill>
                  <a:srgbClr val="122336"/>
                </a:solidFill>
                <a:latin typeface="Arial"/>
                <a:ea typeface="Arial"/>
                <a:cs typeface="Arial"/>
              </a:defRPr>
            </a:pPr>
          </a:p>
        </c:txPr>
        <c:crossAx val="48672768"/>
      </c:catAx>
      <c:valAx>
        <c:axId val="48672768"/>
        <c:scaling>
          <c:orientation val="minMax"/>
          <c:max val="0.25"/>
          <c:min val="0.13"/>
        </c:scaling>
        <c:delete val="0"/>
        <c:axPos val="l"/>
        <c:majorGridlines>
          <c:spPr>
            <a:ln xmlns:a="http://schemas.openxmlformats.org/drawingml/2006/main" w="9525">
              <a:solidFill>
                <a:srgbClr val="E1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MSE normalisée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22336"/>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MAE (°C)</c:v>
          </c:tx>
          <c:invertIfNegative val="0"/>
          <c:dPt>
            <c:idx val="0"/>
            <c:invertIfNegative val="0"/>
            <c:spPr>
              <a:solidFill xmlns:a="http://schemas.openxmlformats.org/drawingml/2006/main">
                <a:srgbClr val="83909C"/>
              </a:solidFill>
            </c:spPr>
          </c:dPt>
          <c:dPt>
            <c:idx val="1"/>
            <c:invertIfNegative val="0"/>
            <c:spPr>
              <a:solidFill xmlns:a="http://schemas.openxmlformats.org/drawingml/2006/main">
                <a:srgbClr val="8259AC"/>
              </a:solidFill>
            </c:spPr>
          </c:dPt>
          <c:dPt>
            <c:idx val="2"/>
            <c:invertIfNegative val="0"/>
            <c:spPr>
              <a:solidFill xmlns:a="http://schemas.openxmlformats.org/drawingml/2006/main">
                <a:srgbClr val="2376BD"/>
              </a:solidFill>
            </c:spPr>
          </c:dPt>
          <c:dPt>
            <c:idx val="3"/>
            <c:invertIfNegative val="0"/>
            <c:spPr>
              <a:solidFill xmlns:a="http://schemas.openxmlformats.org/drawingml/2006/main">
                <a:srgbClr val="D47722"/>
              </a:solidFill>
            </c:spPr>
          </c:dPt>
          <c:dPt>
            <c:idx val="4"/>
            <c:invertIfNegative val="0"/>
            <c:spPr>
              <a:solidFill xmlns:a="http://schemas.openxmlformats.org/drawingml/2006/main">
                <a:srgbClr val="22845C"/>
              </a:solidFill>
            </c:spPr>
          </c:dPt>
          <c:cat>
            <c:strLit>
              <c:ptCount val="5"/>
              <c:pt idx="0">
                <c:v>Persistance</c:v>
              </c:pt>
              <c:pt idx="1">
                <c:v>Hebdomadaire</c:v>
              </c:pt>
              <c:pt idx="2">
                <c:v>SimpleRNN</c:v>
              </c:pt>
              <c:pt idx="3">
                <c:v>LSTM</c:v>
              </c:pt>
              <c:pt idx="4">
                <c:v>GRU</c:v>
              </c:pt>
            </c:strLit>
          </c:cat>
          <c:val>
            <c:numLit>
              <c:formatCode>0.000</c:formatCode>
              <c:ptCount val="5"/>
              <c:pt idx="0">
                <c:v>2.4957741131458766</c:v>
              </c:pt>
              <c:pt idx="1">
                <c:v>4.626235619185085</c:v>
              </c:pt>
              <c:pt idx="2">
                <c:v>2.5622825611986113</c:v>
              </c:pt>
              <c:pt idx="3">
                <c:v>2.466625423407134</c:v>
              </c:pt>
              <c:pt idx="4">
                <c:v>2.4620650764168883</c:v>
              </c:pt>
            </c:numLit>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122336"/>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4D0"/>
            </a:solidFill>
          </a:ln>
        </c:spPr>
        <c:txPr>
          <a:bodyPr xmlns:a="http://schemas.openxmlformats.org/drawingml/2006/main" anchorCtr="1"/>
          <a:lstStyle xmlns:a="http://schemas.openxmlformats.org/drawingml/2006/main"/>
          <a:p xmlns:a="http://schemas.openxmlformats.org/drawingml/2006/main">
            <a:pPr>
              <a:defRPr sz="1425">
                <a:solidFill>
                  <a:srgbClr val="122336"/>
                </a:solidFill>
                <a:latin typeface="Arial"/>
                <a:ea typeface="Arial"/>
                <a:cs typeface="Arial"/>
              </a:defRPr>
            </a:pPr>
          </a:p>
        </c:txPr>
        <c:crossAx val="48672768"/>
      </c:catAx>
      <c:valAx>
        <c:axId val="48672768"/>
        <c:scaling>
          <c:orientation val="minMax"/>
          <c:max val="5.4"/>
          <c:min val="0"/>
        </c:scaling>
        <c:delete val="0"/>
        <c:axPos val="l"/>
        <c:majorGridlines>
          <c:spPr>
            <a:ln xmlns:a="http://schemas.openxmlformats.org/drawingml/2006/main" w="9525">
              <a:solidFill>
                <a:srgbClr val="E1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MAE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lineChart>
        <c:grouping val="standard"/>
        <c:varyColors val="0"/>
        <c:ser>
          <c:idx val="0"/>
          <c:order val="0"/>
          <c:tx>
            <c:v>Réel</c:v>
          </c:tx>
          <c:spPr>
            <a:ln xmlns:a="http://schemas.openxmlformats.org/drawingml/2006/main" w="28575">
              <a:solidFill>
                <a:srgbClr val="122336"/>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8.99</c:v>
              </c:pt>
              <c:pt idx="1">
                <c:v>5.6716666</c:v>
              </c:pt>
              <c:pt idx="2">
                <c:v>4.025</c:v>
              </c:pt>
              <c:pt idx="3">
                <c:v>10.641666</c:v>
              </c:pt>
              <c:pt idx="4">
                <c:v>10.328333</c:v>
              </c:pt>
              <c:pt idx="5">
                <c:v>9.931666</c:v>
              </c:pt>
              <c:pt idx="6">
                <c:v>8.901667</c:v>
              </c:pt>
              <c:pt idx="7">
                <c:v>12.705</c:v>
              </c:pt>
              <c:pt idx="8">
                <c:v>11.03</c:v>
              </c:pt>
              <c:pt idx="9">
                <c:v>5.3733335</c:v>
              </c:pt>
              <c:pt idx="10">
                <c:v>1.525</c:v>
              </c:pt>
              <c:pt idx="11">
                <c:v>7.088333</c:v>
              </c:pt>
              <c:pt idx="12">
                <c:v>8.845</c:v>
              </c:pt>
              <c:pt idx="13">
                <c:v>6.375</c:v>
              </c:pt>
              <c:pt idx="14">
                <c:v>7.38</c:v>
              </c:pt>
              <c:pt idx="15">
                <c:v>10.881667</c:v>
              </c:pt>
              <c:pt idx="16">
                <c:v>12.398334</c:v>
              </c:pt>
              <c:pt idx="17">
                <c:v>10.2</c:v>
              </c:pt>
              <c:pt idx="18">
                <c:v>8.86</c:v>
              </c:pt>
              <c:pt idx="19">
                <c:v>9.63</c:v>
              </c:pt>
              <c:pt idx="20">
                <c:v>12.025</c:v>
              </c:pt>
              <c:pt idx="21">
                <c:v>7.5383334</c:v>
              </c:pt>
              <c:pt idx="22">
                <c:v>2.6933334</c:v>
              </c:pt>
              <c:pt idx="23">
                <c:v>10.493333</c:v>
              </c:pt>
              <c:pt idx="24">
                <c:v>10.696667</c:v>
              </c:pt>
              <c:pt idx="25">
                <c:v>5.846667</c:v>
              </c:pt>
              <c:pt idx="26">
                <c:v>1.4033333</c:v>
              </c:pt>
              <c:pt idx="27">
                <c:v>8.681666</c:v>
              </c:pt>
            </c:numLit>
          </c:val>
          <c:smooth val="0"/>
        </c:ser>
        <c:ser>
          <c:idx val="1"/>
          <c:order val="1"/>
          <c:tx>
            <c:v>Persistance</c:v>
          </c:tx>
          <c:spPr>
            <a:ln xmlns:a="http://schemas.openxmlformats.org/drawingml/2006/main" w="19050">
              <a:solidFill>
                <a:srgbClr val="83909C"/>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8.335</c:v>
              </c:pt>
              <c:pt idx="1">
                <c:v>7.5516667</c:v>
              </c:pt>
              <c:pt idx="2">
                <c:v>6.9583335</c:v>
              </c:pt>
              <c:pt idx="3">
                <c:v>9.108334</c:v>
              </c:pt>
              <c:pt idx="4">
                <c:v>8.99</c:v>
              </c:pt>
              <c:pt idx="5">
                <c:v>5.6716666</c:v>
              </c:pt>
              <c:pt idx="6">
                <c:v>4.025</c:v>
              </c:pt>
              <c:pt idx="7">
                <c:v>10.641666</c:v>
              </c:pt>
              <c:pt idx="8">
                <c:v>10.328333</c:v>
              </c:pt>
              <c:pt idx="9">
                <c:v>9.931666</c:v>
              </c:pt>
              <c:pt idx="10">
                <c:v>8.901667</c:v>
              </c:pt>
              <c:pt idx="11">
                <c:v>12.705</c:v>
              </c:pt>
              <c:pt idx="12">
                <c:v>11.03</c:v>
              </c:pt>
              <c:pt idx="13">
                <c:v>5.3733335</c:v>
              </c:pt>
              <c:pt idx="14">
                <c:v>1.525</c:v>
              </c:pt>
              <c:pt idx="15">
                <c:v>7.088333</c:v>
              </c:pt>
              <c:pt idx="16">
                <c:v>8.845</c:v>
              </c:pt>
              <c:pt idx="17">
                <c:v>6.375</c:v>
              </c:pt>
              <c:pt idx="18">
                <c:v>7.38</c:v>
              </c:pt>
              <c:pt idx="19">
                <c:v>10.881667</c:v>
              </c:pt>
              <c:pt idx="20">
                <c:v>12.398334</c:v>
              </c:pt>
              <c:pt idx="21">
                <c:v>10.2</c:v>
              </c:pt>
              <c:pt idx="22">
                <c:v>8.86</c:v>
              </c:pt>
              <c:pt idx="23">
                <c:v>9.63</c:v>
              </c:pt>
              <c:pt idx="24">
                <c:v>12.025</c:v>
              </c:pt>
              <c:pt idx="25">
                <c:v>7.5383334</c:v>
              </c:pt>
              <c:pt idx="26">
                <c:v>2.6933334</c:v>
              </c:pt>
              <c:pt idx="27">
                <c:v>10.493333</c:v>
              </c:pt>
            </c:numLit>
          </c:val>
          <c:smooth val="0"/>
        </c:ser>
        <c:ser>
          <c:idx val="2"/>
          <c:order val="2"/>
          <c:tx>
            <c:v>SimpleRNN</c:v>
          </c:tx>
          <c:spPr>
            <a:ln xmlns:a="http://schemas.openxmlformats.org/drawingml/2006/main" w="19050">
              <a:solidFill>
                <a:srgbClr val="2376BD"/>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9.077932</c:v>
              </c:pt>
              <c:pt idx="1">
                <c:v>8.178385</c:v>
              </c:pt>
              <c:pt idx="2">
                <c:v>6.9884024</c:v>
              </c:pt>
              <c:pt idx="3">
                <c:v>10.223711</c:v>
              </c:pt>
              <c:pt idx="4">
                <c:v>9.702546</c:v>
              </c:pt>
              <c:pt idx="5">
                <c:v>6.153257</c:v>
              </c:pt>
              <c:pt idx="6">
                <c:v>4.2056904</c:v>
              </c:pt>
              <c:pt idx="7">
                <c:v>11.225771</c:v>
              </c:pt>
              <c:pt idx="8">
                <c:v>11.115433</c:v>
              </c:pt>
              <c:pt idx="9">
                <c:v>10.57</c:v>
              </c:pt>
              <c:pt idx="10">
                <c:v>9.456416</c:v>
              </c:pt>
              <c:pt idx="11">
                <c:v>13.546974</c:v>
              </c:pt>
              <c:pt idx="12">
                <c:v>12.002523</c:v>
              </c:pt>
              <c:pt idx="13">
                <c:v>6.36163</c:v>
              </c:pt>
              <c:pt idx="14">
                <c:v>2.4836845</c:v>
              </c:pt>
              <c:pt idx="15">
                <c:v>9.167247</c:v>
              </c:pt>
              <c:pt idx="16">
                <c:v>10.516836</c:v>
              </c:pt>
              <c:pt idx="17">
                <c:v>7.0987177</c:v>
              </c:pt>
              <c:pt idx="18">
                <c:v>7.681147</c:v>
              </c:pt>
              <c:pt idx="19">
                <c:v>12.86085</c:v>
              </c:pt>
              <c:pt idx="20">
                <c:v>14.15426</c:v>
              </c:pt>
              <c:pt idx="21">
                <c:v>11.850031</c:v>
              </c:pt>
              <c:pt idx="22">
                <c:v>9.553026</c:v>
              </c:pt>
              <c:pt idx="23">
                <c:v>11.352348</c:v>
              </c:pt>
              <c:pt idx="24">
                <c:v>13.456861</c:v>
              </c:pt>
              <c:pt idx="25">
                <c:v>8.202318</c:v>
              </c:pt>
              <c:pt idx="26">
                <c:v>2.681459</c:v>
              </c:pt>
              <c:pt idx="27">
                <c:v>11.909797</c:v>
              </c:pt>
            </c:numLit>
          </c:val>
          <c:smooth val="0"/>
        </c:ser>
        <c:ser>
          <c:idx val="3"/>
          <c:order val="3"/>
          <c:tx>
            <c:v>LSTM</c:v>
          </c:tx>
          <c:spPr>
            <a:ln xmlns:a="http://schemas.openxmlformats.org/drawingml/2006/main" w="19050">
              <a:solidFill>
                <a:srgbClr val="D47722"/>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9.1285925</c:v>
              </c:pt>
              <c:pt idx="1">
                <c:v>6.6954145</c:v>
              </c:pt>
              <c:pt idx="2">
                <c:v>7.4855313</c:v>
              </c:pt>
              <c:pt idx="3">
                <c:v>10.158039</c:v>
              </c:pt>
              <c:pt idx="4">
                <c:v>9.500311</c:v>
              </c:pt>
              <c:pt idx="5">
                <c:v>5.3800173</c:v>
              </c:pt>
              <c:pt idx="6">
                <c:v>5.28541</c:v>
              </c:pt>
              <c:pt idx="7">
                <c:v>11.651498</c:v>
              </c:pt>
              <c:pt idx="8">
                <c:v>10.988628</c:v>
              </c:pt>
              <c:pt idx="9">
                <c:v>8.579805</c:v>
              </c:pt>
              <c:pt idx="10">
                <c:v>8.747035</c:v>
              </c:pt>
              <c:pt idx="11">
                <c:v>13.65032</c:v>
              </c:pt>
              <c:pt idx="12">
                <c:v>10.83101</c:v>
              </c:pt>
              <c:pt idx="13">
                <c:v>6.8899803</c:v>
              </c:pt>
              <c:pt idx="14">
                <c:v>4.5498943</c:v>
              </c:pt>
              <c:pt idx="15">
                <c:v>8.416023</c:v>
              </c:pt>
              <c:pt idx="16">
                <c:v>8.791483</c:v>
              </c:pt>
              <c:pt idx="17">
                <c:v>6.2261014</c:v>
              </c:pt>
              <c:pt idx="18">
                <c:v>7.3639126</c:v>
              </c:pt>
              <c:pt idx="19">
                <c:v>11.712657</c:v>
              </c:pt>
              <c:pt idx="20">
                <c:v>11.858591</c:v>
              </c:pt>
              <c:pt idx="21">
                <c:v>9.470847</c:v>
              </c:pt>
              <c:pt idx="22">
                <c:v>9.381367</c:v>
              </c:pt>
              <c:pt idx="23">
                <c:v>10.75392</c:v>
              </c:pt>
              <c:pt idx="24">
                <c:v>11.424355</c:v>
              </c:pt>
              <c:pt idx="25">
                <c:v>7.768644</c:v>
              </c:pt>
              <c:pt idx="26">
                <c:v>4.894119</c:v>
              </c:pt>
              <c:pt idx="27">
                <c:v>11.474317</c:v>
              </c:pt>
            </c:numLit>
          </c:val>
          <c:smooth val="0"/>
        </c:ser>
        <c:ser>
          <c:idx val="4"/>
          <c:order val="4"/>
          <c:tx>
            <c:v>GRU</c:v>
          </c:tx>
          <c:spPr>
            <a:ln xmlns:a="http://schemas.openxmlformats.org/drawingml/2006/main" w="19050">
              <a:solidFill>
                <a:srgbClr val="22845C"/>
              </a:solidFill>
            </a:ln>
          </c:spPr>
          <c:marker>
            <c:symbol val="none"/>
          </c:marker>
          <c:cat>
            <c:numLit>
              <c:formatCode>General</c:formatCode>
              <c:ptCount val="28"/>
              <c:pt idx="0">
                <c:v>0</c:v>
              </c:pt>
              <c:pt idx="1">
                <c:v>6</c:v>
              </c:pt>
              <c:pt idx="2">
                <c:v>12</c:v>
              </c:pt>
              <c:pt idx="3">
                <c:v>18</c:v>
              </c:pt>
              <c:pt idx="4">
                <c:v>24</c:v>
              </c:pt>
              <c:pt idx="5">
                <c:v>30</c:v>
              </c:pt>
              <c:pt idx="6">
                <c:v>36</c:v>
              </c:pt>
              <c:pt idx="7">
                <c:v>42</c:v>
              </c:pt>
              <c:pt idx="8">
                <c:v>48</c:v>
              </c:pt>
              <c:pt idx="9">
                <c:v>54</c:v>
              </c:pt>
              <c:pt idx="10">
                <c:v>60</c:v>
              </c:pt>
              <c:pt idx="11">
                <c:v>66</c:v>
              </c:pt>
              <c:pt idx="12">
                <c:v>72</c:v>
              </c:pt>
              <c:pt idx="13">
                <c:v>78</c:v>
              </c:pt>
              <c:pt idx="14">
                <c:v>84</c:v>
              </c:pt>
              <c:pt idx="15">
                <c:v>90</c:v>
              </c:pt>
              <c:pt idx="16">
                <c:v>96</c:v>
              </c:pt>
              <c:pt idx="17">
                <c:v>102</c:v>
              </c:pt>
              <c:pt idx="18">
                <c:v>108</c:v>
              </c:pt>
              <c:pt idx="19">
                <c:v>114</c:v>
              </c:pt>
              <c:pt idx="20">
                <c:v>120</c:v>
              </c:pt>
              <c:pt idx="21">
                <c:v>126</c:v>
              </c:pt>
              <c:pt idx="22">
                <c:v>132</c:v>
              </c:pt>
              <c:pt idx="23">
                <c:v>138</c:v>
              </c:pt>
              <c:pt idx="24">
                <c:v>144</c:v>
              </c:pt>
              <c:pt idx="25">
                <c:v>150</c:v>
              </c:pt>
              <c:pt idx="26">
                <c:v>156</c:v>
              </c:pt>
              <c:pt idx="27">
                <c:v>162</c:v>
              </c:pt>
            </c:numLit>
          </c:cat>
          <c:val>
            <c:numLit>
              <c:formatCode>0.00</c:formatCode>
              <c:ptCount val="28"/>
              <c:pt idx="0">
                <c:v>8.480901</c:v>
              </c:pt>
              <c:pt idx="1">
                <c:v>7.8273683</c:v>
              </c:pt>
              <c:pt idx="2">
                <c:v>7.3239965</c:v>
              </c:pt>
              <c:pt idx="3">
                <c:v>9.321601</c:v>
              </c:pt>
              <c:pt idx="4">
                <c:v>9.141309</c:v>
              </c:pt>
              <c:pt idx="5">
                <c:v>6.2888355</c:v>
              </c:pt>
              <c:pt idx="6">
                <c:v>4.8317094</c:v>
              </c:pt>
              <c:pt idx="7">
                <c:v>10.802528</c:v>
              </c:pt>
              <c:pt idx="8">
                <c:v>10.334488</c:v>
              </c:pt>
              <c:pt idx="9">
                <c:v>10.081727</c:v>
              </c:pt>
              <c:pt idx="10">
                <c:v>9.181169</c:v>
              </c:pt>
              <c:pt idx="11">
                <c:v>12.787771</c:v>
              </c:pt>
              <c:pt idx="12">
                <c:v>11.176576</c:v>
              </c:pt>
              <c:pt idx="13">
                <c:v>6.3628416</c:v>
              </c:pt>
              <c:pt idx="14">
                <c:v>2.8902621</c:v>
              </c:pt>
              <c:pt idx="15">
                <c:v>7.87039</c:v>
              </c:pt>
              <c:pt idx="16">
                <c:v>9.069349</c:v>
              </c:pt>
              <c:pt idx="17">
                <c:v>6.9886837</c:v>
              </c:pt>
              <c:pt idx="18">
                <c:v>7.7664704</c:v>
              </c:pt>
              <c:pt idx="19">
                <c:v>11.051802</c:v>
              </c:pt>
              <c:pt idx="20">
                <c:v>12.33103</c:v>
              </c:pt>
              <c:pt idx="21">
                <c:v>10.381611</c:v>
              </c:pt>
              <c:pt idx="22">
                <c:v>9.257832</c:v>
              </c:pt>
              <c:pt idx="23">
                <c:v>9.981478</c:v>
              </c:pt>
              <c:pt idx="24">
                <c:v>12.10004</c:v>
              </c:pt>
              <c:pt idx="25">
                <c:v>8.159431</c:v>
              </c:pt>
              <c:pt idx="26">
                <c:v>3.9924698</c:v>
              </c:pt>
              <c:pt idx="27">
                <c:v>11.159733</c:v>
              </c:pt>
            </c:numLit>
          </c:val>
          <c:smooth val="0"/>
        </c:ser>
        <c:dLbls>
          <c:numFmt formatCode="0.00" sourceLinked="0"/>
          <c:txPr>
            <a:bodyPr xmlns:a="http://schemas.openxmlformats.org/drawingml/2006/main" anchorCtr="1"/>
            <a:lstStyle xmlns:a="http://schemas.openxmlformats.org/drawingml/2006/main"/>
            <a:p xmlns:a="http://schemas.openxmlformats.org/drawingml/2006/main">
              <a:pPr>
                <a:defRPr sz="1500">
                  <a:solidFill>
                    <a:srgbClr val="122336"/>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Heures depuis le 21 octobre 2015 à 18 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B8C4D0"/>
            </a:solidFill>
          </a:ln>
        </c:spPr>
        <c:txPr>
          <a:bodyPr xmlns:a="http://schemas.openxmlformats.org/drawingml/2006/main" anchorCtr="1"/>
          <a:lstStyle xmlns:a="http://schemas.openxmlformats.org/drawingml/2006/main"/>
          <a:p xmlns:a="http://schemas.openxmlformats.org/drawingml/2006/main">
            <a:pPr>
              <a:defRPr sz="1425">
                <a:solidFill>
                  <a:srgbClr val="122336"/>
                </a:solidFill>
                <a:latin typeface="Arial"/>
                <a:ea typeface="Arial"/>
                <a:cs typeface="Arial"/>
              </a:defRPr>
            </a:pPr>
          </a:p>
        </c:txPr>
        <c:crossAx val="48672768"/>
      </c:catAx>
      <c:valAx>
        <c:axId val="48672768"/>
        <c:scaling>
          <c:orientation val="minMax"/>
          <c:max val="18"/>
          <c:min val="0"/>
        </c:scaling>
        <c:delete val="0"/>
        <c:axPos val="l"/>
        <c:majorGridlines>
          <c:spPr>
            <a:ln xmlns:a="http://schemas.openxmlformats.org/drawingml/2006/main" w="9525">
              <a:solidFill>
                <a:srgbClr val="E1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Température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22336"/>
              </a:solidFill>
              <a:latin typeface="Arial"/>
              <a:ea typeface="Arial"/>
              <a:cs typeface="Aria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Paramètres</c:v>
          </c:tx>
          <c:invertIfNegative val="0"/>
          <c:dPt>
            <c:idx val="0"/>
            <c:invertIfNegative val="0"/>
            <c:spPr>
              <a:solidFill xmlns:a="http://schemas.openxmlformats.org/drawingml/2006/main">
                <a:srgbClr val="2376BD"/>
              </a:solidFill>
            </c:spPr>
          </c:dPt>
          <c:dPt>
            <c:idx val="1"/>
            <c:invertIfNegative val="0"/>
            <c:spPr>
              <a:solidFill xmlns:a="http://schemas.openxmlformats.org/drawingml/2006/main">
                <a:srgbClr val="D47722"/>
              </a:solidFill>
            </c:spPr>
          </c:dPt>
          <c:dPt>
            <c:idx val="2"/>
            <c:invertIfNegative val="0"/>
            <c:spPr>
              <a:solidFill xmlns:a="http://schemas.openxmlformats.org/drawingml/2006/main">
                <a:srgbClr val="22845C"/>
              </a:solidFill>
            </c:spPr>
          </c:dPt>
          <c:cat>
            <c:strLit>
              <c:ptCount val="3"/>
              <c:pt idx="0">
                <c:v>SimpleRNN</c:v>
              </c:pt>
              <c:pt idx="1">
                <c:v>LSTM</c:v>
              </c:pt>
              <c:pt idx="2">
                <c:v>GRU</c:v>
              </c:pt>
            </c:strLit>
          </c:cat>
          <c:val>
            <c:numLit>
              <c:formatCode>0</c:formatCode>
              <c:ptCount val="3"/>
              <c:pt idx="0">
                <c:v>1121</c:v>
              </c:pt>
              <c:pt idx="1">
                <c:v>4385</c:v>
              </c:pt>
              <c:pt idx="2">
                <c:v>3393</c:v>
              </c:pt>
            </c:numLit>
          </c:val>
        </c:ser>
        <c:dLbls>
          <c:numFmt formatCode="0" sourceLinked="0"/>
          <c:txPr>
            <a:bodyPr xmlns:a="http://schemas.openxmlformats.org/drawingml/2006/main" anchorCtr="1"/>
            <a:lstStyle xmlns:a="http://schemas.openxmlformats.org/drawingml/2006/main"/>
            <a:p xmlns:a="http://schemas.openxmlformats.org/drawingml/2006/main">
              <a:pPr>
                <a:defRPr sz="1500">
                  <a:solidFill>
                    <a:srgbClr val="122336"/>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4D0"/>
            </a:solidFill>
          </a:ln>
        </c:spPr>
        <c:txPr>
          <a:bodyPr xmlns:a="http://schemas.openxmlformats.org/drawingml/2006/main" anchorCtr="1"/>
          <a:lstStyle xmlns:a="http://schemas.openxmlformats.org/drawingml/2006/main"/>
          <a:p xmlns:a="http://schemas.openxmlformats.org/drawingml/2006/main">
            <a:pPr>
              <a:defRPr sz="1425">
                <a:solidFill>
                  <a:srgbClr val="122336"/>
                </a:solidFill>
                <a:latin typeface="Arial"/>
                <a:ea typeface="Arial"/>
                <a:cs typeface="Arial"/>
              </a:defRPr>
            </a:pPr>
          </a:p>
        </c:txPr>
        <c:crossAx val="48672768"/>
      </c:catAx>
      <c:valAx>
        <c:axId val="48672768"/>
        <c:scaling>
          <c:orientation val="minMax"/>
          <c:max val="5042.75"/>
          <c:min val="0"/>
        </c:scaling>
        <c:delete val="0"/>
        <c:axPos val="l"/>
        <c:majorGridlines>
          <c:spPr>
            <a:ln xmlns:a="http://schemas.openxmlformats.org/drawingml/2006/main" w="9525">
              <a:solidFill>
                <a:srgbClr val="E1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Paramètres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Fit total (s)</c:v>
          </c:tx>
          <c:invertIfNegative val="0"/>
          <c:dPt>
            <c:idx val="0"/>
            <c:invertIfNegative val="0"/>
            <c:spPr>
              <a:solidFill xmlns:a="http://schemas.openxmlformats.org/drawingml/2006/main">
                <a:srgbClr val="2376BD"/>
              </a:solidFill>
            </c:spPr>
          </c:dPt>
          <c:dPt>
            <c:idx val="1"/>
            <c:invertIfNegative val="0"/>
            <c:spPr>
              <a:solidFill xmlns:a="http://schemas.openxmlformats.org/drawingml/2006/main">
                <a:srgbClr val="D47722"/>
              </a:solidFill>
            </c:spPr>
          </c:dPt>
          <c:dPt>
            <c:idx val="2"/>
            <c:invertIfNegative val="0"/>
            <c:spPr>
              <a:solidFill xmlns:a="http://schemas.openxmlformats.org/drawingml/2006/main">
                <a:srgbClr val="22845C"/>
              </a:solidFill>
            </c:spPr>
          </c:dPt>
          <c:cat>
            <c:strLit>
              <c:ptCount val="3"/>
              <c:pt idx="0">
                <c:v>SimpleRNN</c:v>
              </c:pt>
              <c:pt idx="1">
                <c:v>LSTM</c:v>
              </c:pt>
              <c:pt idx="2">
                <c:v>GRU</c:v>
              </c:pt>
            </c:strLit>
          </c:cat>
          <c:val>
            <c:numLit>
              <c:formatCode>0.0</c:formatCode>
              <c:ptCount val="3"/>
              <c:pt idx="0">
                <c:v>100.04175648700038</c:v>
              </c:pt>
              <c:pt idx="1">
                <c:v>92.29221542699997</c:v>
              </c:pt>
              <c:pt idx="2">
                <c:v>82.92317695499969</c:v>
              </c:pt>
            </c:numLit>
          </c:val>
        </c:ser>
        <c:dLbls>
          <c:numFmt formatCode="0.0" sourceLinked="0"/>
          <c:txPr>
            <a:bodyPr xmlns:a="http://schemas.openxmlformats.org/drawingml/2006/main" anchorCtr="1"/>
            <a:lstStyle xmlns:a="http://schemas.openxmlformats.org/drawingml/2006/main"/>
            <a:p xmlns:a="http://schemas.openxmlformats.org/drawingml/2006/main">
              <a:pPr>
                <a:defRPr sz="1500">
                  <a:solidFill>
                    <a:srgbClr val="122336"/>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4D0"/>
            </a:solidFill>
          </a:ln>
        </c:spPr>
        <c:txPr>
          <a:bodyPr xmlns:a="http://schemas.openxmlformats.org/drawingml/2006/main" anchorCtr="1"/>
          <a:lstStyle xmlns:a="http://schemas.openxmlformats.org/drawingml/2006/main"/>
          <a:p xmlns:a="http://schemas.openxmlformats.org/drawingml/2006/main">
            <a:pPr>
              <a:defRPr sz="1425">
                <a:solidFill>
                  <a:srgbClr val="122336"/>
                </a:solidFill>
                <a:latin typeface="Arial"/>
                <a:ea typeface="Arial"/>
                <a:cs typeface="Arial"/>
              </a:defRPr>
            </a:pPr>
          </a:p>
        </c:txPr>
        <c:crossAx val="48672768"/>
      </c:catAx>
      <c:valAx>
        <c:axId val="48672768"/>
        <c:scaling>
          <c:orientation val="minMax"/>
          <c:max val="138.0576239520605"/>
          <c:min val="0"/>
        </c:scaling>
        <c:delete val="0"/>
        <c:axPos val="l"/>
        <c:majorGridlines>
          <c:spPr>
            <a:ln xmlns:a="http://schemas.openxmlformats.org/drawingml/2006/main" w="9525">
              <a:solidFill>
                <a:srgbClr val="E1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Fit total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Époque après démarrage (s)</c:v>
          </c:tx>
          <c:invertIfNegative val="0"/>
          <c:dPt>
            <c:idx val="0"/>
            <c:invertIfNegative val="0"/>
            <c:spPr>
              <a:solidFill xmlns:a="http://schemas.openxmlformats.org/drawingml/2006/main">
                <a:srgbClr val="2376BD"/>
              </a:solidFill>
            </c:spPr>
          </c:dPt>
          <c:dPt>
            <c:idx val="1"/>
            <c:invertIfNegative val="0"/>
            <c:spPr>
              <a:solidFill xmlns:a="http://schemas.openxmlformats.org/drawingml/2006/main">
                <a:srgbClr val="D47722"/>
              </a:solidFill>
            </c:spPr>
          </c:dPt>
          <c:dPt>
            <c:idx val="2"/>
            <c:invertIfNegative val="0"/>
            <c:spPr>
              <a:solidFill xmlns:a="http://schemas.openxmlformats.org/drawingml/2006/main">
                <a:srgbClr val="22845C"/>
              </a:solidFill>
            </c:spPr>
          </c:dPt>
          <c:cat>
            <c:strLit>
              <c:ptCount val="3"/>
              <c:pt idx="0">
                <c:v>SimpleRNN</c:v>
              </c:pt>
              <c:pt idx="1">
                <c:v>LSTM</c:v>
              </c:pt>
              <c:pt idx="2">
                <c:v>GRU</c:v>
              </c:pt>
            </c:strLit>
          </c:cat>
          <c:val>
            <c:numLit>
              <c:formatCode>0.00</c:formatCode>
              <c:ptCount val="3"/>
              <c:pt idx="0">
                <c:v>4.480679303000215</c:v>
              </c:pt>
              <c:pt idx="1">
                <c:v>4.358970491999571</c:v>
              </c:pt>
              <c:pt idx="2">
                <c:v>3.979563450000569</c:v>
              </c:pt>
            </c:numLit>
          </c:val>
        </c:ser>
        <c:dLbls>
          <c:numFmt formatCode="0.00" sourceLinked="0"/>
          <c:txPr>
            <a:bodyPr xmlns:a="http://schemas.openxmlformats.org/drawingml/2006/main" anchorCtr="1"/>
            <a:lstStyle xmlns:a="http://schemas.openxmlformats.org/drawingml/2006/main"/>
            <a:p xmlns:a="http://schemas.openxmlformats.org/drawingml/2006/main">
              <a:pPr>
                <a:defRPr sz="1500">
                  <a:solidFill>
                    <a:srgbClr val="122336"/>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4D0"/>
            </a:solidFill>
          </a:ln>
        </c:spPr>
        <c:txPr>
          <a:bodyPr xmlns:a="http://schemas.openxmlformats.org/drawingml/2006/main" anchorCtr="1"/>
          <a:lstStyle xmlns:a="http://schemas.openxmlformats.org/drawingml/2006/main"/>
          <a:p xmlns:a="http://schemas.openxmlformats.org/drawingml/2006/main">
            <a:pPr>
              <a:defRPr sz="1425">
                <a:solidFill>
                  <a:srgbClr val="122336"/>
                </a:solidFill>
                <a:latin typeface="Arial"/>
                <a:ea typeface="Arial"/>
                <a:cs typeface="Arial"/>
              </a:defRPr>
            </a:pPr>
          </a:p>
        </c:txPr>
        <c:crossAx val="48672768"/>
      </c:catAx>
      <c:valAx>
        <c:axId val="48672768"/>
        <c:scaling>
          <c:orientation val="minMax"/>
          <c:max val="6.440976498062809"/>
          <c:min val="0"/>
        </c:scaling>
        <c:delete val="0"/>
        <c:axPos val="l"/>
        <c:majorGridlines>
          <c:spPr>
            <a:ln xmlns:a="http://schemas.openxmlformats.org/drawingml/2006/main" w="9525">
              <a:solidFill>
                <a:srgbClr val="E1E7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Époque après démarrage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2233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91D9CC3-93CC-41B2-9C87-AFBF7D99686A}"/>
              </a:ext>
            </a:extLst>
          </p:cNvPr>
          <p:cNvSpPr>
            <a:spLocks xmlns:a="http://schemas.openxmlformats.org/drawingml/2006/main" noGrp="1"/>
          </p:cNvSpPr>
          <p:nvPr/>
        </p:nvSpPr>
        <p:spPr>
          <a:xfrm xmlns:a="http://schemas.openxmlformats.org/drawingml/2006/main">
            <a:off x="685800" y="158115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SimpleRNN, LSTM et GRU</a:t>
            </a:r>
          </a:p>
        </p:txBody>
      </p:sp>
      <p:sp>
        <p:nvSpPr>
          <p:cNvPr id="2" name="">
            <a:extLst xmlns:a="http://schemas.openxmlformats.org/drawingml/2006/main">
              <a:ext uri="{FF2B5EF4-FFF2-40B4-BE49-F238E27FC236}">
                <a16:creationId xmlns:a16="http://schemas.microsoft.com/office/drawing/2014/main" id="{3DA28B49-1A28-42ED-B00E-CD1282C49B0B}"/>
              </a:ext>
            </a:extLst>
          </p:cNvPr>
          <p:cNvSpPr>
            <a:spLocks xmlns:a="http://schemas.openxmlformats.org/drawingml/2006/main" noGrp="1"/>
          </p:cNvSpPr>
          <p:nvPr/>
        </p:nvSpPr>
        <p:spPr>
          <a:xfrm xmlns:a="http://schemas.openxmlformats.org/drawingml/2006/main">
            <a:off x="723900" y="271462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D7E5F0"/>
                </a:solidFill>
                <a:latin typeface="Arial"/>
                <a:ea typeface="Arial"/>
                <a:cs typeface="Arial"/>
              </a:defRPr>
            </a:defPPr>
          </a:lstStyle>
          <a:p xmlns:a="http://schemas.openxmlformats.org/drawingml/2006/main">
            <a:pPr>
              <a:defRPr sz="3150" b="0">
                <a:solidFill>
                  <a:srgbClr val="D7E5F0"/>
                </a:solidFill>
                <a:latin typeface="Arial"/>
                <a:ea typeface="Arial"/>
                <a:cs typeface="Arial"/>
              </a:defRPr>
            </a:pPr>
            <a:r>
              <a:rPr sz="3150" b="0">
                <a:solidFill>
                  <a:srgbClr val="D7E5F0"/>
                </a:solidFill>
                <a:latin typeface="Arial"/>
                <a:ea typeface="Arial"/>
                <a:cs typeface="Arial"/>
              </a:rPr>
              <a:t>Comparaison pour la prévision</a:t>
            </a:r>
          </a:p>
          <a:p xmlns:a="http://schemas.openxmlformats.org/drawingml/2006/main">
            <a:pPr>
              <a:defRPr sz="3150" b="0">
                <a:solidFill>
                  <a:srgbClr val="D7E5F0"/>
                </a:solidFill>
                <a:latin typeface="Arial"/>
                <a:ea typeface="Arial"/>
                <a:cs typeface="Arial"/>
              </a:defRPr>
            </a:pPr>
            <a:r>
              <a:rPr sz="3150" b="0">
                <a:solidFill>
                  <a:srgbClr val="D7E5F0"/>
                </a:solidFill>
                <a:latin typeface="Arial"/>
                <a:ea typeface="Arial"/>
                <a:cs typeface="Arial"/>
              </a:rPr>
              <a:t>de séries temporelles</a:t>
            </a:r>
          </a:p>
        </p:txBody>
      </p:sp>
      <p:sp>
        <p:nvSpPr>
          <p:cNvPr id="3" name="">
            <a:extLst xmlns:a="http://schemas.openxmlformats.org/drawingml/2006/main">
              <a:ext uri="{FF2B5EF4-FFF2-40B4-BE49-F238E27FC236}">
                <a16:creationId xmlns:a16="http://schemas.microsoft.com/office/drawing/2014/main" id="{B1361902-E037-43B0-8371-19ADCE6490E7}"/>
              </a:ext>
            </a:extLst>
          </p:cNvPr>
          <p:cNvSpPr>
            <a:spLocks xmlns:a="http://schemas.openxmlformats.org/drawingml/2006/main" noGrp="1"/>
          </p:cNvSpPr>
          <p:nvPr/>
        </p:nvSpPr>
        <p:spPr>
          <a:xfrm xmlns:a="http://schemas.openxmlformats.org/drawingml/2006/main">
            <a:off x="723900" y="48958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Signal synthétique et températures réelles de Jena</a:t>
            </a:r>
          </a:p>
        </p:txBody>
      </p:sp>
    </p:spTree>
    <p:extLst>
      <p:ext uri="{BB962C8B-B14F-4D97-AF65-F5344CB8AC3E}">
        <p14:creationId xmlns:p14="http://schemas.microsoft.com/office/powerpoint/2010/main" val="18454039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84070A-1874-4836-BEFF-7778EAF00F9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Question et démarche</a:t>
            </a:r>
          </a:p>
        </p:txBody>
      </p:sp>
      <p:sp>
        <p:nvSpPr>
          <p:cNvPr id="2" name="">
            <a:extLst xmlns:a="http://schemas.openxmlformats.org/drawingml/2006/main">
              <a:ext uri="{FF2B5EF4-FFF2-40B4-BE49-F238E27FC236}">
                <a16:creationId xmlns:a16="http://schemas.microsoft.com/office/drawing/2014/main" id="{B37CB5EF-B623-4442-B63E-DD6D726E783E}"/>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1F35563D-ED87-4E6B-8AD0-895080263603}"/>
              </a:ext>
            </a:extLst>
          </p:cNvPr>
          <p:cNvSpPr>
            <a:spLocks xmlns:a="http://schemas.openxmlformats.org/drawingml/2006/main" noGrp="1"/>
          </p:cNvSpPr>
          <p:nvPr/>
        </p:nvSpPr>
        <p:spPr>
          <a:xfrm xmlns:a="http://schemas.openxmlformats.org/drawingml/2006/main">
            <a:off x="628650" y="166687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2376BD"/>
                </a:solidFill>
                <a:latin typeface="Arial"/>
                <a:ea typeface="Arial"/>
                <a:cs typeface="Arial"/>
              </a:defRPr>
            </a:defPPr>
          </a:lstStyle>
          <a:p xmlns:a="http://schemas.openxmlformats.org/drawingml/2006/main">
            <a:pPr>
              <a:defRPr sz="2925" b="1">
                <a:solidFill>
                  <a:srgbClr val="2376BD"/>
                </a:solidFill>
                <a:latin typeface="Arial"/>
                <a:ea typeface="Arial"/>
                <a:cs typeface="Arial"/>
              </a:defRPr>
            </a:pPr>
            <a:r>
              <a:rPr sz="2925" b="1">
                <a:solidFill>
                  <a:srgbClr val="2376BD"/>
                </a:solidFill>
                <a:latin typeface="Arial"/>
                <a:ea typeface="Arial"/>
                <a:cs typeface="Arial"/>
              </a:rPr>
              <a:t>Une mémoire plus élaborée améliore-t-elle</a:t>
            </a:r>
          </a:p>
          <a:p xmlns:a="http://schemas.openxmlformats.org/drawingml/2006/main">
            <a:pPr>
              <a:defRPr sz="2925" b="1">
                <a:solidFill>
                  <a:srgbClr val="2376BD"/>
                </a:solidFill>
                <a:latin typeface="Arial"/>
                <a:ea typeface="Arial"/>
                <a:cs typeface="Arial"/>
              </a:defRPr>
            </a:pPr>
            <a:r>
              <a:rPr sz="2925" b="1">
                <a:solidFill>
                  <a:srgbClr val="2376BD"/>
                </a:solidFill>
                <a:latin typeface="Arial"/>
                <a:ea typeface="Arial"/>
                <a:cs typeface="Arial"/>
              </a:rPr>
              <a:t>la prévision dans notre expérience ?</a:t>
            </a:r>
          </a:p>
        </p:txBody>
      </p:sp>
      <p:sp>
        <p:nvSpPr>
          <p:cNvPr id="4" name="">
            <a:extLst xmlns:a="http://schemas.openxmlformats.org/drawingml/2006/main">
              <a:ext uri="{FF2B5EF4-FFF2-40B4-BE49-F238E27FC236}">
                <a16:creationId xmlns:a16="http://schemas.microsoft.com/office/drawing/2014/main" id="{FF2DFF9B-0DFF-4E90-8E27-8FA4266FFE4D}"/>
              </a:ext>
            </a:extLst>
          </p:cNvPr>
          <p:cNvSpPr>
            <a:spLocks xmlns:a="http://schemas.openxmlformats.org/drawingml/2006/main" noGrp="1"/>
          </p:cNvSpPr>
          <p:nvPr/>
        </p:nvSpPr>
        <p:spPr>
          <a:xfrm xmlns:a="http://schemas.openxmlformats.org/drawingml/2006/main">
            <a:off x="628650" y="333375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22336"/>
                </a:solidFill>
                <a:latin typeface="Arial"/>
                <a:ea typeface="Arial"/>
                <a:cs typeface="Arial"/>
              </a:defRPr>
            </a:defPPr>
          </a:lstStyle>
          <a:p xmlns:a="http://schemas.openxmlformats.org/drawingml/2006/main">
            <a:pPr>
              <a:defRPr sz="2100" b="0">
                <a:solidFill>
                  <a:srgbClr val="122336"/>
                </a:solidFill>
                <a:latin typeface="Arial"/>
                <a:ea typeface="Arial"/>
                <a:cs typeface="Arial"/>
              </a:defRPr>
            </a:pPr>
            <a:r>
              <a:rPr sz="2100" b="0">
                <a:solidFill>
                  <a:srgbClr val="122336"/>
                </a:solidFill>
                <a:latin typeface="Arial"/>
                <a:ea typeface="Arial"/>
                <a:cs typeface="Arial"/>
              </a:rPr>
              <a:t>Un exemple synthétique pour comprendre les séquences.</a:t>
            </a:r>
          </a:p>
        </p:txBody>
      </p:sp>
      <p:sp>
        <p:nvSpPr>
          <p:cNvPr id="5" name="">
            <a:extLst xmlns:a="http://schemas.openxmlformats.org/drawingml/2006/main">
              <a:ext uri="{FF2B5EF4-FFF2-40B4-BE49-F238E27FC236}">
                <a16:creationId xmlns:a16="http://schemas.microsoft.com/office/drawing/2014/main" id="{49FC3636-B0EF-49FD-89C5-32583EA90D24}"/>
              </a:ext>
            </a:extLst>
          </p:cNvPr>
          <p:cNvSpPr>
            <a:spLocks xmlns:a="http://schemas.openxmlformats.org/drawingml/2006/main" noGrp="1"/>
          </p:cNvSpPr>
          <p:nvPr/>
        </p:nvSpPr>
        <p:spPr>
          <a:xfrm xmlns:a="http://schemas.openxmlformats.org/drawingml/2006/main">
            <a:off x="628650" y="409575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22336"/>
                </a:solidFill>
                <a:latin typeface="Arial"/>
                <a:ea typeface="Arial"/>
                <a:cs typeface="Arial"/>
              </a:defRPr>
            </a:defPPr>
          </a:lstStyle>
          <a:p xmlns:a="http://schemas.openxmlformats.org/drawingml/2006/main">
            <a:pPr>
              <a:defRPr sz="2100" b="0">
                <a:solidFill>
                  <a:srgbClr val="122336"/>
                </a:solidFill>
                <a:latin typeface="Arial"/>
                <a:ea typeface="Arial"/>
                <a:cs typeface="Arial"/>
              </a:defRPr>
            </a:pPr>
            <a:r>
              <a:rPr sz="2100" b="0">
                <a:solidFill>
                  <a:srgbClr val="122336"/>
                </a:solidFill>
                <a:latin typeface="Arial"/>
                <a:ea typeface="Arial"/>
                <a:cs typeface="Arial"/>
              </a:rPr>
              <a:t>Une expérience réelle à +24 h pour comparer les modèles.</a:t>
            </a:r>
          </a:p>
        </p:txBody>
      </p:sp>
      <p:sp>
        <p:nvSpPr>
          <p:cNvPr id="6" name="">
            <a:extLst xmlns:a="http://schemas.openxmlformats.org/drawingml/2006/main">
              <a:ext uri="{FF2B5EF4-FFF2-40B4-BE49-F238E27FC236}">
                <a16:creationId xmlns:a16="http://schemas.microsoft.com/office/drawing/2014/main" id="{F22B23CE-6C7D-43D2-9108-7672FCA31478}"/>
              </a:ext>
            </a:extLst>
          </p:cNvPr>
          <p:cNvSpPr>
            <a:spLocks xmlns:a="http://schemas.openxmlformats.org/drawingml/2006/main" noGrp="1"/>
          </p:cNvSpPr>
          <p:nvPr/>
        </p:nvSpPr>
        <p:spPr>
          <a:xfrm xmlns:a="http://schemas.openxmlformats.org/drawingml/2006/main">
            <a:off x="628650" y="485775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22336"/>
                </a:solidFill>
                <a:latin typeface="Arial"/>
                <a:ea typeface="Arial"/>
                <a:cs typeface="Arial"/>
              </a:defRPr>
            </a:defPPr>
          </a:lstStyle>
          <a:p xmlns:a="http://schemas.openxmlformats.org/drawingml/2006/main">
            <a:pPr>
              <a:defRPr sz="2100" b="0">
                <a:solidFill>
                  <a:srgbClr val="122336"/>
                </a:solidFill>
                <a:latin typeface="Arial"/>
                <a:ea typeface="Arial"/>
                <a:cs typeface="Arial"/>
              </a:defRPr>
            </a:pPr>
            <a:r>
              <a:rPr sz="2100" b="0">
                <a:solidFill>
                  <a:srgbClr val="122336"/>
                </a:solidFill>
                <a:latin typeface="Arial"/>
                <a:ea typeface="Arial"/>
                <a:cs typeface="Arial"/>
              </a:rPr>
              <a:t>Une référence simple pour mesurer leur apport.</a:t>
            </a:r>
          </a:p>
        </p:txBody>
      </p:sp>
    </p:spTree>
    <p:extLst>
      <p:ext uri="{BB962C8B-B14F-4D97-AF65-F5344CB8AC3E}">
        <p14:creationId xmlns:p14="http://schemas.microsoft.com/office/powerpoint/2010/main" val="17333165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1E4E85-EEF1-4773-88E2-DC879A02C60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Deux expériences, deux niveaux de difficulté</a:t>
            </a:r>
          </a:p>
        </p:txBody>
      </p:sp>
      <p:sp>
        <p:nvSpPr>
          <p:cNvPr id="2" name="">
            <a:extLst xmlns:a="http://schemas.openxmlformats.org/drawingml/2006/main">
              <a:ext uri="{FF2B5EF4-FFF2-40B4-BE49-F238E27FC236}">
                <a16:creationId xmlns:a16="http://schemas.microsoft.com/office/drawing/2014/main" id="{A2219669-1E46-4D94-A865-B76F04651F90}"/>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9FBF71D0-5FAE-4A11-BF85-E0DFCA50F854}"/>
              </a:ext>
            </a:extLst>
          </p:cNvPr>
          <p:cNvGraphicFramePr/>
          <p:nvPr/>
        </p:nvGraphicFramePr>
        <p:xfrm>
          <a:off xmlns:a="http://schemas.openxmlformats.org/drawingml/2006/main" x="628650" y="1714500"/>
          <a:ext xmlns:a="http://schemas.openxmlformats.org/drawingml/2006/main" cx="10934700" cy="3286125"/>
        </p:xfrm>
        <a:graphic xmlns:a="http://schemas.openxmlformats.org/drawingml/2006/main">
          <a:graphicData uri="http://schemas.openxmlformats.org/drawingml/2006/table">
            <a:tbl>
              <a:tblPr/>
              <a:tblGrid>
                <a:gridCol w="2095500"/>
                <a:gridCol w="4191000"/>
                <a:gridCol w="4648200"/>
              </a:tblGrid>
              <a:tr h="657225">
                <a:tc>
                  <a:txBody>
                    <a:bodyPr lIns="114300" tIns="114300" rIns="114300" bIns="114300"/>
                    <a:lstStyle/>
                    <a:p>
                      <a:r>
                        <a:rPr sz="1875" b="1">
                          <a:solidFill>
                            <a:srgbClr val="FFFFFF"/>
                          </a:solidFill>
                          <a:latin typeface="Arial"/>
                          <a:ea typeface="Arial"/>
                          <a:cs typeface="Arial"/>
                        </a:rPr>
                        <a:t/>
                      </a:r>
                    </a:p>
                  </a:txBody>
                  <a:tcPr marL="91440" marR="91440" marT="45720" marB="4572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75" b="1">
                          <a:solidFill>
                            <a:srgbClr val="FFFFFF"/>
                          </a:solidFill>
                          <a:latin typeface="Arial"/>
                          <a:ea typeface="Arial"/>
                          <a:cs typeface="Arial"/>
                        </a:rPr>
                        <a:t>Signal synthétique</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75" b="1">
                          <a:solidFill>
                            <a:srgbClr val="FFFFFF"/>
                          </a:solidFill>
                          <a:latin typeface="Arial"/>
                          <a:ea typeface="Arial"/>
                          <a:cs typeface="Arial"/>
                        </a:rPr>
                        <a:t>Jena Climate</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r>
              <a:tr h="657225">
                <a:tc>
                  <a:txBody>
                    <a:bodyPr lIns="114300" tIns="114300" rIns="114300" bIns="114300"/>
                    <a:lstStyle/>
                    <a:p>
                      <a:r>
                        <a:rPr sz="1875" b="0">
                          <a:solidFill>
                            <a:srgbClr val="122336"/>
                          </a:solidFill>
                          <a:latin typeface="Arial"/>
                          <a:ea typeface="Arial"/>
                          <a:cs typeface="Arial"/>
                        </a:rPr>
                        <a:t>Données</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2 000 valeurs créées</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420 551 lignes observées</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657225">
                <a:tc>
                  <a:txBody>
                    <a:bodyPr lIns="114300" tIns="114300" rIns="114300" bIns="114300"/>
                    <a:lstStyle/>
                    <a:p>
                      <a:r>
                        <a:rPr sz="1875" b="0">
                          <a:solidFill>
                            <a:srgbClr val="122336"/>
                          </a:solidFill>
                          <a:latin typeface="Arial"/>
                          <a:ea typeface="Arial"/>
                          <a:cs typeface="Arial"/>
                        </a:rPr>
                        <a:t>Entrée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40 valeurs</a:t>
                      </a:r>
                    </a:p>
                  </a:txBody>
                  <a:tcPr marL="91440" marR="91440" marT="45720" marB="45720" anchor="ctr">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72 températures horaires</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657225">
                <a:tc>
                  <a:txBody>
                    <a:bodyPr lIns="114300" tIns="114300" rIns="114300" bIns="114300"/>
                    <a:lstStyle/>
                    <a:p>
                      <a:r>
                        <a:rPr sz="1875" b="0">
                          <a:solidFill>
                            <a:srgbClr val="122336"/>
                          </a:solidFill>
                          <a:latin typeface="Arial"/>
                          <a:ea typeface="Arial"/>
                          <a:cs typeface="Arial"/>
                        </a:rPr>
                        <a:t>Cible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Valeur suivante</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Température à +24 h</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657225">
                <a:tc>
                  <a:txBody>
                    <a:bodyPr lIns="114300" tIns="114300" rIns="114300" bIns="114300"/>
                    <a:lstStyle/>
                    <a:p>
                      <a:r>
                        <a:rPr sz="1875" b="0">
                          <a:solidFill>
                            <a:srgbClr val="122336"/>
                          </a:solidFill>
                          <a:latin typeface="Arial"/>
                          <a:ea typeface="Arial"/>
                          <a:cs typeface="Arial"/>
                        </a:rPr>
                        <a:t>Unité</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Unité artificielle</a:t>
                      </a:r>
                    </a:p>
                  </a:txBody>
                  <a:tcPr marL="91440" marR="91440" marT="45720" marB="45720" anchor="ctr">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Degré Celsius (°C)</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bl>
          </a:graphicData>
        </a:graphic>
      </p:graphicFrame>
      <p:sp>
        <p:nvSpPr>
          <p:cNvPr id="4" name="">
            <a:extLst xmlns:a="http://schemas.openxmlformats.org/drawingml/2006/main">
              <a:ext uri="{FF2B5EF4-FFF2-40B4-BE49-F238E27FC236}">
                <a16:creationId xmlns:a16="http://schemas.microsoft.com/office/drawing/2014/main" id="{5C29CB98-BD7C-4428-B370-E0255E89E255}"/>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La taille augmente, mais le changement principal concerne le réalisme et l’horizon.</a:t>
            </a:r>
          </a:p>
        </p:txBody>
      </p:sp>
    </p:spTree>
    <p:extLst>
      <p:ext uri="{BB962C8B-B14F-4D97-AF65-F5344CB8AC3E}">
        <p14:creationId xmlns:p14="http://schemas.microsoft.com/office/powerpoint/2010/main" val="10037359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B9B28A0-D005-4AF2-8202-5836591FDB8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Une première expérience sur une sinusoïde</a:t>
            </a:r>
          </a:p>
        </p:txBody>
      </p:sp>
      <p:sp>
        <p:nvSpPr>
          <p:cNvPr id="2" name="">
            <a:extLst xmlns:a="http://schemas.openxmlformats.org/drawingml/2006/main">
              <a:ext uri="{FF2B5EF4-FFF2-40B4-BE49-F238E27FC236}">
                <a16:creationId xmlns:a16="http://schemas.microsoft.com/office/drawing/2014/main" id="{0A58C22D-11AC-4309-B182-C099D1565BF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6FAEF152-B1F6-436A-BB63-5674CA53C476}"/>
              </a:ext>
            </a:extLst>
          </p:cNvPr>
          <p:cNvPicPr>
            <a:picLocks xmlns:a="http://schemas.openxmlformats.org/drawingml/2006/main" noChangeAspect="1"/>
          </p:cNvPicPr>
          <p:nvPr/>
        </p:nvPicPr>
        <p:blipFill>
          <a:blip xmlns:r="http://schemas.openxmlformats.org/officeDocument/2006/relationships" xmlns:a="http://schemas.openxmlformats.org/drawingml/2006/main" r:embed="R8e4560fdf2c44fe4"/>
          <a:stretch xmlns:a="http://schemas.openxmlformats.org/drawingml/2006/main"/>
        </p:blipFill>
        <p:spPr>
          <a:xfrm xmlns:a="http://schemas.openxmlformats.org/drawingml/2006/main">
            <a:off x="628650" y="1571883"/>
            <a:ext cx="10934700" cy="357135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692FF03-C4B1-4A27-9360-C2835B0EFD06}"/>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Sur ce signal régulier, les trois réseaux améliorent la persistance.</a:t>
            </a:r>
          </a:p>
        </p:txBody>
      </p:sp>
    </p:spTree>
    <p:extLst>
      <p:ext uri="{BB962C8B-B14F-4D97-AF65-F5344CB8AC3E}">
        <p14:creationId xmlns:p14="http://schemas.microsoft.com/office/powerpoint/2010/main" val="17363124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3BA7A7-2324-413E-A184-5CDA8D8FAA0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SimpleRNN : un état mis à jour à chaque instant</a:t>
            </a:r>
          </a:p>
        </p:txBody>
      </p:sp>
      <p:sp>
        <p:nvSpPr>
          <p:cNvPr id="2" name="">
            <a:extLst xmlns:a="http://schemas.openxmlformats.org/drawingml/2006/main">
              <a:ext uri="{FF2B5EF4-FFF2-40B4-BE49-F238E27FC236}">
                <a16:creationId xmlns:a16="http://schemas.microsoft.com/office/drawing/2014/main" id="{11615A3E-B060-4240-80F3-A3AEE50D57F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A133173-BCB0-46BE-BE67-0953D97C0A4E}"/>
              </a:ext>
            </a:extLst>
          </p:cNvPr>
          <p:cNvSpPr>
            <a:spLocks xmlns:a="http://schemas.openxmlformats.org/drawingml/2006/main" noGrp="1"/>
          </p:cNvSpPr>
          <p:nvPr/>
        </p:nvSpPr>
        <p:spPr>
          <a:xfrm xmlns:a="http://schemas.openxmlformats.org/drawingml/2006/main">
            <a:off x="762000" y="18097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376BD"/>
                </a:solidFill>
                <a:latin typeface="Arial"/>
                <a:ea typeface="Arial"/>
                <a:cs typeface="Arial"/>
              </a:defRPr>
            </a:defPPr>
          </a:lstStyle>
          <a:p xmlns:a="http://schemas.openxmlformats.org/drawingml/2006/main">
            <a:pPr>
              <a:defRPr sz="3300" b="1">
                <a:solidFill>
                  <a:srgbClr val="2376BD"/>
                </a:solidFill>
                <a:latin typeface="Arial"/>
                <a:ea typeface="Arial"/>
                <a:cs typeface="Arial"/>
              </a:defRPr>
            </a:pPr>
            <a:r>
              <a:rPr sz="3300" b="1">
                <a:solidFill>
                  <a:srgbClr val="2376BD"/>
                </a:solidFill>
                <a:latin typeface="Arial"/>
                <a:ea typeface="Arial"/>
                <a:cs typeface="Arial"/>
              </a:rPr>
              <a:t>hₜ = tanh(Wₓ xₜ + Wₕ hₜ₋₁ + b)</a:t>
            </a:r>
          </a:p>
        </p:txBody>
      </p:sp>
      <p:sp>
        <p:nvSpPr>
          <p:cNvPr id="4" name="">
            <a:extLst xmlns:a="http://schemas.openxmlformats.org/drawingml/2006/main">
              <a:ext uri="{FF2B5EF4-FFF2-40B4-BE49-F238E27FC236}">
                <a16:creationId xmlns:a16="http://schemas.microsoft.com/office/drawing/2014/main" id="{58DD6D30-69E3-46EC-9DC7-6F3EDA0EA132}"/>
              </a:ext>
            </a:extLst>
          </p:cNvPr>
          <p:cNvSpPr>
            <a:spLocks xmlns:a="http://schemas.openxmlformats.org/drawingml/2006/main" noGrp="1"/>
          </p:cNvSpPr>
          <p:nvPr/>
        </p:nvSpPr>
        <p:spPr>
          <a:xfrm xmlns:a="http://schemas.openxmlformats.org/drawingml/2006/main">
            <a:off x="628650" y="32385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22336"/>
                </a:solidFill>
                <a:latin typeface="Arial"/>
                <a:ea typeface="Arial"/>
                <a:cs typeface="Arial"/>
              </a:defRPr>
            </a:defPPr>
          </a:lstStyle>
          <a:p xmlns:a="http://schemas.openxmlformats.org/drawingml/2006/main">
            <a:pPr>
              <a:defRPr sz="2175" b="0">
                <a:solidFill>
                  <a:srgbClr val="122336"/>
                </a:solidFill>
                <a:latin typeface="Arial"/>
                <a:ea typeface="Arial"/>
                <a:cs typeface="Arial"/>
              </a:defRPr>
            </a:pPr>
            <a:r>
              <a:rPr sz="2175" b="0">
                <a:solidFill>
                  <a:srgbClr val="122336"/>
                </a:solidFill>
                <a:latin typeface="Arial"/>
                <a:ea typeface="Arial"/>
                <a:cs typeface="Arial"/>
              </a:rPr>
              <a:t>xₜ : observation actuelle.    hₜ₋₁ : résumé du passé.</a:t>
            </a:r>
          </a:p>
        </p:txBody>
      </p:sp>
      <p:sp>
        <p:nvSpPr>
          <p:cNvPr id="5" name="">
            <a:extLst xmlns:a="http://schemas.openxmlformats.org/drawingml/2006/main">
              <a:ext uri="{FF2B5EF4-FFF2-40B4-BE49-F238E27FC236}">
                <a16:creationId xmlns:a16="http://schemas.microsoft.com/office/drawing/2014/main" id="{66D16380-79E2-41DC-BA57-4704D028259F}"/>
              </a:ext>
            </a:extLst>
          </p:cNvPr>
          <p:cNvSpPr>
            <a:spLocks xmlns:a="http://schemas.openxmlformats.org/drawingml/2006/main" noGrp="1"/>
          </p:cNvSpPr>
          <p:nvPr/>
        </p:nvSpPr>
        <p:spPr>
          <a:xfrm xmlns:a="http://schemas.openxmlformats.org/drawingml/2006/main">
            <a:off x="628650" y="4143375"/>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22336"/>
                </a:solidFill>
                <a:latin typeface="Arial"/>
                <a:ea typeface="Arial"/>
                <a:cs typeface="Arial"/>
              </a:defRPr>
            </a:defPPr>
          </a:lstStyle>
          <a:p xmlns:a="http://schemas.openxmlformats.org/drawingml/2006/main">
            <a:pPr>
              <a:defRPr sz="2175" b="0">
                <a:solidFill>
                  <a:srgbClr val="122336"/>
                </a:solidFill>
                <a:latin typeface="Arial"/>
                <a:ea typeface="Arial"/>
                <a:cs typeface="Arial"/>
              </a:defRPr>
            </a:pPr>
            <a:r>
              <a:rPr sz="2175" b="0">
                <a:solidFill>
                  <a:srgbClr val="122336"/>
                </a:solidFill>
                <a:latin typeface="Arial"/>
                <a:ea typeface="Arial"/>
                <a:cs typeface="Arial"/>
              </a:rPr>
              <a:t>Les mêmes poids servent à chaque étape temporelle.</a:t>
            </a:r>
          </a:p>
        </p:txBody>
      </p:sp>
      <p:sp>
        <p:nvSpPr>
          <p:cNvPr id="6" name="">
            <a:extLst xmlns:a="http://schemas.openxmlformats.org/drawingml/2006/main">
              <a:ext uri="{FF2B5EF4-FFF2-40B4-BE49-F238E27FC236}">
                <a16:creationId xmlns:a16="http://schemas.microsoft.com/office/drawing/2014/main" id="{B0C12F1F-BE13-4165-8C53-24F7475BA83D}"/>
              </a:ext>
            </a:extLst>
          </p:cNvPr>
          <p:cNvSpPr>
            <a:spLocks xmlns:a="http://schemas.openxmlformats.org/drawingml/2006/main" noGrp="1"/>
          </p:cNvSpPr>
          <p:nvPr/>
        </p:nvSpPr>
        <p:spPr>
          <a:xfrm xmlns:a="http://schemas.openxmlformats.org/drawingml/2006/main">
            <a:off x="628650" y="504825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22336"/>
                </a:solidFill>
                <a:latin typeface="Arial"/>
                <a:ea typeface="Arial"/>
                <a:cs typeface="Arial"/>
              </a:defRPr>
            </a:defPPr>
          </a:lstStyle>
          <a:p xmlns:a="http://schemas.openxmlformats.org/drawingml/2006/main">
            <a:pPr>
              <a:defRPr sz="2175" b="0">
                <a:solidFill>
                  <a:srgbClr val="122336"/>
                </a:solidFill>
                <a:latin typeface="Arial"/>
                <a:ea typeface="Arial"/>
                <a:cs typeface="Arial"/>
              </a:defRPr>
            </a:pPr>
            <a:r>
              <a:rPr sz="2175" b="0">
                <a:solidFill>
                  <a:srgbClr val="122336"/>
                </a:solidFill>
                <a:latin typeface="Arial"/>
                <a:ea typeface="Arial"/>
                <a:cs typeface="Arial"/>
              </a:rPr>
              <a:t>Des relations éloignées peuvent être difficiles à apprendre.</a:t>
            </a:r>
          </a:p>
        </p:txBody>
      </p:sp>
    </p:spTree>
    <p:extLst>
      <p:ext uri="{BB962C8B-B14F-4D97-AF65-F5344CB8AC3E}">
        <p14:creationId xmlns:p14="http://schemas.microsoft.com/office/powerpoint/2010/main" val="12892961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487C70-382E-4BD1-B5EF-88413D510CE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LSTM : un état de cellule et des portes</a:t>
            </a:r>
          </a:p>
        </p:txBody>
      </p:sp>
      <p:sp>
        <p:nvSpPr>
          <p:cNvPr id="2" name="">
            <a:extLst xmlns:a="http://schemas.openxmlformats.org/drawingml/2006/main">
              <a:ext uri="{FF2B5EF4-FFF2-40B4-BE49-F238E27FC236}">
                <a16:creationId xmlns:a16="http://schemas.microsoft.com/office/drawing/2014/main" id="{2A0E2E83-C688-40CE-82BD-75F87164E33A}"/>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FD0B34A7-35D9-4E99-8180-AC234868004A}"/>
              </a:ext>
            </a:extLst>
          </p:cNvPr>
          <p:cNvGraphicFramePr/>
          <p:nvPr/>
        </p:nvGraphicFramePr>
        <p:xfrm>
          <a:off xmlns:a="http://schemas.openxmlformats.org/drawingml/2006/main" x="628650" y="1571625"/>
          <a:ext xmlns:a="http://schemas.openxmlformats.org/drawingml/2006/main" cx="10934700" cy="2571750"/>
        </p:xfrm>
        <a:graphic xmlns:a="http://schemas.openxmlformats.org/drawingml/2006/main">
          <a:graphicData uri="http://schemas.openxmlformats.org/drawingml/2006/table">
            <a:tbl>
              <a:tblPr/>
              <a:tblGrid>
                <a:gridCol w="2381250"/>
                <a:gridCol w="8553450"/>
              </a:tblGrid>
              <a:tr h="642938">
                <a:tc>
                  <a:txBody>
                    <a:bodyPr lIns="114300" tIns="114300" rIns="114300" bIns="114300"/>
                    <a:lstStyle/>
                    <a:p>
                      <a:r>
                        <a:rPr sz="2100" b="1">
                          <a:solidFill>
                            <a:srgbClr val="FFFFFF"/>
                          </a:solidFill>
                          <a:latin typeface="Arial"/>
                          <a:ea typeface="Arial"/>
                          <a:cs typeface="Arial"/>
                        </a:rPr>
                        <a:t>Porte</a:t>
                      </a:r>
                    </a:p>
                  </a:txBody>
                  <a:tcPr marL="91440" marR="91440" marT="45720" marB="4572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2100" b="1">
                          <a:solidFill>
                            <a:srgbClr val="FFFFFF"/>
                          </a:solidFill>
                          <a:latin typeface="Arial"/>
                          <a:ea typeface="Arial"/>
                          <a:cs typeface="Arial"/>
                        </a:rPr>
                        <a:t>Rôle</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r>
              <a:tr h="642938">
                <a:tc>
                  <a:txBody>
                    <a:bodyPr lIns="114300" tIns="114300" rIns="114300" bIns="114300"/>
                    <a:lstStyle/>
                    <a:p>
                      <a:r>
                        <a:rPr sz="2100" b="0">
                          <a:solidFill>
                            <a:srgbClr val="122336"/>
                          </a:solidFill>
                          <a:latin typeface="Arial"/>
                          <a:ea typeface="Arial"/>
                          <a:cs typeface="Arial"/>
                        </a:rPr>
                        <a:t>Oubli</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2100" b="0">
                          <a:solidFill>
                            <a:srgbClr val="122336"/>
                          </a:solidFill>
                          <a:latin typeface="Arial"/>
                          <a:ea typeface="Arial"/>
                          <a:cs typeface="Arial"/>
                        </a:rPr>
                        <a:t>Moduler la mémoire précédente</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642938">
                <a:tc>
                  <a:txBody>
                    <a:bodyPr lIns="114300" tIns="114300" rIns="114300" bIns="114300"/>
                    <a:lstStyle/>
                    <a:p>
                      <a:r>
                        <a:rPr sz="2100" b="0">
                          <a:solidFill>
                            <a:srgbClr val="122336"/>
                          </a:solidFill>
                          <a:latin typeface="Arial"/>
                          <a:ea typeface="Arial"/>
                          <a:cs typeface="Arial"/>
                        </a:rPr>
                        <a:t>Entrée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2100" b="0">
                          <a:solidFill>
                            <a:srgbClr val="122336"/>
                          </a:solidFill>
                          <a:latin typeface="Arial"/>
                          <a:ea typeface="Arial"/>
                          <a:cs typeface="Arial"/>
                        </a:rPr>
                        <a:t>Ajouter une information candidate</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642938">
                <a:tc>
                  <a:txBody>
                    <a:bodyPr lIns="114300" tIns="114300" rIns="114300" bIns="114300"/>
                    <a:lstStyle/>
                    <a:p>
                      <a:r>
                        <a:rPr sz="2100" b="0">
                          <a:solidFill>
                            <a:srgbClr val="122336"/>
                          </a:solidFill>
                          <a:latin typeface="Arial"/>
                          <a:ea typeface="Arial"/>
                          <a:cs typeface="Arial"/>
                        </a:rPr>
                        <a:t>Sortie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2100" b="0">
                          <a:solidFill>
                            <a:srgbClr val="122336"/>
                          </a:solidFill>
                          <a:latin typeface="Arial"/>
                          <a:ea typeface="Arial"/>
                          <a:cs typeface="Arial"/>
                        </a:rPr>
                        <a:t>Moduler l’état caché transmis</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FF96151-19E4-41B2-9EA8-1F5428D20CB4}"/>
              </a:ext>
            </a:extLst>
          </p:cNvPr>
          <p:cNvSpPr>
            <a:spLocks xmlns:a="http://schemas.openxmlformats.org/drawingml/2006/main" noGrp="1"/>
          </p:cNvSpPr>
          <p:nvPr/>
        </p:nvSpPr>
        <p:spPr>
          <a:xfrm xmlns:a="http://schemas.openxmlformats.org/drawingml/2006/main">
            <a:off x="742950" y="46196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D47722"/>
                </a:solidFill>
                <a:latin typeface="Arial"/>
                <a:ea typeface="Arial"/>
                <a:cs typeface="Arial"/>
              </a:defRPr>
            </a:defPPr>
          </a:lstStyle>
          <a:p xmlns:a="http://schemas.openxmlformats.org/drawingml/2006/main">
            <a:pPr>
              <a:defRPr sz="3150" b="1">
                <a:solidFill>
                  <a:srgbClr val="D47722"/>
                </a:solidFill>
                <a:latin typeface="Arial"/>
                <a:ea typeface="Arial"/>
                <a:cs typeface="Arial"/>
              </a:defRPr>
            </a:pPr>
            <a:r>
              <a:rPr sz="3150" b="1">
                <a:solidFill>
                  <a:srgbClr val="D47722"/>
                </a:solidFill>
                <a:latin typeface="Arial"/>
                <a:ea typeface="Arial"/>
                <a:cs typeface="Arial"/>
              </a:rPr>
              <a:t>cₜ = fₜ ⊙ cₜ₋₁ + iₜ ⊙ c̃ₜ</a:t>
            </a:r>
          </a:p>
        </p:txBody>
      </p:sp>
      <p:sp>
        <p:nvSpPr>
          <p:cNvPr id="5" name="">
            <a:extLst xmlns:a="http://schemas.openxmlformats.org/drawingml/2006/main">
              <a:ext uri="{FF2B5EF4-FFF2-40B4-BE49-F238E27FC236}">
                <a16:creationId xmlns:a16="http://schemas.microsoft.com/office/drawing/2014/main" id="{C493112B-93FE-4184-8B6E-FF36909A7C46}"/>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Deux états internes : hₜ et cₜ, chacun de dimension 32 dans notre modèle.</a:t>
            </a:r>
          </a:p>
        </p:txBody>
      </p:sp>
    </p:spTree>
    <p:extLst>
      <p:ext uri="{BB962C8B-B14F-4D97-AF65-F5344CB8AC3E}">
        <p14:creationId xmlns:p14="http://schemas.microsoft.com/office/powerpoint/2010/main" val="19818728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9773DB-B6D6-45FA-9C2A-A2C0633E5E2A}"/>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GRU : deux portes et un état caché</a:t>
            </a:r>
          </a:p>
        </p:txBody>
      </p:sp>
      <p:sp>
        <p:nvSpPr>
          <p:cNvPr id="2" name="">
            <a:extLst xmlns:a="http://schemas.openxmlformats.org/drawingml/2006/main">
              <a:ext uri="{FF2B5EF4-FFF2-40B4-BE49-F238E27FC236}">
                <a16:creationId xmlns:a16="http://schemas.microsoft.com/office/drawing/2014/main" id="{E3C7D60E-F4A3-433E-AB97-7EC2712A26BE}"/>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5A55A46E-4AA9-40CD-B4EC-4E3CF0A35ADB}"/>
              </a:ext>
            </a:extLst>
          </p:cNvPr>
          <p:cNvSpPr>
            <a:spLocks xmlns:a="http://schemas.openxmlformats.org/drawingml/2006/main" noGrp="1"/>
          </p:cNvSpPr>
          <p:nvPr/>
        </p:nvSpPr>
        <p:spPr>
          <a:xfrm xmlns:a="http://schemas.openxmlformats.org/drawingml/2006/main">
            <a:off x="628650" y="1714500"/>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22336"/>
                </a:solidFill>
                <a:latin typeface="Arial"/>
                <a:ea typeface="Arial"/>
                <a:cs typeface="Arial"/>
              </a:defRPr>
            </a:defPPr>
          </a:lstStyle>
          <a:p xmlns:a="http://schemas.openxmlformats.org/drawingml/2006/main">
            <a:pPr>
              <a:defRPr sz="2250" b="0">
                <a:solidFill>
                  <a:srgbClr val="122336"/>
                </a:solidFill>
                <a:latin typeface="Arial"/>
                <a:ea typeface="Arial"/>
                <a:cs typeface="Arial"/>
              </a:defRPr>
            </a:pPr>
            <a:r>
              <a:rPr sz="2250" b="0">
                <a:solidFill>
                  <a:srgbClr val="122336"/>
                </a:solidFill>
                <a:latin typeface="Arial"/>
                <a:ea typeface="Arial"/>
                <a:cs typeface="Arial"/>
              </a:rPr>
              <a:t>Réinitialisation : doser le passé dans le calcul de l’état candidat.</a:t>
            </a:r>
          </a:p>
        </p:txBody>
      </p:sp>
      <p:sp>
        <p:nvSpPr>
          <p:cNvPr id="4" name="">
            <a:extLst xmlns:a="http://schemas.openxmlformats.org/drawingml/2006/main">
              <a:ext uri="{FF2B5EF4-FFF2-40B4-BE49-F238E27FC236}">
                <a16:creationId xmlns:a16="http://schemas.microsoft.com/office/drawing/2014/main" id="{D5647441-00E5-408C-AF07-728B9A30BC2A}"/>
              </a:ext>
            </a:extLst>
          </p:cNvPr>
          <p:cNvSpPr>
            <a:spLocks xmlns:a="http://schemas.openxmlformats.org/drawingml/2006/main" noGrp="1"/>
          </p:cNvSpPr>
          <p:nvPr/>
        </p:nvSpPr>
        <p:spPr>
          <a:xfrm xmlns:a="http://schemas.openxmlformats.org/drawingml/2006/main">
            <a:off x="628650" y="2809875"/>
            <a:ext cx="10572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22336"/>
                </a:solidFill>
                <a:latin typeface="Arial"/>
                <a:ea typeface="Arial"/>
                <a:cs typeface="Arial"/>
              </a:defRPr>
            </a:defPPr>
          </a:lstStyle>
          <a:p xmlns:a="http://schemas.openxmlformats.org/drawingml/2006/main">
            <a:pPr>
              <a:defRPr sz="2250" b="0">
                <a:solidFill>
                  <a:srgbClr val="122336"/>
                </a:solidFill>
                <a:latin typeface="Arial"/>
                <a:ea typeface="Arial"/>
                <a:cs typeface="Arial"/>
              </a:defRPr>
            </a:pPr>
            <a:r>
              <a:rPr sz="2250" b="0">
                <a:solidFill>
                  <a:srgbClr val="122336"/>
                </a:solidFill>
                <a:latin typeface="Arial"/>
                <a:ea typeface="Arial"/>
                <a:cs typeface="Arial"/>
              </a:rPr>
              <a:t>Mise à jour : combiner l’ancien état et l’information candidate.</a:t>
            </a:r>
          </a:p>
        </p:txBody>
      </p:sp>
      <p:sp>
        <p:nvSpPr>
          <p:cNvPr id="5" name="">
            <a:extLst xmlns:a="http://schemas.openxmlformats.org/drawingml/2006/main">
              <a:ext uri="{FF2B5EF4-FFF2-40B4-BE49-F238E27FC236}">
                <a16:creationId xmlns:a16="http://schemas.microsoft.com/office/drawing/2014/main" id="{A349249E-041B-4423-A248-BF35FA8E8824}"/>
              </a:ext>
            </a:extLst>
          </p:cNvPr>
          <p:cNvSpPr>
            <a:spLocks xmlns:a="http://schemas.openxmlformats.org/drawingml/2006/main" noGrp="1"/>
          </p:cNvSpPr>
          <p:nvPr/>
        </p:nvSpPr>
        <p:spPr>
          <a:xfrm xmlns:a="http://schemas.openxmlformats.org/drawingml/2006/main">
            <a:off x="742950" y="43338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22845C"/>
                </a:solidFill>
                <a:latin typeface="Arial"/>
                <a:ea typeface="Arial"/>
                <a:cs typeface="Arial"/>
              </a:defRPr>
            </a:defPPr>
          </a:lstStyle>
          <a:p xmlns:a="http://schemas.openxmlformats.org/drawingml/2006/main">
            <a:pPr>
              <a:defRPr sz="3150" b="1">
                <a:solidFill>
                  <a:srgbClr val="22845C"/>
                </a:solidFill>
                <a:latin typeface="Arial"/>
                <a:ea typeface="Arial"/>
                <a:cs typeface="Arial"/>
              </a:defRPr>
            </a:pPr>
            <a:r>
              <a:rPr sz="3150" b="1">
                <a:solidFill>
                  <a:srgbClr val="22845C"/>
                </a:solidFill>
                <a:latin typeface="Arial"/>
                <a:ea typeface="Arial"/>
                <a:cs typeface="Arial"/>
              </a:rPr>
              <a:t>hₜ = zₜ ⊙ hₜ₋₁ + (1 − zₜ) ⊙ h̃ₜ</a:t>
            </a:r>
          </a:p>
        </p:txBody>
      </p:sp>
      <p:sp>
        <p:nvSpPr>
          <p:cNvPr id="6" name="">
            <a:extLst xmlns:a="http://schemas.openxmlformats.org/drawingml/2006/main">
              <a:ext uri="{FF2B5EF4-FFF2-40B4-BE49-F238E27FC236}">
                <a16:creationId xmlns:a16="http://schemas.microsoft.com/office/drawing/2014/main" id="{D24F6B55-CD71-4580-BF97-287C9F9AB1EE}"/>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Un état caché de dimension 32, sans état de cellule séparé.</a:t>
            </a:r>
          </a:p>
        </p:txBody>
      </p:sp>
    </p:spTree>
    <p:extLst>
      <p:ext uri="{BB962C8B-B14F-4D97-AF65-F5344CB8AC3E}">
        <p14:creationId xmlns:p14="http://schemas.microsoft.com/office/powerpoint/2010/main" val="3543586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25AECA-4496-451D-9F38-F8B2DEF07CE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Une architecture commune, des tailles différentes</a:t>
            </a:r>
          </a:p>
        </p:txBody>
      </p:sp>
      <p:sp>
        <p:nvSpPr>
          <p:cNvPr id="2" name="">
            <a:extLst xmlns:a="http://schemas.openxmlformats.org/drawingml/2006/main">
              <a:ext uri="{FF2B5EF4-FFF2-40B4-BE49-F238E27FC236}">
                <a16:creationId xmlns:a16="http://schemas.microsoft.com/office/drawing/2014/main" id="{32C063BB-EA07-43EB-8D4D-C048E991F4D2}"/>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79F3F6B-5058-41CD-90C5-0D7DEE9D2E52}"/>
              </a:ext>
            </a:extLst>
          </p:cNvPr>
          <p:cNvSpPr>
            <a:spLocks xmlns:a="http://schemas.openxmlformats.org/drawingml/2006/main" noGrp="1"/>
          </p:cNvSpPr>
          <p:nvPr/>
        </p:nvSpPr>
        <p:spPr>
          <a:xfrm xmlns:a="http://schemas.openxmlformats.org/drawingml/2006/main">
            <a:off x="628650" y="15716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376BD"/>
                </a:solidFill>
                <a:latin typeface="Arial"/>
                <a:ea typeface="Arial"/>
                <a:cs typeface="Arial"/>
              </a:defRPr>
            </a:defPPr>
          </a:lstStyle>
          <a:p xmlns:a="http://schemas.openxmlformats.org/drawingml/2006/main">
            <a:pPr>
              <a:defRPr sz="2400" b="1">
                <a:solidFill>
                  <a:srgbClr val="2376BD"/>
                </a:solidFill>
                <a:latin typeface="Arial"/>
                <a:ea typeface="Arial"/>
                <a:cs typeface="Arial"/>
              </a:defRPr>
            </a:pPr>
            <a:r>
              <a:rPr sz="2400" b="1">
                <a:solidFill>
                  <a:srgbClr val="2376BD"/>
                </a:solidFill>
                <a:latin typeface="Arial"/>
                <a:ea typeface="Arial"/>
                <a:cs typeface="Arial"/>
              </a:rPr>
              <a:t>Entrée (72, 1)    Couche récurrente (32)    Dense(1)</a:t>
            </a:r>
          </a:p>
        </p:txBody>
      </p:sp>
      <p:graphicFrame>
        <p:nvGraphicFramePr>
          <p:cNvPr id="4" name="">
            <a:extLst xmlns:a="http://schemas.openxmlformats.org/drawingml/2006/main">
              <a:ext uri="{FF2B5EF4-FFF2-40B4-BE49-F238E27FC236}">
                <a16:creationId xmlns:a16="http://schemas.microsoft.com/office/drawing/2014/main" id="{F85F5F65-98D6-4E3A-B2A9-B3FF6DA03BE7}"/>
              </a:ext>
            </a:extLst>
          </p:cNvPr>
          <p:cNvGraphicFramePr/>
          <p:nvPr/>
        </p:nvGraphicFramePr>
        <p:xfrm>
          <a:off xmlns:a="http://schemas.openxmlformats.org/drawingml/2006/main" x="628650" y="2667000"/>
          <a:ext xmlns:a="http://schemas.openxmlformats.org/drawingml/2006/main" cx="10934700" cy="2476500"/>
        </p:xfrm>
        <a:graphic xmlns:a="http://schemas.openxmlformats.org/drawingml/2006/main">
          <a:graphicData uri="http://schemas.openxmlformats.org/drawingml/2006/table">
            <a:tbl>
              <a:tblPr/>
              <a:tblGrid>
                <a:gridCol w="3524250"/>
                <a:gridCol w="3810000"/>
                <a:gridCol w="3600450"/>
              </a:tblGrid>
              <a:tr h="619125">
                <a:tc>
                  <a:txBody>
                    <a:bodyPr lIns="114300" tIns="114300" rIns="114300" bIns="114300"/>
                    <a:lstStyle/>
                    <a:p>
                      <a:r>
                        <a:rPr sz="1875" b="1">
                          <a:solidFill>
                            <a:srgbClr val="FFFFFF"/>
                          </a:solidFill>
                          <a:latin typeface="Arial"/>
                          <a:ea typeface="Arial"/>
                          <a:cs typeface="Arial"/>
                        </a:rPr>
                        <a:t>Modèle</a:t>
                      </a:r>
                    </a:p>
                  </a:txBody>
                  <a:tcPr marL="91440" marR="91440" marT="45720" marB="4572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75" b="1">
                          <a:solidFill>
                            <a:srgbClr val="FFFFFF"/>
                          </a:solidFill>
                          <a:latin typeface="Arial"/>
                          <a:ea typeface="Arial"/>
                          <a:cs typeface="Arial"/>
                        </a:rPr>
                        <a:t>États internes</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75" b="1">
                          <a:solidFill>
                            <a:srgbClr val="FFFFFF"/>
                          </a:solidFill>
                          <a:latin typeface="Arial"/>
                          <a:ea typeface="Arial"/>
                          <a:cs typeface="Arial"/>
                        </a:rPr>
                        <a:t>Paramètres</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r>
              <a:tr h="619125">
                <a:tc>
                  <a:txBody>
                    <a:bodyPr lIns="114300" tIns="114300" rIns="114300" bIns="114300"/>
                    <a:lstStyle/>
                    <a:p>
                      <a:r>
                        <a:rPr sz="1875" b="0">
                          <a:solidFill>
                            <a:srgbClr val="122336"/>
                          </a:solidFill>
                          <a:latin typeface="Arial"/>
                          <a:ea typeface="Arial"/>
                          <a:cs typeface="Arial"/>
                        </a:rPr>
                        <a:t>SimpleRNN</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h</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1 121</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619125">
                <a:tc>
                  <a:txBody>
                    <a:bodyPr lIns="114300" tIns="114300" rIns="114300" bIns="114300"/>
                    <a:lstStyle/>
                    <a:p>
                      <a:r>
                        <a:rPr sz="1875" b="0">
                          <a:solidFill>
                            <a:srgbClr val="122336"/>
                          </a:solidFill>
                          <a:latin typeface="Arial"/>
                          <a:ea typeface="Arial"/>
                          <a:cs typeface="Arial"/>
                        </a:rPr>
                        <a:t>LSTM</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h et c</a:t>
                      </a:r>
                    </a:p>
                  </a:txBody>
                  <a:tcPr marL="91440" marR="91440" marT="45720" marB="45720" anchor="ctr">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4 385</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619125">
                <a:tc>
                  <a:txBody>
                    <a:bodyPr lIns="114300" tIns="114300" rIns="114300" bIns="114300"/>
                    <a:lstStyle/>
                    <a:p>
                      <a:r>
                        <a:rPr sz="1875" b="0">
                          <a:solidFill>
                            <a:srgbClr val="122336"/>
                          </a:solidFill>
                          <a:latin typeface="Arial"/>
                          <a:ea typeface="Arial"/>
                          <a:cs typeface="Arial"/>
                        </a:rPr>
                        <a:t>GRU</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h</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3 393</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DE5A5E2-09D8-422F-9B78-CC264CFDF329}"/>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Même taille d’état caché. Nombre de paramètres différent.</a:t>
            </a:r>
          </a:p>
        </p:txBody>
      </p:sp>
    </p:spTree>
    <p:extLst>
      <p:ext uri="{BB962C8B-B14F-4D97-AF65-F5344CB8AC3E}">
        <p14:creationId xmlns:p14="http://schemas.microsoft.com/office/powerpoint/2010/main" val="56833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E23F53-1455-4AA6-ABF4-E464E17D434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Jena Climate : des températures observées</a:t>
            </a:r>
          </a:p>
        </p:txBody>
      </p:sp>
      <p:sp>
        <p:nvSpPr>
          <p:cNvPr id="2" name="">
            <a:extLst xmlns:a="http://schemas.openxmlformats.org/drawingml/2006/main">
              <a:ext uri="{FF2B5EF4-FFF2-40B4-BE49-F238E27FC236}">
                <a16:creationId xmlns:a16="http://schemas.microsoft.com/office/drawing/2014/main" id="{90600A4A-7FB1-44C2-92B3-FD598CEC346B}"/>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056D656D-F87F-4EDA-9A2B-84B0F67D6176}"/>
              </a:ext>
            </a:extLst>
          </p:cNvPr>
          <p:cNvSpPr>
            <a:spLocks xmlns:a="http://schemas.openxmlformats.org/drawingml/2006/main" noGrp="1"/>
          </p:cNvSpPr>
          <p:nvPr/>
        </p:nvSpPr>
        <p:spPr>
          <a:xfrm xmlns:a="http://schemas.openxmlformats.org/drawingml/2006/main">
            <a:off x="666750" y="16668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300" b="1">
                <a:solidFill>
                  <a:srgbClr val="2376BD"/>
                </a:solidFill>
                <a:latin typeface="Arial"/>
                <a:ea typeface="Arial"/>
                <a:cs typeface="Arial"/>
              </a:defRPr>
            </a:defPPr>
          </a:lstStyle>
          <a:p xmlns:a="http://schemas.openxmlformats.org/drawingml/2006/main">
            <a:pPr>
              <a:defRPr sz="6300" b="1">
                <a:solidFill>
                  <a:srgbClr val="2376BD"/>
                </a:solidFill>
                <a:latin typeface="Arial"/>
                <a:ea typeface="Arial"/>
                <a:cs typeface="Arial"/>
              </a:defRPr>
            </a:pPr>
            <a:r>
              <a:rPr sz="6300" b="1">
                <a:solidFill>
                  <a:srgbClr val="2376BD"/>
                </a:solidFill>
                <a:latin typeface="Arial"/>
                <a:ea typeface="Arial"/>
                <a:cs typeface="Arial"/>
              </a:rPr>
              <a:t>420 551</a:t>
            </a:r>
          </a:p>
        </p:txBody>
      </p:sp>
      <p:sp>
        <p:nvSpPr>
          <p:cNvPr id="4" name="">
            <a:extLst xmlns:a="http://schemas.openxmlformats.org/drawingml/2006/main">
              <a:ext uri="{FF2B5EF4-FFF2-40B4-BE49-F238E27FC236}">
                <a16:creationId xmlns:a16="http://schemas.microsoft.com/office/drawing/2014/main" id="{4F92FF93-5C28-4AB7-AE6E-23DDE6A918B2}"/>
              </a:ext>
            </a:extLst>
          </p:cNvPr>
          <p:cNvSpPr>
            <a:spLocks xmlns:a="http://schemas.openxmlformats.org/drawingml/2006/main" noGrp="1"/>
          </p:cNvSpPr>
          <p:nvPr/>
        </p:nvSpPr>
        <p:spPr>
          <a:xfrm xmlns:a="http://schemas.openxmlformats.org/drawingml/2006/main">
            <a:off x="704850" y="27813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22336"/>
                </a:solidFill>
                <a:latin typeface="Arial"/>
                <a:ea typeface="Arial"/>
                <a:cs typeface="Arial"/>
              </a:defRPr>
            </a:defPPr>
          </a:lstStyle>
          <a:p xmlns:a="http://schemas.openxmlformats.org/drawingml/2006/main">
            <a:pPr>
              <a:defRPr sz="2100" b="0">
                <a:solidFill>
                  <a:srgbClr val="122336"/>
                </a:solidFill>
                <a:latin typeface="Arial"/>
                <a:ea typeface="Arial"/>
                <a:cs typeface="Arial"/>
              </a:defRPr>
            </a:pPr>
            <a:r>
              <a:rPr sz="2100" b="0">
                <a:solidFill>
                  <a:srgbClr val="122336"/>
                </a:solidFill>
                <a:latin typeface="Arial"/>
                <a:ea typeface="Arial"/>
                <a:cs typeface="Arial"/>
              </a:rPr>
              <a:t>lignes originales, enregistrées toutes les dix minutes</a:t>
            </a:r>
          </a:p>
        </p:txBody>
      </p:sp>
      <p:sp>
        <p:nvSpPr>
          <p:cNvPr id="5" name="">
            <a:extLst xmlns:a="http://schemas.openxmlformats.org/drawingml/2006/main">
              <a:ext uri="{FF2B5EF4-FFF2-40B4-BE49-F238E27FC236}">
                <a16:creationId xmlns:a16="http://schemas.microsoft.com/office/drawing/2014/main" id="{7C5E5067-3A62-4322-8016-060862A58D13}"/>
              </a:ext>
            </a:extLst>
          </p:cNvPr>
          <p:cNvSpPr>
            <a:spLocks xmlns:a="http://schemas.openxmlformats.org/drawingml/2006/main" noGrp="1"/>
          </p:cNvSpPr>
          <p:nvPr/>
        </p:nvSpPr>
        <p:spPr>
          <a:xfrm xmlns:a="http://schemas.openxmlformats.org/drawingml/2006/main">
            <a:off x="628650" y="3762375"/>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22336"/>
                </a:solidFill>
                <a:latin typeface="Arial"/>
                <a:ea typeface="Arial"/>
                <a:cs typeface="Arial"/>
              </a:defRPr>
            </a:defPPr>
          </a:lstStyle>
          <a:p xmlns:a="http://schemas.openxmlformats.org/drawingml/2006/main">
            <a:pPr>
              <a:defRPr sz="2100" b="0">
                <a:solidFill>
                  <a:srgbClr val="122336"/>
                </a:solidFill>
                <a:latin typeface="Arial"/>
                <a:ea typeface="Arial"/>
                <a:cs typeface="Arial"/>
              </a:defRPr>
            </a:pPr>
            <a:r>
              <a:rPr sz="2100" b="0">
                <a:solidFill>
                  <a:srgbClr val="122336"/>
                </a:solidFill>
                <a:latin typeface="Arial"/>
                <a:ea typeface="Arial"/>
                <a:cs typeface="Arial"/>
              </a:rPr>
              <a:t>70 129 positions horaires après regroupement.</a:t>
            </a:r>
          </a:p>
        </p:txBody>
      </p:sp>
      <p:sp>
        <p:nvSpPr>
          <p:cNvPr id="6" name="">
            <a:extLst xmlns:a="http://schemas.openxmlformats.org/drawingml/2006/main">
              <a:ext uri="{FF2B5EF4-FFF2-40B4-BE49-F238E27FC236}">
                <a16:creationId xmlns:a16="http://schemas.microsoft.com/office/drawing/2014/main" id="{A73353BA-EDCF-47E0-B16E-BF5CA763CA0B}"/>
              </a:ext>
            </a:extLst>
          </p:cNvPr>
          <p:cNvSpPr>
            <a:spLocks xmlns:a="http://schemas.openxmlformats.org/drawingml/2006/main" noGrp="1"/>
          </p:cNvSpPr>
          <p:nvPr/>
        </p:nvSpPr>
        <p:spPr>
          <a:xfrm xmlns:a="http://schemas.openxmlformats.org/drawingml/2006/main">
            <a:off x="628650" y="4476750"/>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22336"/>
                </a:solidFill>
                <a:latin typeface="Arial"/>
                <a:ea typeface="Arial"/>
                <a:cs typeface="Arial"/>
              </a:defRPr>
            </a:defPPr>
          </a:lstStyle>
          <a:p xmlns:a="http://schemas.openxmlformats.org/drawingml/2006/main">
            <a:pPr>
              <a:defRPr sz="2100" b="0">
                <a:solidFill>
                  <a:srgbClr val="122336"/>
                </a:solidFill>
                <a:latin typeface="Arial"/>
                <a:ea typeface="Arial"/>
                <a:cs typeface="Arial"/>
              </a:defRPr>
            </a:pPr>
            <a:r>
              <a:rPr sz="2100" b="0">
                <a:solidFill>
                  <a:srgbClr val="122336"/>
                </a:solidFill>
                <a:latin typeface="Arial"/>
                <a:ea typeface="Arial"/>
                <a:cs typeface="Arial"/>
              </a:rPr>
              <a:t>Une seule variable pour les modèles : la température.</a:t>
            </a:r>
          </a:p>
        </p:txBody>
      </p:sp>
      <p:sp>
        <p:nvSpPr>
          <p:cNvPr id="7" name="">
            <a:extLst xmlns:a="http://schemas.openxmlformats.org/drawingml/2006/main">
              <a:ext uri="{FF2B5EF4-FFF2-40B4-BE49-F238E27FC236}">
                <a16:creationId xmlns:a16="http://schemas.microsoft.com/office/drawing/2014/main" id="{19C11424-DB9E-40D5-89CB-FFAEE1791DAC}"/>
              </a:ext>
            </a:extLst>
          </p:cNvPr>
          <p:cNvSpPr>
            <a:spLocks xmlns:a="http://schemas.openxmlformats.org/drawingml/2006/main" noGrp="1"/>
          </p:cNvSpPr>
          <p:nvPr/>
        </p:nvSpPr>
        <p:spPr>
          <a:xfrm xmlns:a="http://schemas.openxmlformats.org/drawingml/2006/main">
            <a:off x="628650" y="5191125"/>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22336"/>
                </a:solidFill>
                <a:latin typeface="Arial"/>
                <a:ea typeface="Arial"/>
                <a:cs typeface="Arial"/>
              </a:defRPr>
            </a:defPPr>
          </a:lstStyle>
          <a:p xmlns:a="http://schemas.openxmlformats.org/drawingml/2006/main">
            <a:pPr>
              <a:defRPr sz="2100" b="0">
                <a:solidFill>
                  <a:srgbClr val="122336"/>
                </a:solidFill>
                <a:latin typeface="Arial"/>
                <a:ea typeface="Arial"/>
                <a:cs typeface="Arial"/>
              </a:defRPr>
            </a:pPr>
            <a:r>
              <a:rPr sz="2100" b="0">
                <a:solidFill>
                  <a:srgbClr val="122336"/>
                </a:solidFill>
                <a:latin typeface="Arial"/>
                <a:ea typeface="Arial"/>
                <a:cs typeface="Arial"/>
              </a:rPr>
              <a:t>Source : Max Planck, archive utilisée par TensorFlow.</a:t>
            </a:r>
          </a:p>
        </p:txBody>
      </p:sp>
    </p:spTree>
    <p:extLst>
      <p:ext uri="{BB962C8B-B14F-4D97-AF65-F5344CB8AC3E}">
        <p14:creationId xmlns:p14="http://schemas.microsoft.com/office/powerpoint/2010/main" val="8408971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52CE84-0DAC-418E-B3F4-E5CF5EA8FA66}"/>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Des lacunes réelles, sans inventer de longues séries</a:t>
            </a:r>
          </a:p>
        </p:txBody>
      </p:sp>
      <p:sp>
        <p:nvSpPr>
          <p:cNvPr id="2" name="">
            <a:extLst xmlns:a="http://schemas.openxmlformats.org/drawingml/2006/main">
              <a:ext uri="{FF2B5EF4-FFF2-40B4-BE49-F238E27FC236}">
                <a16:creationId xmlns:a16="http://schemas.microsoft.com/office/drawing/2014/main" id="{7FC6AB67-1FDB-4B21-AEE5-47EC7ADE3E62}"/>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7791CF13-994F-458C-A789-F24EB83BF744}"/>
              </a:ext>
            </a:extLst>
          </p:cNvPr>
          <p:cNvGraphicFramePr/>
          <p:nvPr/>
        </p:nvGraphicFramePr>
        <p:xfrm>
          <a:off xmlns:a="http://schemas.openxmlformats.org/drawingml/2006/main" x="628650" y="1714500"/>
          <a:ext xmlns:a="http://schemas.openxmlformats.org/drawingml/2006/main" cx="10934700" cy="3238500"/>
        </p:xfrm>
        <a:graphic xmlns:a="http://schemas.openxmlformats.org/drawingml/2006/main">
          <a:graphicData uri="http://schemas.openxmlformats.org/drawingml/2006/table">
            <a:tbl>
              <a:tblPr/>
              <a:tblGrid>
                <a:gridCol w="3905250"/>
                <a:gridCol w="7029450"/>
              </a:tblGrid>
              <a:tr h="647700">
                <a:tc>
                  <a:txBody>
                    <a:bodyPr lIns="114300" tIns="114300" rIns="114300" bIns="114300"/>
                    <a:lstStyle/>
                    <a:p>
                      <a:r>
                        <a:rPr sz="1950" b="1">
                          <a:solidFill>
                            <a:srgbClr val="FFFFFF"/>
                          </a:solidFill>
                          <a:latin typeface="Arial"/>
                          <a:ea typeface="Arial"/>
                          <a:cs typeface="Arial"/>
                        </a:rPr>
                        <a:t>Contrôle</a:t>
                      </a:r>
                    </a:p>
                  </a:txBody>
                  <a:tcPr marL="91440" marR="91440" marT="45720" marB="4572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950" b="1">
                          <a:solidFill>
                            <a:srgbClr val="FFFFFF"/>
                          </a:solidFill>
                          <a:latin typeface="Arial"/>
                          <a:ea typeface="Arial"/>
                          <a:cs typeface="Arial"/>
                        </a:rPr>
                        <a:t>Traitement</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r>
              <a:tr h="647700">
                <a:tc>
                  <a:txBody>
                    <a:bodyPr lIns="114300" tIns="114300" rIns="114300" bIns="114300"/>
                    <a:lstStyle/>
                    <a:p>
                      <a:r>
                        <a:rPr sz="1950" b="0">
                          <a:solidFill>
                            <a:srgbClr val="122336"/>
                          </a:solidFill>
                          <a:latin typeface="Arial"/>
                          <a:ea typeface="Arial"/>
                          <a:cs typeface="Arial"/>
                        </a:rPr>
                        <a:t>327 dates dupliquées</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950" b="0">
                          <a:solidFill>
                            <a:srgbClr val="122336"/>
                          </a:solidFill>
                          <a:latin typeface="Arial"/>
                          <a:ea typeface="Arial"/>
                          <a:cs typeface="Arial"/>
                        </a:rPr>
                        <a:t>Regroupement dans les moyennes horaires</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647700">
                <a:tc>
                  <a:txBody>
                    <a:bodyPr lIns="114300" tIns="114300" rIns="114300" bIns="114300"/>
                    <a:lstStyle/>
                    <a:p>
                      <a:r>
                        <a:rPr sz="1950" b="0">
                          <a:solidFill>
                            <a:srgbClr val="122336"/>
                          </a:solidFill>
                          <a:latin typeface="Arial"/>
                          <a:ea typeface="Arial"/>
                          <a:cs typeface="Arial"/>
                        </a:rPr>
                        <a:t>88 heures sans observation</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950" b="0">
                          <a:solidFill>
                            <a:srgbClr val="122336"/>
                          </a:solidFill>
                          <a:latin typeface="Arial"/>
                          <a:ea typeface="Arial"/>
                          <a:cs typeface="Arial"/>
                        </a:rPr>
                        <a:t>Remplissage causal limité à 3 h</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647700">
                <a:tc>
                  <a:txBody>
                    <a:bodyPr lIns="114300" tIns="114300" rIns="114300" bIns="114300"/>
                    <a:lstStyle/>
                    <a:p>
                      <a:r>
                        <a:rPr sz="1950" b="0">
                          <a:solidFill>
                            <a:srgbClr val="122336"/>
                          </a:solidFill>
                          <a:latin typeface="Arial"/>
                          <a:ea typeface="Arial"/>
                          <a:cs typeface="Arial"/>
                        </a:rPr>
                        <a:t>82 heures encore absentes</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950" b="0">
                          <a:solidFill>
                            <a:srgbClr val="122336"/>
                          </a:solidFill>
                          <a:latin typeface="Arial"/>
                          <a:ea typeface="Arial"/>
                          <a:cs typeface="Arial"/>
                        </a:rPr>
                        <a:t>Conservation des lacunes temporelles</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647700">
                <a:tc>
                  <a:txBody>
                    <a:bodyPr lIns="114300" tIns="114300" rIns="114300" bIns="114300"/>
                    <a:lstStyle/>
                    <a:p>
                      <a:r>
                        <a:rPr sz="1950" b="0">
                          <a:solidFill>
                            <a:srgbClr val="122336"/>
                          </a:solidFill>
                          <a:latin typeface="Arial"/>
                          <a:ea typeface="Arial"/>
                          <a:cs typeface="Arial"/>
                        </a:rPr>
                        <a:t>348 candidats exclus</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950" b="0">
                          <a:solidFill>
                            <a:srgbClr val="122336"/>
                          </a:solidFill>
                          <a:latin typeface="Arial"/>
                          <a:ea typeface="Arial"/>
                          <a:cs typeface="Arial"/>
                        </a:rPr>
                        <a:t>Fenêtres et cibles compatibles pour tous</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bl>
          </a:graphicData>
        </a:graphic>
      </p:graphicFrame>
      <p:sp>
        <p:nvSpPr>
          <p:cNvPr id="4" name="">
            <a:extLst xmlns:a="http://schemas.openxmlformats.org/drawingml/2006/main">
              <a:ext uri="{FF2B5EF4-FFF2-40B4-BE49-F238E27FC236}">
                <a16:creationId xmlns:a16="http://schemas.microsoft.com/office/drawing/2014/main" id="{A765B303-50FC-4E7C-AA45-69F0163C68AE}"/>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La grille reste horaire. Une cible absente ne devient pas une mesure réelle.</a:t>
            </a:r>
          </a:p>
        </p:txBody>
      </p:sp>
    </p:spTree>
    <p:extLst>
      <p:ext uri="{BB962C8B-B14F-4D97-AF65-F5344CB8AC3E}">
        <p14:creationId xmlns:p14="http://schemas.microsoft.com/office/powerpoint/2010/main" val="6608594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ED5C3E-6CCA-4C9E-8328-C42DB302B35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Une prévision émise 24 heures avant la cible</a:t>
            </a:r>
          </a:p>
        </p:txBody>
      </p:sp>
      <p:sp>
        <p:nvSpPr>
          <p:cNvPr id="2" name="">
            <a:extLst xmlns:a="http://schemas.openxmlformats.org/drawingml/2006/main">
              <a:ext uri="{FF2B5EF4-FFF2-40B4-BE49-F238E27FC236}">
                <a16:creationId xmlns:a16="http://schemas.microsoft.com/office/drawing/2014/main" id="{0ED17D5E-C7E0-409D-9440-779DF63F3E28}"/>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668F8836-13D5-495D-925D-21D43539C2FE}"/>
              </a:ext>
            </a:extLst>
          </p:cNvPr>
          <p:cNvPicPr>
            <a:picLocks xmlns:a="http://schemas.openxmlformats.org/drawingml/2006/main" noChangeAspect="1"/>
          </p:cNvPicPr>
          <p:nvPr/>
        </p:nvPicPr>
        <p:blipFill>
          <a:blip xmlns:r="http://schemas.openxmlformats.org/officeDocument/2006/relationships" xmlns:a="http://schemas.openxmlformats.org/drawingml/2006/main" r:embed="Rab7d66cac7fb4f94"/>
          <a:stretch xmlns:a="http://schemas.openxmlformats.org/drawingml/2006/main"/>
        </p:blipFill>
        <p:spPr>
          <a:xfrm xmlns:a="http://schemas.openxmlformats.org/drawingml/2006/main">
            <a:off x="628650" y="1527784"/>
            <a:ext cx="10934700" cy="38976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79B8026-77A5-4F41-97AA-6D6F540CE732}"/>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72 températures horaires connues, une seule température à prévoir à +24 h.</a:t>
            </a:r>
          </a:p>
        </p:txBody>
      </p:sp>
    </p:spTree>
    <p:extLst>
      <p:ext uri="{BB962C8B-B14F-4D97-AF65-F5344CB8AC3E}">
        <p14:creationId xmlns:p14="http://schemas.microsoft.com/office/powerpoint/2010/main" val="12412824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D9564B-01A4-4E25-84CA-E5C427D3F5A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Séparation chronologique et dimensions</a:t>
            </a:r>
          </a:p>
        </p:txBody>
      </p:sp>
      <p:sp>
        <p:nvSpPr>
          <p:cNvPr id="2" name="">
            <a:extLst xmlns:a="http://schemas.openxmlformats.org/drawingml/2006/main">
              <a:ext uri="{FF2B5EF4-FFF2-40B4-BE49-F238E27FC236}">
                <a16:creationId xmlns:a16="http://schemas.microsoft.com/office/drawing/2014/main" id="{1941A8B2-2885-483A-BC65-95E882A2E8E0}"/>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EF9308AE-1508-4BC2-901D-D9101EB413D3}"/>
              </a:ext>
            </a:extLst>
          </p:cNvPr>
          <p:cNvGraphicFramePr/>
          <p:nvPr/>
        </p:nvGraphicFramePr>
        <p:xfrm>
          <a:off xmlns:a="http://schemas.openxmlformats.org/drawingml/2006/main" x="628650" y="1571625"/>
          <a:ext xmlns:a="http://schemas.openxmlformats.org/drawingml/2006/main" cx="10934700" cy="2667000"/>
        </p:xfrm>
        <a:graphic xmlns:a="http://schemas.openxmlformats.org/drawingml/2006/main">
          <a:graphicData uri="http://schemas.openxmlformats.org/drawingml/2006/table">
            <a:tbl>
              <a:tblPr/>
              <a:tblGrid>
                <a:gridCol w="2286000"/>
                <a:gridCol w="1571625"/>
                <a:gridCol w="3000375"/>
                <a:gridCol w="4076700"/>
              </a:tblGrid>
              <a:tr h="666750">
                <a:tc>
                  <a:txBody>
                    <a:bodyPr lIns="114300" tIns="114300" rIns="114300" bIns="114300"/>
                    <a:lstStyle/>
                    <a:p>
                      <a:r>
                        <a:rPr sz="1800" b="1">
                          <a:solidFill>
                            <a:srgbClr val="FFFFFF"/>
                          </a:solidFill>
                          <a:latin typeface="Arial"/>
                          <a:ea typeface="Arial"/>
                          <a:cs typeface="Arial"/>
                        </a:rPr>
                        <a:t>Jeu</a:t>
                      </a:r>
                    </a:p>
                  </a:txBody>
                  <a:tcPr marL="91440" marR="91440" marT="45720" marB="4572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00" b="1">
                          <a:solidFill>
                            <a:srgbClr val="FFFFFF"/>
                          </a:solidFill>
                          <a:latin typeface="Arial"/>
                          <a:ea typeface="Arial"/>
                          <a:cs typeface="Arial"/>
                        </a:rPr>
                        <a:t>Exemples</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00" b="1">
                          <a:solidFill>
                            <a:srgbClr val="FFFFFF"/>
                          </a:solidFill>
                          <a:latin typeface="Arial"/>
                          <a:ea typeface="Arial"/>
                          <a:cs typeface="Arial"/>
                        </a:rPr>
                        <a:t>Entrées</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00" b="1">
                          <a:solidFill>
                            <a:srgbClr val="FFFFFF"/>
                          </a:solidFill>
                          <a:latin typeface="Arial"/>
                          <a:ea typeface="Arial"/>
                          <a:cs typeface="Arial"/>
                        </a:rPr>
                        <a:t>Période des cibles</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r>
              <a:tr h="666750">
                <a:tc>
                  <a:txBody>
                    <a:bodyPr lIns="114300" tIns="114300" rIns="114300" bIns="114300"/>
                    <a:lstStyle/>
                    <a:p>
                      <a:r>
                        <a:rPr sz="1800" b="0">
                          <a:solidFill>
                            <a:srgbClr val="122336"/>
                          </a:solidFill>
                          <a:latin typeface="Arial"/>
                          <a:ea typeface="Arial"/>
                          <a:cs typeface="Arial"/>
                        </a:rPr>
                        <a:t>Entraînement</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00" b="0">
                          <a:solidFill>
                            <a:srgbClr val="122336"/>
                          </a:solidFill>
                          <a:latin typeface="Arial"/>
                          <a:ea typeface="Arial"/>
                          <a:cs typeface="Arial"/>
                        </a:rPr>
                        <a:t>48 922</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00" b="0">
                          <a:solidFill>
                            <a:srgbClr val="122336"/>
                          </a:solidFill>
                          <a:latin typeface="Arial"/>
                          <a:ea typeface="Arial"/>
                          <a:cs typeface="Arial"/>
                        </a:rPr>
                        <a:t>(48 922, 72, 1)</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00" b="0">
                          <a:solidFill>
                            <a:srgbClr val="122336"/>
                          </a:solidFill>
                          <a:latin typeface="Arial"/>
                          <a:ea typeface="Arial"/>
                          <a:cs typeface="Arial"/>
                        </a:rPr>
                        <a:t>Jan. 2009 – août 2014</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666750">
                <a:tc>
                  <a:txBody>
                    <a:bodyPr lIns="114300" tIns="114300" rIns="114300" bIns="114300"/>
                    <a:lstStyle/>
                    <a:p>
                      <a:r>
                        <a:rPr sz="1800" b="0">
                          <a:solidFill>
                            <a:srgbClr val="122336"/>
                          </a:solidFill>
                          <a:latin typeface="Arial"/>
                          <a:ea typeface="Arial"/>
                          <a:cs typeface="Arial"/>
                        </a:rPr>
                        <a:t>Validation</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00" b="0">
                          <a:solidFill>
                            <a:srgbClr val="122336"/>
                          </a:solidFill>
                          <a:latin typeface="Arial"/>
                          <a:ea typeface="Arial"/>
                          <a:cs typeface="Arial"/>
                        </a:rPr>
                        <a:t>10 385</a:t>
                      </a:r>
                    </a:p>
                  </a:txBody>
                  <a:tcPr marL="91440" marR="91440" marT="45720" marB="45720" anchor="ctr">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00" b="0">
                          <a:solidFill>
                            <a:srgbClr val="122336"/>
                          </a:solidFill>
                          <a:latin typeface="Arial"/>
                          <a:ea typeface="Arial"/>
                          <a:cs typeface="Arial"/>
                        </a:rPr>
                        <a:t>(10 385, 72, 1)</a:t>
                      </a:r>
                    </a:p>
                  </a:txBody>
                  <a:tcPr marL="91440" marR="91440" marT="45720" marB="45720" anchor="ctr">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00" b="0">
                          <a:solidFill>
                            <a:srgbClr val="122336"/>
                          </a:solidFill>
                          <a:latin typeface="Arial"/>
                          <a:ea typeface="Arial"/>
                          <a:cs typeface="Arial"/>
                        </a:rPr>
                        <a:t>Août 2014 – oct. 2015</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666750">
                <a:tc>
                  <a:txBody>
                    <a:bodyPr lIns="114300" tIns="114300" rIns="114300" bIns="114300"/>
                    <a:lstStyle/>
                    <a:p>
                      <a:r>
                        <a:rPr sz="1800" b="0">
                          <a:solidFill>
                            <a:srgbClr val="122336"/>
                          </a:solidFill>
                          <a:latin typeface="Arial"/>
                          <a:ea typeface="Arial"/>
                          <a:cs typeface="Arial"/>
                        </a:rPr>
                        <a:t>Test</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00" b="0">
                          <a:solidFill>
                            <a:srgbClr val="122336"/>
                          </a:solidFill>
                          <a:latin typeface="Arial"/>
                          <a:ea typeface="Arial"/>
                          <a:cs typeface="Arial"/>
                        </a:rPr>
                        <a:t>10 258</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00" b="0">
                          <a:solidFill>
                            <a:srgbClr val="122336"/>
                          </a:solidFill>
                          <a:latin typeface="Arial"/>
                          <a:ea typeface="Arial"/>
                          <a:cs typeface="Arial"/>
                        </a:rPr>
                        <a:t>(10 258, 72, 1)</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00" b="0">
                          <a:solidFill>
                            <a:srgbClr val="122336"/>
                          </a:solidFill>
                          <a:latin typeface="Arial"/>
                          <a:ea typeface="Arial"/>
                          <a:cs typeface="Arial"/>
                        </a:rPr>
                        <a:t>Oct. 2015 – jan. 2017</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C836DB7-3057-4A26-AF23-B3191C4888CA}"/>
              </a:ext>
            </a:extLst>
          </p:cNvPr>
          <p:cNvSpPr>
            <a:spLocks xmlns:a="http://schemas.openxmlformats.org/drawingml/2006/main" noGrp="1"/>
          </p:cNvSpPr>
          <p:nvPr/>
        </p:nvSpPr>
        <p:spPr>
          <a:xfrm xmlns:a="http://schemas.openxmlformats.org/drawingml/2006/main">
            <a:off x="666750" y="46672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376BD"/>
                </a:solidFill>
                <a:latin typeface="Arial"/>
                <a:ea typeface="Arial"/>
                <a:cs typeface="Arial"/>
              </a:defRPr>
            </a:defPPr>
          </a:lstStyle>
          <a:p xmlns:a="http://schemas.openxmlformats.org/drawingml/2006/main">
            <a:pPr>
              <a:defRPr sz="2400" b="1">
                <a:solidFill>
                  <a:srgbClr val="2376BD"/>
                </a:solidFill>
                <a:latin typeface="Arial"/>
                <a:ea typeface="Arial"/>
                <a:cs typeface="Arial"/>
              </a:defRPr>
            </a:pPr>
            <a:r>
              <a:rPr sz="2400" b="1">
                <a:solidFill>
                  <a:srgbClr val="2376BD"/>
                </a:solidFill>
                <a:latin typeface="Arial"/>
                <a:ea typeface="Arial"/>
                <a:cs typeface="Arial"/>
              </a:rPr>
              <a:t>X : exemples × temps × variables</a:t>
            </a:r>
          </a:p>
        </p:txBody>
      </p:sp>
      <p:sp>
        <p:nvSpPr>
          <p:cNvPr id="5" name="">
            <a:extLst xmlns:a="http://schemas.openxmlformats.org/drawingml/2006/main">
              <a:ext uri="{FF2B5EF4-FFF2-40B4-BE49-F238E27FC236}">
                <a16:creationId xmlns:a16="http://schemas.microsoft.com/office/drawing/2014/main" id="{265FB8F7-2496-4C33-BA1A-575F51D133EA}"/>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Moyenne et écart-type calculés sur l’entraînement uniquement.</a:t>
            </a:r>
          </a:p>
        </p:txBody>
      </p:sp>
    </p:spTree>
    <p:extLst>
      <p:ext uri="{BB962C8B-B14F-4D97-AF65-F5344CB8AC3E}">
        <p14:creationId xmlns:p14="http://schemas.microsoft.com/office/powerpoint/2010/main" val="15706386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6B620D-8D5B-4E51-BC3D-C1A4FA47F06B}"/>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Protocole identique pour les trois réseaux</a:t>
            </a:r>
          </a:p>
        </p:txBody>
      </p:sp>
      <p:sp>
        <p:nvSpPr>
          <p:cNvPr id="2" name="">
            <a:extLst xmlns:a="http://schemas.openxmlformats.org/drawingml/2006/main">
              <a:ext uri="{FF2B5EF4-FFF2-40B4-BE49-F238E27FC236}">
                <a16:creationId xmlns:a16="http://schemas.microsoft.com/office/drawing/2014/main" id="{7A94E877-CF9C-4869-AB3E-5A7A8955424D}"/>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2992E67E-F889-4DC9-8369-B9A5F1240E8F}"/>
              </a:ext>
            </a:extLst>
          </p:cNvPr>
          <p:cNvGraphicFramePr/>
          <p:nvPr/>
        </p:nvGraphicFramePr>
        <p:xfrm>
          <a:off xmlns:a="http://schemas.openxmlformats.org/drawingml/2006/main" x="628650" y="1714500"/>
          <a:ext xmlns:a="http://schemas.openxmlformats.org/drawingml/2006/main" cx="10934700" cy="3429000"/>
        </p:xfrm>
        <a:graphic xmlns:a="http://schemas.openxmlformats.org/drawingml/2006/main">
          <a:graphicData uri="http://schemas.openxmlformats.org/drawingml/2006/table">
            <a:tbl>
              <a:tblPr/>
              <a:tblGrid>
                <a:gridCol w="3714750"/>
                <a:gridCol w="7219950"/>
              </a:tblGrid>
              <a:tr h="571500">
                <a:tc>
                  <a:txBody>
                    <a:bodyPr lIns="114300" tIns="114300" rIns="114300" bIns="114300"/>
                    <a:lstStyle/>
                    <a:p>
                      <a:r>
                        <a:rPr sz="1875" b="1">
                          <a:solidFill>
                            <a:srgbClr val="FFFFFF"/>
                          </a:solidFill>
                          <a:latin typeface="Arial"/>
                          <a:ea typeface="Arial"/>
                          <a:cs typeface="Arial"/>
                        </a:rPr>
                        <a:t>Réglage</a:t>
                      </a:r>
                    </a:p>
                  </a:txBody>
                  <a:tcPr marL="91440" marR="91440" marT="45720" marB="4572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75" b="1">
                          <a:solidFill>
                            <a:srgbClr val="FFFFFF"/>
                          </a:solidFill>
                          <a:latin typeface="Arial"/>
                          <a:ea typeface="Arial"/>
                          <a:cs typeface="Arial"/>
                        </a:rPr>
                        <a:t>Valeur</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r>
              <a:tr h="571500">
                <a:tc>
                  <a:txBody>
                    <a:bodyPr lIns="114300" tIns="114300" rIns="114300" bIns="114300"/>
                    <a:lstStyle/>
                    <a:p>
                      <a:r>
                        <a:rPr sz="1875" b="0">
                          <a:solidFill>
                            <a:srgbClr val="122336"/>
                          </a:solidFill>
                          <a:latin typeface="Arial"/>
                          <a:ea typeface="Arial"/>
                          <a:cs typeface="Arial"/>
                        </a:rPr>
                        <a:t>Couche récurrente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32 unités puis Dense(1)</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571500">
                <a:tc>
                  <a:txBody>
                    <a:bodyPr lIns="114300" tIns="114300" rIns="114300" bIns="114300"/>
                    <a:lstStyle/>
                    <a:p>
                      <a:r>
                        <a:rPr sz="1875" b="0">
                          <a:solidFill>
                            <a:srgbClr val="122336"/>
                          </a:solidFill>
                          <a:latin typeface="Arial"/>
                          <a:ea typeface="Arial"/>
                          <a:cs typeface="Arial"/>
                        </a:rPr>
                        <a:t>Optimisation</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Adam, taux 0,001, clipnorm 1</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571500">
                <a:tc>
                  <a:txBody>
                    <a:bodyPr lIns="114300" tIns="114300" rIns="114300" bIns="114300"/>
                    <a:lstStyle/>
                    <a:p>
                      <a:r>
                        <a:rPr sz="1875" b="0">
                          <a:solidFill>
                            <a:srgbClr val="122336"/>
                          </a:solidFill>
                          <a:latin typeface="Arial"/>
                          <a:ea typeface="Arial"/>
                          <a:cs typeface="Arial"/>
                        </a:rPr>
                        <a:t>Entraînement</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20 époques, lots de 128, ordre conservé</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571500">
                <a:tc>
                  <a:txBody>
                    <a:bodyPr lIns="114300" tIns="114300" rIns="114300" bIns="114300"/>
                    <a:lstStyle/>
                    <a:p>
                      <a:r>
                        <a:rPr sz="1875" b="0">
                          <a:solidFill>
                            <a:srgbClr val="122336"/>
                          </a:solidFill>
                          <a:latin typeface="Arial"/>
                          <a:ea typeface="Arial"/>
                          <a:cs typeface="Arial"/>
                        </a:rPr>
                        <a:t>Modèle évalué</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Poids finaux après 20 époques</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571500">
                <a:tc>
                  <a:txBody>
                    <a:bodyPr lIns="114300" tIns="114300" rIns="114300" bIns="114300"/>
                    <a:lstStyle/>
                    <a:p>
                      <a:r>
                        <a:rPr sz="1875" b="0">
                          <a:solidFill>
                            <a:srgbClr val="122336"/>
                          </a:solidFill>
                          <a:latin typeface="Arial"/>
                          <a:ea typeface="Arial"/>
                          <a:cs typeface="Arial"/>
                        </a:rPr>
                        <a:t>Environnement</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TensorFlow 2.21, Keras 3.15, RTX 5070</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8C95062-D6A9-414A-8F01-BB2B142F8CBE}"/>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Une exécution par architecture. Aucun arrêt anticipé.</a:t>
            </a:r>
          </a:p>
        </p:txBody>
      </p:sp>
    </p:spTree>
    <p:extLst>
      <p:ext uri="{BB962C8B-B14F-4D97-AF65-F5344CB8AC3E}">
        <p14:creationId xmlns:p14="http://schemas.microsoft.com/office/powerpoint/2010/main" val="3382346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B2A95D-E877-4AF6-810C-F5FBA96D9E4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MAE et RMSE : deux lectures du même écart</a:t>
            </a:r>
          </a:p>
        </p:txBody>
      </p:sp>
      <p:sp>
        <p:nvSpPr>
          <p:cNvPr id="2" name="">
            <a:extLst xmlns:a="http://schemas.openxmlformats.org/drawingml/2006/main">
              <a:ext uri="{FF2B5EF4-FFF2-40B4-BE49-F238E27FC236}">
                <a16:creationId xmlns:a16="http://schemas.microsoft.com/office/drawing/2014/main" id="{FDED5F84-B3BB-46B3-A874-FA5F7E8DAFD9}"/>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64C82033-C577-43FB-B93D-573638DC1A73}"/>
              </a:ext>
            </a:extLst>
          </p:cNvPr>
          <p:cNvSpPr>
            <a:spLocks xmlns:a="http://schemas.openxmlformats.org/drawingml/2006/main" noGrp="1"/>
          </p:cNvSpPr>
          <p:nvPr/>
        </p:nvSpPr>
        <p:spPr>
          <a:xfrm xmlns:a="http://schemas.openxmlformats.org/drawingml/2006/main">
            <a:off x="666750" y="1666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376BD"/>
                </a:solidFill>
                <a:latin typeface="Arial"/>
                <a:ea typeface="Arial"/>
                <a:cs typeface="Arial"/>
              </a:defRPr>
            </a:defPPr>
          </a:lstStyle>
          <a:p xmlns:a="http://schemas.openxmlformats.org/drawingml/2006/main">
            <a:pPr>
              <a:defRPr sz="2700" b="1">
                <a:solidFill>
                  <a:srgbClr val="2376BD"/>
                </a:solidFill>
                <a:latin typeface="Arial"/>
                <a:ea typeface="Arial"/>
                <a:cs typeface="Arial"/>
              </a:defRPr>
            </a:pPr>
            <a:r>
              <a:rPr sz="2700" b="1">
                <a:solidFill>
                  <a:srgbClr val="2376BD"/>
                </a:solidFill>
                <a:latin typeface="Arial"/>
                <a:ea typeface="Arial"/>
                <a:cs typeface="Arial"/>
              </a:rPr>
              <a:t>MAE = moyenne des |prévision − réalité|</a:t>
            </a:r>
          </a:p>
        </p:txBody>
      </p:sp>
      <p:sp>
        <p:nvSpPr>
          <p:cNvPr id="4" name="">
            <a:extLst xmlns:a="http://schemas.openxmlformats.org/drawingml/2006/main">
              <a:ext uri="{FF2B5EF4-FFF2-40B4-BE49-F238E27FC236}">
                <a16:creationId xmlns:a16="http://schemas.microsoft.com/office/drawing/2014/main" id="{4EB56297-59D0-47D1-B508-C95C7ABAB706}"/>
              </a:ext>
            </a:extLst>
          </p:cNvPr>
          <p:cNvSpPr>
            <a:spLocks xmlns:a="http://schemas.openxmlformats.org/drawingml/2006/main" noGrp="1"/>
          </p:cNvSpPr>
          <p:nvPr/>
        </p:nvSpPr>
        <p:spPr>
          <a:xfrm xmlns:a="http://schemas.openxmlformats.org/drawingml/2006/main">
            <a:off x="666750" y="27622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2845C"/>
                </a:solidFill>
                <a:latin typeface="Arial"/>
                <a:ea typeface="Arial"/>
                <a:cs typeface="Arial"/>
              </a:defRPr>
            </a:defPPr>
          </a:lstStyle>
          <a:p xmlns:a="http://schemas.openxmlformats.org/drawingml/2006/main">
            <a:pPr>
              <a:defRPr sz="2700" b="1">
                <a:solidFill>
                  <a:srgbClr val="22845C"/>
                </a:solidFill>
                <a:latin typeface="Arial"/>
                <a:ea typeface="Arial"/>
                <a:cs typeface="Arial"/>
              </a:defRPr>
            </a:pPr>
            <a:r>
              <a:rPr sz="2700" b="1">
                <a:solidFill>
                  <a:srgbClr val="22845C"/>
                </a:solidFill>
                <a:latin typeface="Arial"/>
                <a:ea typeface="Arial"/>
                <a:cs typeface="Arial"/>
              </a:rPr>
              <a:t>RMSE = √ moyenne des (prévision − réalité)²</a:t>
            </a:r>
          </a:p>
        </p:txBody>
      </p:sp>
      <p:sp>
        <p:nvSpPr>
          <p:cNvPr id="5" name="">
            <a:extLst xmlns:a="http://schemas.openxmlformats.org/drawingml/2006/main">
              <a:ext uri="{FF2B5EF4-FFF2-40B4-BE49-F238E27FC236}">
                <a16:creationId xmlns:a16="http://schemas.microsoft.com/office/drawing/2014/main" id="{DF4F4377-34B2-49B6-9AEA-9EB7A7C8895C}"/>
              </a:ext>
            </a:extLst>
          </p:cNvPr>
          <p:cNvSpPr>
            <a:spLocks xmlns:a="http://schemas.openxmlformats.org/drawingml/2006/main" noGrp="1"/>
          </p:cNvSpPr>
          <p:nvPr/>
        </p:nvSpPr>
        <p:spPr>
          <a:xfrm xmlns:a="http://schemas.openxmlformats.org/drawingml/2006/main">
            <a:off x="685800" y="4048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22336"/>
                </a:solidFill>
                <a:latin typeface="Arial"/>
                <a:ea typeface="Arial"/>
                <a:cs typeface="Arial"/>
              </a:defRPr>
            </a:defPPr>
          </a:lstStyle>
          <a:p xmlns:a="http://schemas.openxmlformats.org/drawingml/2006/main">
            <a:pPr>
              <a:defRPr sz="2250" b="0">
                <a:solidFill>
                  <a:srgbClr val="122336"/>
                </a:solidFill>
                <a:latin typeface="Arial"/>
                <a:ea typeface="Arial"/>
                <a:cs typeface="Arial"/>
              </a:defRPr>
            </a:pPr>
            <a:r>
              <a:rPr sz="2250" b="0">
                <a:solidFill>
                  <a:srgbClr val="122336"/>
                </a:solidFill>
                <a:latin typeface="Arial"/>
                <a:ea typeface="Arial"/>
                <a:cs typeface="Arial"/>
              </a:rPr>
              <a:t>Erreurs de 2, 1 et 3 °C</a:t>
            </a:r>
          </a:p>
        </p:txBody>
      </p:sp>
      <p:sp>
        <p:nvSpPr>
          <p:cNvPr id="6" name="">
            <a:extLst xmlns:a="http://schemas.openxmlformats.org/drawingml/2006/main">
              <a:ext uri="{FF2B5EF4-FFF2-40B4-BE49-F238E27FC236}">
                <a16:creationId xmlns:a16="http://schemas.microsoft.com/office/drawing/2014/main" id="{6621A33A-FD76-4346-AEAE-1F563CE2092B}"/>
              </a:ext>
            </a:extLst>
          </p:cNvPr>
          <p:cNvSpPr>
            <a:spLocks xmlns:a="http://schemas.openxmlformats.org/drawingml/2006/main" noGrp="1"/>
          </p:cNvSpPr>
          <p:nvPr/>
        </p:nvSpPr>
        <p:spPr>
          <a:xfrm xmlns:a="http://schemas.openxmlformats.org/drawingml/2006/main">
            <a:off x="685800" y="4810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122336"/>
                </a:solidFill>
                <a:latin typeface="Arial"/>
                <a:ea typeface="Arial"/>
                <a:cs typeface="Arial"/>
              </a:defRPr>
            </a:defPPr>
          </a:lstStyle>
          <a:p xmlns:a="http://schemas.openxmlformats.org/drawingml/2006/main">
            <a:pPr>
              <a:defRPr sz="2850" b="1">
                <a:solidFill>
                  <a:srgbClr val="122336"/>
                </a:solidFill>
                <a:latin typeface="Arial"/>
                <a:ea typeface="Arial"/>
                <a:cs typeface="Arial"/>
              </a:defRPr>
            </a:pPr>
            <a:r>
              <a:rPr sz="2850" b="1">
                <a:solidFill>
                  <a:srgbClr val="122336"/>
                </a:solidFill>
                <a:latin typeface="Arial"/>
                <a:ea typeface="Arial"/>
                <a:cs typeface="Arial"/>
              </a:rPr>
              <a:t>MAE = 2,00 °C       RMSE ≈ 2,16 °C</a:t>
            </a:r>
          </a:p>
        </p:txBody>
      </p:sp>
      <p:sp>
        <p:nvSpPr>
          <p:cNvPr id="7" name="">
            <a:extLst xmlns:a="http://schemas.openxmlformats.org/drawingml/2006/main">
              <a:ext uri="{FF2B5EF4-FFF2-40B4-BE49-F238E27FC236}">
                <a16:creationId xmlns:a16="http://schemas.microsoft.com/office/drawing/2014/main" id="{E4BCE947-0789-4289-8300-B5D98D386491}"/>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Plus faible = meilleur. Les erreurs finales sont exprimées en °C.</a:t>
            </a:r>
          </a:p>
        </p:txBody>
      </p:sp>
    </p:spTree>
    <p:extLst>
      <p:ext uri="{BB962C8B-B14F-4D97-AF65-F5344CB8AC3E}">
        <p14:creationId xmlns:p14="http://schemas.microsoft.com/office/powerpoint/2010/main" val="18280671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6FB103-67C2-41CD-A7B0-7C4578099F3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Deux références sans entraînement</a:t>
            </a:r>
          </a:p>
        </p:txBody>
      </p:sp>
      <p:sp>
        <p:nvSpPr>
          <p:cNvPr id="2" name="">
            <a:extLst xmlns:a="http://schemas.openxmlformats.org/drawingml/2006/main">
              <a:ext uri="{FF2B5EF4-FFF2-40B4-BE49-F238E27FC236}">
                <a16:creationId xmlns:a16="http://schemas.microsoft.com/office/drawing/2014/main" id="{9587941D-1CB8-4B30-A238-F635EB698EC6}"/>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9FE36D71-0CB8-4747-A81F-D56A1264D0B5}"/>
              </a:ext>
            </a:extLst>
          </p:cNvPr>
          <p:cNvGraphicFramePr/>
          <p:nvPr/>
        </p:nvGraphicFramePr>
        <p:xfrm>
          <a:off xmlns:a="http://schemas.openxmlformats.org/drawingml/2006/main" x="628650" y="1762125"/>
          <a:ext xmlns:a="http://schemas.openxmlformats.org/drawingml/2006/main" cx="10934700" cy="2333625"/>
        </p:xfrm>
        <a:graphic xmlns:a="http://schemas.openxmlformats.org/drawingml/2006/main">
          <a:graphicData uri="http://schemas.openxmlformats.org/drawingml/2006/table">
            <a:tbl>
              <a:tblPr/>
              <a:tblGrid>
                <a:gridCol w="4000500"/>
                <a:gridCol w="6934200"/>
              </a:tblGrid>
              <a:tr h="777875">
                <a:tc>
                  <a:txBody>
                    <a:bodyPr lIns="114300" tIns="114300" rIns="114300" bIns="114300"/>
                    <a:lstStyle/>
                    <a:p>
                      <a:r>
                        <a:rPr sz="2100" b="1">
                          <a:solidFill>
                            <a:srgbClr val="FFFFFF"/>
                          </a:solidFill>
                          <a:latin typeface="Arial"/>
                          <a:ea typeface="Arial"/>
                          <a:cs typeface="Arial"/>
                        </a:rPr>
                        <a:t>Méthode</a:t>
                      </a:r>
                    </a:p>
                  </a:txBody>
                  <a:tcPr marL="91440" marR="91440" marT="45720" marB="4572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2100" b="1">
                          <a:solidFill>
                            <a:srgbClr val="FFFFFF"/>
                          </a:solidFill>
                          <a:latin typeface="Arial"/>
                          <a:ea typeface="Arial"/>
                          <a:cs typeface="Arial"/>
                        </a:rPr>
                        <a:t>Prévision pour la cible t + 24 h</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r>
              <a:tr h="777875">
                <a:tc>
                  <a:txBody>
                    <a:bodyPr lIns="114300" tIns="114300" rIns="114300" bIns="114300"/>
                    <a:lstStyle/>
                    <a:p>
                      <a:r>
                        <a:rPr sz="2100" b="0">
                          <a:solidFill>
                            <a:srgbClr val="122336"/>
                          </a:solidFill>
                          <a:latin typeface="Arial"/>
                          <a:ea typeface="Arial"/>
                          <a:cs typeface="Arial"/>
                        </a:rPr>
                        <a:t>Persistance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2100" b="0">
                          <a:solidFill>
                            <a:srgbClr val="122336"/>
                          </a:solidFill>
                          <a:latin typeface="Arial"/>
                          <a:ea typeface="Arial"/>
                          <a:cs typeface="Arial"/>
                        </a:rPr>
                        <a:t>Température observée à t</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777875">
                <a:tc>
                  <a:txBody>
                    <a:bodyPr lIns="114300" tIns="114300" rIns="114300" bIns="114300"/>
                    <a:lstStyle/>
                    <a:p>
                      <a:r>
                        <a:rPr sz="2100" b="0">
                          <a:solidFill>
                            <a:srgbClr val="122336"/>
                          </a:solidFill>
                          <a:latin typeface="Arial"/>
                          <a:ea typeface="Arial"/>
                          <a:cs typeface="Arial"/>
                        </a:rPr>
                        <a:t>Référence hebdomadaire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2100" b="0">
                          <a:solidFill>
                            <a:srgbClr val="122336"/>
                          </a:solidFill>
                          <a:latin typeface="Arial"/>
                          <a:ea typeface="Arial"/>
                          <a:cs typeface="Arial"/>
                        </a:rPr>
                        <a:t>Température de la cible moins 7 jours</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bl>
          </a:graphicData>
        </a:graphic>
      </p:graphicFrame>
      <p:sp>
        <p:nvSpPr>
          <p:cNvPr id="4" name="">
            <a:extLst xmlns:a="http://schemas.openxmlformats.org/drawingml/2006/main">
              <a:ext uri="{FF2B5EF4-FFF2-40B4-BE49-F238E27FC236}">
                <a16:creationId xmlns:a16="http://schemas.microsoft.com/office/drawing/2014/main" id="{C6025165-3214-4726-846B-D8E65D8FCEA7}"/>
              </a:ext>
            </a:extLst>
          </p:cNvPr>
          <p:cNvSpPr>
            <a:spLocks xmlns:a="http://schemas.openxmlformats.org/drawingml/2006/main" noGrp="1"/>
          </p:cNvSpPr>
          <p:nvPr/>
        </p:nvSpPr>
        <p:spPr>
          <a:xfrm xmlns:a="http://schemas.openxmlformats.org/drawingml/2006/main">
            <a:off x="685800" y="4762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376BD"/>
                </a:solidFill>
                <a:latin typeface="Arial"/>
                <a:ea typeface="Arial"/>
                <a:cs typeface="Arial"/>
              </a:defRPr>
            </a:defPPr>
          </a:lstStyle>
          <a:p xmlns:a="http://schemas.openxmlformats.org/drawingml/2006/main">
            <a:pPr>
              <a:defRPr sz="2625" b="1">
                <a:solidFill>
                  <a:srgbClr val="2376BD"/>
                </a:solidFill>
                <a:latin typeface="Arial"/>
                <a:ea typeface="Arial"/>
                <a:cs typeface="Arial"/>
              </a:defRPr>
            </a:pPr>
            <a:r>
              <a:rPr sz="2625" b="1">
                <a:solidFill>
                  <a:srgbClr val="2376BD"/>
                </a:solidFill>
                <a:latin typeface="Arial"/>
                <a:ea typeface="Arial"/>
                <a:cs typeface="Arial"/>
              </a:rPr>
              <a:t>Une référence simple peut rivaliser avec un réseau.</a:t>
            </a:r>
          </a:p>
        </p:txBody>
      </p:sp>
    </p:spTree>
    <p:extLst>
      <p:ext uri="{BB962C8B-B14F-4D97-AF65-F5344CB8AC3E}">
        <p14:creationId xmlns:p14="http://schemas.microsoft.com/office/powerpoint/2010/main" val="11036604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A0F0C1-C444-4CF2-A0BC-4EEBD4D1048B}"/>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Apprentissage : une validation plus instable pour SimpleRNN</a:t>
            </a:r>
          </a:p>
        </p:txBody>
      </p:sp>
      <p:sp>
        <p:nvSpPr>
          <p:cNvPr id="2" name="">
            <a:extLst xmlns:a="http://schemas.openxmlformats.org/drawingml/2006/main">
              <a:ext uri="{FF2B5EF4-FFF2-40B4-BE49-F238E27FC236}">
                <a16:creationId xmlns:a16="http://schemas.microsoft.com/office/drawing/2014/main" id="{A9B5E55D-F844-4293-A4A9-CB72D94D76A0}"/>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16</a:t>
            </a:r>
          </a:p>
        </p:txBody>
      </p:sp>
      <p:graphicFrame>
        <p:nvGraphicFramePr>
          <p:cNvPr id="3" name="Chart">
            <a:extLst xmlns:a="http://schemas.openxmlformats.org/drawingml/2006/main">
              <a:ext uri="{FF2B5EF4-FFF2-40B4-BE49-F238E27FC236}">
                <a16:creationId xmlns:a16="http://schemas.microsoft.com/office/drawing/2014/main" id="{B247E9E7-8368-4F07-97AD-FF760AF6F35E}"/>
              </a:ext>
            </a:extLst>
          </p:cNvPr>
          <p:cNvGraphicFramePr/>
          <p:nvPr/>
        </p:nvGraphicFramePr>
        <p:xfrm>
          <a:off xmlns:a="http://schemas.openxmlformats.org/drawingml/2006/main" x="628650" y="1571625"/>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f4933a61933a4b91"/>
          </a:graphicData>
        </a:graphic>
      </p:graphicFrame>
      <p:sp>
        <p:nvSpPr>
          <p:cNvPr id="4" name="">
            <a:extLst xmlns:a="http://schemas.openxmlformats.org/drawingml/2006/main">
              <a:ext uri="{FF2B5EF4-FFF2-40B4-BE49-F238E27FC236}">
                <a16:creationId xmlns:a16="http://schemas.microsoft.com/office/drawing/2014/main" id="{F0DE09C5-D2B5-4935-9B16-3D9EEE2D3ADB}"/>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Même budget de 20 époques. Le test ne participe pas à l’apprentissage.</a:t>
            </a:r>
          </a:p>
        </p:txBody>
      </p:sp>
    </p:spTree>
    <p:extLst>
      <p:ext uri="{BB962C8B-B14F-4D97-AF65-F5344CB8AC3E}">
        <p14:creationId xmlns:p14="http://schemas.microsoft.com/office/powerpoint/2010/main" val="137685922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0C3665-5D7F-414A-A782-E2D6315F9AB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Sur le test, la persistance reste compétitive</a:t>
            </a:r>
          </a:p>
        </p:txBody>
      </p:sp>
      <p:sp>
        <p:nvSpPr>
          <p:cNvPr id="2" name="">
            <a:extLst xmlns:a="http://schemas.openxmlformats.org/drawingml/2006/main">
              <a:ext uri="{FF2B5EF4-FFF2-40B4-BE49-F238E27FC236}">
                <a16:creationId xmlns:a16="http://schemas.microsoft.com/office/drawing/2014/main" id="{D0D0FFD0-DBF7-452A-B2E7-31410269159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17</a:t>
            </a:r>
          </a:p>
        </p:txBody>
      </p:sp>
      <p:graphicFrame>
        <p:nvGraphicFramePr>
          <p:cNvPr id="3" name="">
            <a:extLst xmlns:a="http://schemas.openxmlformats.org/drawingml/2006/main">
              <a:ext uri="{FF2B5EF4-FFF2-40B4-BE49-F238E27FC236}">
                <a16:creationId xmlns:a16="http://schemas.microsoft.com/office/drawing/2014/main" id="{CF925BCA-B1BE-4238-8995-CB4AB0DAFD7B}"/>
              </a:ext>
            </a:extLst>
          </p:cNvPr>
          <p:cNvGraphicFramePr/>
          <p:nvPr/>
        </p:nvGraphicFramePr>
        <p:xfrm>
          <a:off xmlns:a="http://schemas.openxmlformats.org/drawingml/2006/main" x="628650" y="1571625"/>
          <a:ext xmlns:a="http://schemas.openxmlformats.org/drawingml/2006/main" cx="10934700" cy="3333750"/>
        </p:xfrm>
        <a:graphic xmlns:a="http://schemas.openxmlformats.org/drawingml/2006/main">
          <a:graphicData uri="http://schemas.openxmlformats.org/drawingml/2006/table">
            <a:tbl>
              <a:tblPr/>
              <a:tblGrid>
                <a:gridCol w="5429250"/>
                <a:gridCol w="2752725"/>
                <a:gridCol w="2752725"/>
              </a:tblGrid>
              <a:tr h="555625">
                <a:tc>
                  <a:txBody>
                    <a:bodyPr lIns="114300" tIns="114300" rIns="114300" bIns="114300"/>
                    <a:lstStyle/>
                    <a:p>
                      <a:r>
                        <a:rPr sz="2025" b="1">
                          <a:solidFill>
                            <a:srgbClr val="FFFFFF"/>
                          </a:solidFill>
                          <a:latin typeface="Arial"/>
                          <a:ea typeface="Arial"/>
                          <a:cs typeface="Arial"/>
                        </a:rPr>
                        <a:t>Méthode</a:t>
                      </a:r>
                    </a:p>
                  </a:txBody>
                  <a:tcPr marL="91440" marR="91440" marT="45720" marB="4572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2025" b="1">
                          <a:solidFill>
                            <a:srgbClr val="FFFFFF"/>
                          </a:solidFill>
                          <a:latin typeface="Arial"/>
                          <a:ea typeface="Arial"/>
                          <a:cs typeface="Arial"/>
                        </a:rPr>
                        <a:t>MAE (°C)</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2025" b="1">
                          <a:solidFill>
                            <a:srgbClr val="FFFFFF"/>
                          </a:solidFill>
                          <a:latin typeface="Arial"/>
                          <a:ea typeface="Arial"/>
                          <a:cs typeface="Arial"/>
                        </a:rPr>
                        <a:t>RMSE (°C)</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r>
              <a:tr h="555625">
                <a:tc>
                  <a:txBody>
                    <a:bodyPr lIns="114300" tIns="114300" rIns="114300" bIns="114300"/>
                    <a:lstStyle/>
                    <a:p>
                      <a:r>
                        <a:rPr sz="2025" b="0">
                          <a:solidFill>
                            <a:srgbClr val="122336"/>
                          </a:solidFill>
                          <a:latin typeface="Arial"/>
                          <a:ea typeface="Arial"/>
                          <a:cs typeface="Arial"/>
                        </a:rPr>
                        <a:t>Persistance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2025" b="0">
                          <a:solidFill>
                            <a:srgbClr val="122336"/>
                          </a:solidFill>
                          <a:latin typeface="Arial"/>
                          <a:ea typeface="Arial"/>
                          <a:cs typeface="Arial"/>
                        </a:rPr>
                        <a:t>2,4958</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2025" b="0">
                          <a:solidFill>
                            <a:srgbClr val="122336"/>
                          </a:solidFill>
                          <a:latin typeface="Arial"/>
                          <a:ea typeface="Arial"/>
                          <a:cs typeface="Arial"/>
                        </a:rPr>
                        <a:t>3,2477</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555625">
                <a:tc>
                  <a:txBody>
                    <a:bodyPr lIns="114300" tIns="114300" rIns="114300" bIns="114300"/>
                    <a:lstStyle/>
                    <a:p>
                      <a:r>
                        <a:rPr sz="2025" b="0">
                          <a:solidFill>
                            <a:srgbClr val="122336"/>
                          </a:solidFill>
                          <a:latin typeface="Arial"/>
                          <a:ea typeface="Arial"/>
                          <a:cs typeface="Arial"/>
                        </a:rPr>
                        <a:t>Hebdomadaire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2025" b="0">
                          <a:solidFill>
                            <a:srgbClr val="122336"/>
                          </a:solidFill>
                          <a:latin typeface="Arial"/>
                          <a:ea typeface="Arial"/>
                          <a:cs typeface="Arial"/>
                        </a:rPr>
                        <a:t>4,6262</a:t>
                      </a:r>
                    </a:p>
                  </a:txBody>
                  <a:tcPr marL="91440" marR="91440" marT="45720" marB="45720" anchor="ctr">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2025" b="0">
                          <a:solidFill>
                            <a:srgbClr val="122336"/>
                          </a:solidFill>
                          <a:latin typeface="Arial"/>
                          <a:ea typeface="Arial"/>
                          <a:cs typeface="Arial"/>
                        </a:rPr>
                        <a:t>5,7685</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555625">
                <a:tc>
                  <a:txBody>
                    <a:bodyPr lIns="114300" tIns="114300" rIns="114300" bIns="114300"/>
                    <a:lstStyle/>
                    <a:p>
                      <a:r>
                        <a:rPr sz="2025" b="0">
                          <a:solidFill>
                            <a:srgbClr val="122336"/>
                          </a:solidFill>
                          <a:latin typeface="Arial"/>
                          <a:ea typeface="Arial"/>
                          <a:cs typeface="Arial"/>
                        </a:rPr>
                        <a:t>SimpleRNN</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2025" b="0">
                          <a:solidFill>
                            <a:srgbClr val="122336"/>
                          </a:solidFill>
                          <a:latin typeface="Arial"/>
                          <a:ea typeface="Arial"/>
                          <a:cs typeface="Arial"/>
                        </a:rPr>
                        <a:t>2,5623</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2025" b="0">
                          <a:solidFill>
                            <a:srgbClr val="122336"/>
                          </a:solidFill>
                          <a:latin typeface="Arial"/>
                          <a:ea typeface="Arial"/>
                          <a:cs typeface="Arial"/>
                        </a:rPr>
                        <a:t>3,2510</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555625">
                <a:tc>
                  <a:txBody>
                    <a:bodyPr lIns="114300" tIns="114300" rIns="114300" bIns="114300"/>
                    <a:lstStyle/>
                    <a:p>
                      <a:r>
                        <a:rPr sz="2025" b="0">
                          <a:solidFill>
                            <a:srgbClr val="122336"/>
                          </a:solidFill>
                          <a:latin typeface="Arial"/>
                          <a:ea typeface="Arial"/>
                          <a:cs typeface="Arial"/>
                        </a:rPr>
                        <a:t>LSTM</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2025" b="0">
                          <a:solidFill>
                            <a:srgbClr val="122336"/>
                          </a:solidFill>
                          <a:latin typeface="Arial"/>
                          <a:ea typeface="Arial"/>
                          <a:cs typeface="Arial"/>
                        </a:rPr>
                        <a:t>2,4666</a:t>
                      </a:r>
                    </a:p>
                  </a:txBody>
                  <a:tcPr marL="91440" marR="91440" marT="45720" marB="45720" anchor="ctr">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2025" b="0">
                          <a:solidFill>
                            <a:srgbClr val="122336"/>
                          </a:solidFill>
                          <a:latin typeface="Arial"/>
                          <a:ea typeface="Arial"/>
                          <a:cs typeface="Arial"/>
                        </a:rPr>
                        <a:t>3,1585</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555625">
                <a:tc>
                  <a:txBody>
                    <a:bodyPr lIns="114300" tIns="114300" rIns="114300" bIns="114300"/>
                    <a:lstStyle/>
                    <a:p>
                      <a:r>
                        <a:rPr sz="2025" b="0">
                          <a:solidFill>
                            <a:srgbClr val="122336"/>
                          </a:solidFill>
                          <a:latin typeface="Arial"/>
                          <a:ea typeface="Arial"/>
                          <a:cs typeface="Arial"/>
                        </a:rPr>
                        <a:t>GRU</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2025" b="0">
                          <a:solidFill>
                            <a:srgbClr val="122336"/>
                          </a:solidFill>
                          <a:latin typeface="Arial"/>
                          <a:ea typeface="Arial"/>
                          <a:cs typeface="Arial"/>
                        </a:rPr>
                        <a:t>2,4621</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2025" b="0">
                          <a:solidFill>
                            <a:srgbClr val="122336"/>
                          </a:solidFill>
                          <a:latin typeface="Arial"/>
                          <a:ea typeface="Arial"/>
                          <a:cs typeface="Arial"/>
                        </a:rPr>
                        <a:t>3,1502</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E153E66-2461-4470-8142-D3DEABC61D75}"/>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GRU et LSTM restent très proches sur cette exécution.</a:t>
            </a:r>
          </a:p>
        </p:txBody>
      </p:sp>
    </p:spTree>
    <p:extLst>
      <p:ext uri="{BB962C8B-B14F-4D97-AF65-F5344CB8AC3E}">
        <p14:creationId xmlns:p14="http://schemas.microsoft.com/office/powerpoint/2010/main" val="43761719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307E83-74D4-4BD6-8E9F-B7B0D12E678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Le gain de MAE reste proche de 0,03 °C</a:t>
            </a:r>
          </a:p>
        </p:txBody>
      </p:sp>
      <p:sp>
        <p:nvSpPr>
          <p:cNvPr id="2" name="">
            <a:extLst xmlns:a="http://schemas.openxmlformats.org/drawingml/2006/main">
              <a:ext uri="{FF2B5EF4-FFF2-40B4-BE49-F238E27FC236}">
                <a16:creationId xmlns:a16="http://schemas.microsoft.com/office/drawing/2014/main" id="{935F0EE6-D1BB-4E51-A4B7-0E0F9891872D}"/>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F1864577-F461-4268-916D-E9F4A6CDC2C7}"/>
              </a:ext>
            </a:extLst>
          </p:cNvPr>
          <p:cNvGraphicFramePr/>
          <p:nvPr/>
        </p:nvGraphicFramePr>
        <p:xfrm>
          <a:off xmlns:a="http://schemas.openxmlformats.org/drawingml/2006/main" x="628650" y="1571625"/>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1e888c3241b646b8"/>
          </a:graphicData>
        </a:graphic>
      </p:graphicFrame>
      <p:sp>
        <p:nvSpPr>
          <p:cNvPr id="4" name="">
            <a:extLst xmlns:a="http://schemas.openxmlformats.org/drawingml/2006/main">
              <a:ext uri="{FF2B5EF4-FFF2-40B4-BE49-F238E27FC236}">
                <a16:creationId xmlns:a16="http://schemas.microsoft.com/office/drawing/2014/main" id="{DEDD0909-C7A6-4308-8B46-57DD7C0D4C9B}"/>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Réduction de MAE : LSTM +1,17 % et GRU +1,35 %. SimpleRNN −2,66 %.</a:t>
            </a:r>
          </a:p>
        </p:txBody>
      </p:sp>
    </p:spTree>
    <p:extLst>
      <p:ext uri="{BB962C8B-B14F-4D97-AF65-F5344CB8AC3E}">
        <p14:creationId xmlns:p14="http://schemas.microsoft.com/office/powerpoint/2010/main" val="19240241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A34416-F77B-4BC1-9761-FE362D2A06A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Prévisions réelles : des variations restent difficiles</a:t>
            </a:r>
          </a:p>
        </p:txBody>
      </p:sp>
      <p:sp>
        <p:nvSpPr>
          <p:cNvPr id="2" name="">
            <a:extLst xmlns:a="http://schemas.openxmlformats.org/drawingml/2006/main">
              <a:ext uri="{FF2B5EF4-FFF2-40B4-BE49-F238E27FC236}">
                <a16:creationId xmlns:a16="http://schemas.microsoft.com/office/drawing/2014/main" id="{3E50D488-F7AA-4C28-B166-087F40363661}"/>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19</a:t>
            </a:r>
          </a:p>
        </p:txBody>
      </p:sp>
      <p:graphicFrame>
        <p:nvGraphicFramePr>
          <p:cNvPr id="3" name="Chart">
            <a:extLst xmlns:a="http://schemas.openxmlformats.org/drawingml/2006/main">
              <a:ext uri="{FF2B5EF4-FFF2-40B4-BE49-F238E27FC236}">
                <a16:creationId xmlns:a16="http://schemas.microsoft.com/office/drawing/2014/main" id="{C015B386-6D7D-4348-9BB5-87320E25D709}"/>
              </a:ext>
            </a:extLst>
          </p:cNvPr>
          <p:cNvGraphicFramePr/>
          <p:nvPr/>
        </p:nvGraphicFramePr>
        <p:xfrm>
          <a:off xmlns:a="http://schemas.openxmlformats.org/drawingml/2006/main" x="628650" y="1571625"/>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402e5ef0f608498a"/>
          </a:graphicData>
        </a:graphic>
      </p:graphicFrame>
      <p:sp>
        <p:nvSpPr>
          <p:cNvPr id="4" name="">
            <a:extLst xmlns:a="http://schemas.openxmlformats.org/drawingml/2006/main">
              <a:ext uri="{FF2B5EF4-FFF2-40B4-BE49-F238E27FC236}">
                <a16:creationId xmlns:a16="http://schemas.microsoft.com/office/drawing/2014/main" id="{09317543-3D33-425E-8AE9-5F8B77C71E20}"/>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Première semaine, un point toutes les 6 h pour la lecture. Scores sur tout le test horaire.</a:t>
            </a:r>
          </a:p>
        </p:txBody>
      </p:sp>
    </p:spTree>
    <p:extLst>
      <p:ext uri="{BB962C8B-B14F-4D97-AF65-F5344CB8AC3E}">
        <p14:creationId xmlns:p14="http://schemas.microsoft.com/office/powerpoint/2010/main" val="55540622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20A5E8-2B0E-48F5-9450-325F2B58FAB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Temps mesurés et taille des modèles</a:t>
            </a:r>
          </a:p>
        </p:txBody>
      </p:sp>
      <p:sp>
        <p:nvSpPr>
          <p:cNvPr id="2" name="">
            <a:extLst xmlns:a="http://schemas.openxmlformats.org/drawingml/2006/main">
              <a:ext uri="{FF2B5EF4-FFF2-40B4-BE49-F238E27FC236}">
                <a16:creationId xmlns:a16="http://schemas.microsoft.com/office/drawing/2014/main" id="{79317007-1202-4B3C-BC72-AAA2AF7D3977}"/>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20</a:t>
            </a:r>
          </a:p>
        </p:txBody>
      </p:sp>
      <p:graphicFrame>
        <p:nvGraphicFramePr>
          <p:cNvPr id="3" name="Chart">
            <a:extLst xmlns:a="http://schemas.openxmlformats.org/drawingml/2006/main">
              <a:ext uri="{FF2B5EF4-FFF2-40B4-BE49-F238E27FC236}">
                <a16:creationId xmlns:a16="http://schemas.microsoft.com/office/drawing/2014/main" id="{BCFDC20C-04B4-46F2-AD08-3086B5FC06CD}"/>
              </a:ext>
            </a:extLst>
          </p:cNvPr>
          <p:cNvGraphicFramePr/>
          <p:nvPr/>
        </p:nvGraphicFramePr>
        <p:xfrm>
          <a:off xmlns:a="http://schemas.openxmlformats.org/drawingml/2006/main" x="552450" y="2047875"/>
          <a:ext xmlns:a="http://schemas.openxmlformats.org/drawingml/2006/main" cx="3714750" cy="3238500"/>
        </p:xfrm>
        <a:graphic xmlns:a="http://schemas.openxmlformats.org/drawingml/2006/main">
          <a:graphicData uri="http://schemas.openxmlformats.org/drawingml/2006/chart">
            <c:chart xmlns:r="http://schemas.openxmlformats.org/officeDocument/2006/relationships" xmlns:c="http://schemas.openxmlformats.org/drawingml/2006/chart" r:id="Re5eec746571f4047"/>
          </a:graphicData>
        </a:graphic>
      </p:graphicFrame>
      <p:graphicFrame>
        <p:nvGraphicFramePr>
          <p:cNvPr id="4" name="Chart">
            <a:extLst xmlns:a="http://schemas.openxmlformats.org/drawingml/2006/main">
              <a:ext uri="{FF2B5EF4-FFF2-40B4-BE49-F238E27FC236}">
                <a16:creationId xmlns:a16="http://schemas.microsoft.com/office/drawing/2014/main" id="{E9296B8F-F90D-4BC1-AEDD-38021E5C1042}"/>
              </a:ext>
            </a:extLst>
          </p:cNvPr>
          <p:cNvGraphicFramePr/>
          <p:nvPr/>
        </p:nvGraphicFramePr>
        <p:xfrm>
          <a:off xmlns:a="http://schemas.openxmlformats.org/drawingml/2006/main" x="4429125" y="2047875"/>
          <a:ext xmlns:a="http://schemas.openxmlformats.org/drawingml/2006/main" cx="3714750" cy="3238500"/>
        </p:xfrm>
        <a:graphic xmlns:a="http://schemas.openxmlformats.org/drawingml/2006/main">
          <a:graphicData uri="http://schemas.openxmlformats.org/drawingml/2006/chart">
            <c:chart xmlns:r="http://schemas.openxmlformats.org/officeDocument/2006/relationships" xmlns:c="http://schemas.openxmlformats.org/drawingml/2006/chart" r:id="Rd83f47972019434f"/>
          </a:graphicData>
        </a:graphic>
      </p:graphicFrame>
      <p:graphicFrame>
        <p:nvGraphicFramePr>
          <p:cNvPr id="5" name="Chart">
            <a:extLst xmlns:a="http://schemas.openxmlformats.org/drawingml/2006/main">
              <a:ext uri="{FF2B5EF4-FFF2-40B4-BE49-F238E27FC236}">
                <a16:creationId xmlns:a16="http://schemas.microsoft.com/office/drawing/2014/main" id="{5574E126-2425-4C30-B243-3294B2D3A235}"/>
              </a:ext>
            </a:extLst>
          </p:cNvPr>
          <p:cNvGraphicFramePr/>
          <p:nvPr/>
        </p:nvGraphicFramePr>
        <p:xfrm>
          <a:off xmlns:a="http://schemas.openxmlformats.org/drawingml/2006/main" x="8305800" y="2047875"/>
          <a:ext xmlns:a="http://schemas.openxmlformats.org/drawingml/2006/main" cx="3714750" cy="3238500"/>
        </p:xfrm>
        <a:graphic xmlns:a="http://schemas.openxmlformats.org/drawingml/2006/main">
          <a:graphicData uri="http://schemas.openxmlformats.org/drawingml/2006/chart">
            <c:chart xmlns:r="http://schemas.openxmlformats.org/officeDocument/2006/relationships" xmlns:c="http://schemas.openxmlformats.org/drawingml/2006/chart" r:id="R6215a535aeaa4e8f"/>
          </a:graphicData>
        </a:graphic>
      </p:graphicFrame>
      <p:sp>
        <p:nvSpPr>
          <p:cNvPr id="6" name="">
            <a:extLst xmlns:a="http://schemas.openxmlformats.org/drawingml/2006/main">
              <a:ext uri="{FF2B5EF4-FFF2-40B4-BE49-F238E27FC236}">
                <a16:creationId xmlns:a16="http://schemas.microsoft.com/office/drawing/2014/main" id="{E73B1441-C6A4-4899-9C3D-AA8D1F9AA2E9}"/>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RTX 5070. Démarrage inclus dans le fit total. Une seule mesure par modèle.</a:t>
            </a:r>
          </a:p>
        </p:txBody>
      </p:sp>
    </p:spTree>
    <p:extLst>
      <p:ext uri="{BB962C8B-B14F-4D97-AF65-F5344CB8AC3E}">
        <p14:creationId xmlns:p14="http://schemas.microsoft.com/office/powerpoint/2010/main" val="82188640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42DA05-806C-448C-8E3D-E3DEDAC20B4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Limites de la comparaison</a:t>
            </a:r>
          </a:p>
        </p:txBody>
      </p:sp>
      <p:sp>
        <p:nvSpPr>
          <p:cNvPr id="2" name="">
            <a:extLst xmlns:a="http://schemas.openxmlformats.org/drawingml/2006/main">
              <a:ext uri="{FF2B5EF4-FFF2-40B4-BE49-F238E27FC236}">
                <a16:creationId xmlns:a16="http://schemas.microsoft.com/office/drawing/2014/main" id="{055A01BF-D094-4DD3-A356-8BC4A3DF986F}"/>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EB82E0F3-C167-42F3-93D5-9C02785148A0}"/>
              </a:ext>
            </a:extLst>
          </p:cNvPr>
          <p:cNvSpPr>
            <a:spLocks xmlns:a="http://schemas.openxmlformats.org/drawingml/2006/main" noGrp="1"/>
          </p:cNvSpPr>
          <p:nvPr/>
        </p:nvSpPr>
        <p:spPr>
          <a:xfrm xmlns:a="http://schemas.openxmlformats.org/drawingml/2006/main">
            <a:off x="628650" y="1619250"/>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22336"/>
                </a:solidFill>
                <a:latin typeface="Arial"/>
                <a:ea typeface="Arial"/>
                <a:cs typeface="Arial"/>
              </a:defRPr>
            </a:defPPr>
          </a:lstStyle>
          <a:p xmlns:a="http://schemas.openxmlformats.org/drawingml/2006/main">
            <a:pPr>
              <a:defRPr sz="2175" b="0">
                <a:solidFill>
                  <a:srgbClr val="122336"/>
                </a:solidFill>
                <a:latin typeface="Arial"/>
                <a:ea typeface="Arial"/>
                <a:cs typeface="Arial"/>
              </a:defRPr>
            </a:pPr>
            <a:r>
              <a:rPr sz="2175" b="0">
                <a:solidFill>
                  <a:srgbClr val="122336"/>
                </a:solidFill>
                <a:latin typeface="Arial"/>
                <a:ea typeface="Arial"/>
                <a:cs typeface="Arial"/>
              </a:rPr>
              <a:t>Une station, la température seule et un horizon de 24 h.</a:t>
            </a:r>
          </a:p>
        </p:txBody>
      </p:sp>
      <p:sp>
        <p:nvSpPr>
          <p:cNvPr id="4" name="">
            <a:extLst xmlns:a="http://schemas.openxmlformats.org/drawingml/2006/main">
              <a:ext uri="{FF2B5EF4-FFF2-40B4-BE49-F238E27FC236}">
                <a16:creationId xmlns:a16="http://schemas.microsoft.com/office/drawing/2014/main" id="{A06D75E4-CDFA-4CF1-B98F-7AE75EAAE734}"/>
              </a:ext>
            </a:extLst>
          </p:cNvPr>
          <p:cNvSpPr>
            <a:spLocks xmlns:a="http://schemas.openxmlformats.org/drawingml/2006/main" noGrp="1"/>
          </p:cNvSpPr>
          <p:nvPr/>
        </p:nvSpPr>
        <p:spPr>
          <a:xfrm xmlns:a="http://schemas.openxmlformats.org/drawingml/2006/main">
            <a:off x="628650" y="261937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22336"/>
                </a:solidFill>
                <a:latin typeface="Arial"/>
                <a:ea typeface="Arial"/>
                <a:cs typeface="Arial"/>
              </a:defRPr>
            </a:defPPr>
          </a:lstStyle>
          <a:p xmlns:a="http://schemas.openxmlformats.org/drawingml/2006/main">
            <a:pPr>
              <a:defRPr sz="2175" b="0">
                <a:solidFill>
                  <a:srgbClr val="122336"/>
                </a:solidFill>
                <a:latin typeface="Arial"/>
                <a:ea typeface="Arial"/>
                <a:cs typeface="Arial"/>
              </a:defRPr>
            </a:pPr>
            <a:r>
              <a:rPr sz="2175" b="0">
                <a:solidFill>
                  <a:srgbClr val="122336"/>
                </a:solidFill>
                <a:latin typeface="Arial"/>
                <a:ea typeface="Arial"/>
                <a:cs typeface="Arial"/>
              </a:rPr>
              <a:t>Une graine et des fenêtres qui se recouvrent.</a:t>
            </a:r>
          </a:p>
        </p:txBody>
      </p:sp>
      <p:sp>
        <p:nvSpPr>
          <p:cNvPr id="5" name="">
            <a:extLst xmlns:a="http://schemas.openxmlformats.org/drawingml/2006/main">
              <a:ext uri="{FF2B5EF4-FFF2-40B4-BE49-F238E27FC236}">
                <a16:creationId xmlns:a16="http://schemas.microsoft.com/office/drawing/2014/main" id="{AFC3530B-464B-4A14-9F19-41FE3A61F402}"/>
              </a:ext>
            </a:extLst>
          </p:cNvPr>
          <p:cNvSpPr>
            <a:spLocks xmlns:a="http://schemas.openxmlformats.org/drawingml/2006/main" noGrp="1"/>
          </p:cNvSpPr>
          <p:nvPr/>
        </p:nvSpPr>
        <p:spPr>
          <a:xfrm xmlns:a="http://schemas.openxmlformats.org/drawingml/2006/main">
            <a:off x="628650" y="3619500"/>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22336"/>
                </a:solidFill>
                <a:latin typeface="Arial"/>
                <a:ea typeface="Arial"/>
                <a:cs typeface="Arial"/>
              </a:defRPr>
            </a:defPPr>
          </a:lstStyle>
          <a:p xmlns:a="http://schemas.openxmlformats.org/drawingml/2006/main">
            <a:pPr>
              <a:defRPr sz="2175" b="0">
                <a:solidFill>
                  <a:srgbClr val="122336"/>
                </a:solidFill>
                <a:latin typeface="Arial"/>
                <a:ea typeface="Arial"/>
                <a:cs typeface="Arial"/>
              </a:defRPr>
            </a:pPr>
            <a:r>
              <a:rPr sz="2175" b="0">
                <a:solidFill>
                  <a:srgbClr val="122336"/>
                </a:solidFill>
                <a:latin typeface="Arial"/>
                <a:ea typeface="Arial"/>
                <a:cs typeface="Arial"/>
              </a:rPr>
              <a:t>Des réglages communs, sans optimisation par architecture.</a:t>
            </a:r>
          </a:p>
        </p:txBody>
      </p:sp>
      <p:sp>
        <p:nvSpPr>
          <p:cNvPr id="6" name="">
            <a:extLst xmlns:a="http://schemas.openxmlformats.org/drawingml/2006/main">
              <a:ext uri="{FF2B5EF4-FFF2-40B4-BE49-F238E27FC236}">
                <a16:creationId xmlns:a16="http://schemas.microsoft.com/office/drawing/2014/main" id="{EC6D6709-38A3-4015-9E88-32CA05D835FB}"/>
              </a:ext>
            </a:extLst>
          </p:cNvPr>
          <p:cNvSpPr>
            <a:spLocks xmlns:a="http://schemas.openxmlformats.org/drawingml/2006/main" noGrp="1"/>
          </p:cNvSpPr>
          <p:nvPr/>
        </p:nvSpPr>
        <p:spPr>
          <a:xfrm xmlns:a="http://schemas.openxmlformats.org/drawingml/2006/main">
            <a:off x="628650" y="461962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22336"/>
                </a:solidFill>
                <a:latin typeface="Arial"/>
                <a:ea typeface="Arial"/>
                <a:cs typeface="Arial"/>
              </a:defRPr>
            </a:defPPr>
          </a:lstStyle>
          <a:p xmlns:a="http://schemas.openxmlformats.org/drawingml/2006/main">
            <a:pPr>
              <a:defRPr sz="2175" b="0">
                <a:solidFill>
                  <a:srgbClr val="122336"/>
                </a:solidFill>
                <a:latin typeface="Arial"/>
                <a:ea typeface="Arial"/>
                <a:cs typeface="Arial"/>
              </a:defRPr>
            </a:pPr>
            <a:r>
              <a:rPr sz="2175" b="0">
                <a:solidFill>
                  <a:srgbClr val="122336"/>
                </a:solidFill>
                <a:latin typeface="Arial"/>
                <a:ea typeface="Arial"/>
                <a:cs typeface="Arial"/>
              </a:rPr>
              <a:t>Toute nouvelle optimisation demande un nouveau test réservé.</a:t>
            </a:r>
          </a:p>
        </p:txBody>
      </p:sp>
    </p:spTree>
    <p:extLst>
      <p:ext uri="{BB962C8B-B14F-4D97-AF65-F5344CB8AC3E}">
        <p14:creationId xmlns:p14="http://schemas.microsoft.com/office/powerpoint/2010/main" val="202472289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996679-C8D8-4A0D-874A-832EFD154E5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EA9FB41C-4128-44B8-B8BA-306DEEA57EB2}"/>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DC52E257-FD9C-4980-96B4-735D25DA1315}"/>
              </a:ext>
            </a:extLst>
          </p:cNvPr>
          <p:cNvSpPr>
            <a:spLocks xmlns:a="http://schemas.openxmlformats.org/drawingml/2006/main" noGrp="1"/>
          </p:cNvSpPr>
          <p:nvPr/>
        </p:nvSpPr>
        <p:spPr>
          <a:xfrm xmlns:a="http://schemas.openxmlformats.org/drawingml/2006/main">
            <a:off x="666750" y="17145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376BD"/>
                </a:solidFill>
                <a:latin typeface="Arial"/>
                <a:ea typeface="Arial"/>
                <a:cs typeface="Arial"/>
              </a:defRPr>
            </a:defPPr>
          </a:lstStyle>
          <a:p xmlns:a="http://schemas.openxmlformats.org/drawingml/2006/main">
            <a:pPr>
              <a:defRPr sz="3225" b="1">
                <a:solidFill>
                  <a:srgbClr val="2376BD"/>
                </a:solidFill>
                <a:latin typeface="Arial"/>
                <a:ea typeface="Arial"/>
                <a:cs typeface="Arial"/>
              </a:defRPr>
            </a:pPr>
            <a:r>
              <a:rPr sz="3225" b="1">
                <a:solidFill>
                  <a:srgbClr val="2376BD"/>
                </a:solidFill>
                <a:latin typeface="Arial"/>
                <a:ea typeface="Arial"/>
                <a:cs typeface="Arial"/>
              </a:rPr>
              <a:t>La référence simple reste indispensable.</a:t>
            </a:r>
          </a:p>
        </p:txBody>
      </p:sp>
      <p:sp>
        <p:nvSpPr>
          <p:cNvPr id="4" name="">
            <a:extLst xmlns:a="http://schemas.openxmlformats.org/drawingml/2006/main">
              <a:ext uri="{FF2B5EF4-FFF2-40B4-BE49-F238E27FC236}">
                <a16:creationId xmlns:a16="http://schemas.microsoft.com/office/drawing/2014/main" id="{EBE916FF-46F8-4D6E-A0B2-8FB4E0B49D80}"/>
              </a:ext>
            </a:extLst>
          </p:cNvPr>
          <p:cNvSpPr>
            <a:spLocks xmlns:a="http://schemas.openxmlformats.org/drawingml/2006/main" noGrp="1"/>
          </p:cNvSpPr>
          <p:nvPr/>
        </p:nvSpPr>
        <p:spPr>
          <a:xfrm xmlns:a="http://schemas.openxmlformats.org/drawingml/2006/main">
            <a:off x="628650" y="32385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22336"/>
                </a:solidFill>
                <a:latin typeface="Arial"/>
                <a:ea typeface="Arial"/>
                <a:cs typeface="Arial"/>
              </a:defRPr>
            </a:defPPr>
          </a:lstStyle>
          <a:p xmlns:a="http://schemas.openxmlformats.org/drawingml/2006/main">
            <a:pPr>
              <a:defRPr sz="2250" b="0">
                <a:solidFill>
                  <a:srgbClr val="122336"/>
                </a:solidFill>
                <a:latin typeface="Arial"/>
                <a:ea typeface="Arial"/>
                <a:cs typeface="Arial"/>
              </a:defRPr>
            </a:pPr>
            <a:r>
              <a:rPr sz="2250" b="0">
                <a:solidFill>
                  <a:srgbClr val="122336"/>
                </a:solidFill>
                <a:latin typeface="Arial"/>
                <a:ea typeface="Arial"/>
                <a:cs typeface="Arial"/>
              </a:rPr>
              <a:t>Sur Jena, LSTM et GRU apportent un gain de MAE limité.</a:t>
            </a:r>
          </a:p>
        </p:txBody>
      </p:sp>
      <p:sp>
        <p:nvSpPr>
          <p:cNvPr id="5" name="">
            <a:extLst xmlns:a="http://schemas.openxmlformats.org/drawingml/2006/main">
              <a:ext uri="{FF2B5EF4-FFF2-40B4-BE49-F238E27FC236}">
                <a16:creationId xmlns:a16="http://schemas.microsoft.com/office/drawing/2014/main" id="{48090C83-2247-4BA3-90C6-C60FA3E3F236}"/>
              </a:ext>
            </a:extLst>
          </p:cNvPr>
          <p:cNvSpPr>
            <a:spLocks xmlns:a="http://schemas.openxmlformats.org/drawingml/2006/main" noGrp="1"/>
          </p:cNvSpPr>
          <p:nvPr/>
        </p:nvSpPr>
        <p:spPr>
          <a:xfrm xmlns:a="http://schemas.openxmlformats.org/drawingml/2006/main">
            <a:off x="628650" y="4143375"/>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22336"/>
                </a:solidFill>
                <a:latin typeface="Arial"/>
                <a:ea typeface="Arial"/>
                <a:cs typeface="Arial"/>
              </a:defRPr>
            </a:defPPr>
          </a:lstStyle>
          <a:p xmlns:a="http://schemas.openxmlformats.org/drawingml/2006/main">
            <a:pPr>
              <a:defRPr sz="2250" b="0">
                <a:solidFill>
                  <a:srgbClr val="122336"/>
                </a:solidFill>
                <a:latin typeface="Arial"/>
                <a:ea typeface="Arial"/>
                <a:cs typeface="Arial"/>
              </a:defRPr>
            </a:pPr>
            <a:r>
              <a:rPr sz="2250" b="0">
                <a:solidFill>
                  <a:srgbClr val="122336"/>
                </a:solidFill>
                <a:latin typeface="Arial"/>
                <a:ea typeface="Arial"/>
                <a:cs typeface="Arial"/>
              </a:rPr>
              <a:t>GRU obtient les meilleurs chiffres de cette exécution.</a:t>
            </a:r>
          </a:p>
        </p:txBody>
      </p:sp>
      <p:sp>
        <p:nvSpPr>
          <p:cNvPr id="6" name="">
            <a:extLst xmlns:a="http://schemas.openxmlformats.org/drawingml/2006/main">
              <a:ext uri="{FF2B5EF4-FFF2-40B4-BE49-F238E27FC236}">
                <a16:creationId xmlns:a16="http://schemas.microsoft.com/office/drawing/2014/main" id="{03765BE2-AB1D-4E4C-905D-37FF894488AA}"/>
              </a:ext>
            </a:extLst>
          </p:cNvPr>
          <p:cNvSpPr>
            <a:spLocks xmlns:a="http://schemas.openxmlformats.org/drawingml/2006/main" noGrp="1"/>
          </p:cNvSpPr>
          <p:nvPr/>
        </p:nvSpPr>
        <p:spPr>
          <a:xfrm xmlns:a="http://schemas.openxmlformats.org/drawingml/2006/main">
            <a:off x="628650" y="504825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22336"/>
                </a:solidFill>
                <a:latin typeface="Arial"/>
                <a:ea typeface="Arial"/>
                <a:cs typeface="Arial"/>
              </a:defRPr>
            </a:defPPr>
          </a:lstStyle>
          <a:p xmlns:a="http://schemas.openxmlformats.org/drawingml/2006/main">
            <a:pPr>
              <a:defRPr sz="2250" b="0">
                <a:solidFill>
                  <a:srgbClr val="122336"/>
                </a:solidFill>
                <a:latin typeface="Arial"/>
                <a:ea typeface="Arial"/>
                <a:cs typeface="Arial"/>
              </a:defRPr>
            </a:pPr>
            <a:r>
              <a:rPr sz="2250" b="0">
                <a:solidFill>
                  <a:srgbClr val="122336"/>
                </a:solidFill>
                <a:latin typeface="Arial"/>
                <a:ea typeface="Arial"/>
                <a:cs typeface="Arial"/>
              </a:rPr>
              <a:t>Le choix dépend du problème, du coût et de la stabilité des résultats.</a:t>
            </a:r>
          </a:p>
        </p:txBody>
      </p:sp>
    </p:spTree>
    <p:extLst>
      <p:ext uri="{BB962C8B-B14F-4D97-AF65-F5344CB8AC3E}">
        <p14:creationId xmlns:p14="http://schemas.microsoft.com/office/powerpoint/2010/main" val="168277947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5DC1BA-75E7-4D31-BE5B-7733F88CA90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Questions</a:t>
            </a:r>
          </a:p>
        </p:txBody>
      </p:sp>
      <p:sp>
        <p:nvSpPr>
          <p:cNvPr id="2" name="">
            <a:extLst xmlns:a="http://schemas.openxmlformats.org/drawingml/2006/main">
              <a:ext uri="{FF2B5EF4-FFF2-40B4-BE49-F238E27FC236}">
                <a16:creationId xmlns:a16="http://schemas.microsoft.com/office/drawing/2014/main" id="{C7E0A1C7-F883-42E1-8A8A-8CA98ACA0CB8}"/>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73B534C5-F63B-4A77-8F04-2EF7607B9D7E}"/>
              </a:ext>
            </a:extLst>
          </p:cNvPr>
          <p:cNvSpPr>
            <a:spLocks xmlns:a="http://schemas.openxmlformats.org/drawingml/2006/main" noGrp="1"/>
          </p:cNvSpPr>
          <p:nvPr/>
        </p:nvSpPr>
        <p:spPr>
          <a:xfrm xmlns:a="http://schemas.openxmlformats.org/drawingml/2006/main">
            <a:off x="666750" y="23336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2376BD"/>
                </a:solidFill>
                <a:latin typeface="Arial"/>
                <a:ea typeface="Arial"/>
                <a:cs typeface="Arial"/>
              </a:defRPr>
            </a:defPPr>
          </a:lstStyle>
          <a:p xmlns:a="http://schemas.openxmlformats.org/drawingml/2006/main">
            <a:pPr>
              <a:defRPr sz="3375" b="1">
                <a:solidFill>
                  <a:srgbClr val="2376BD"/>
                </a:solidFill>
                <a:latin typeface="Arial"/>
                <a:ea typeface="Arial"/>
                <a:cs typeface="Arial"/>
              </a:defRPr>
            </a:pPr>
            <a:r>
              <a:rPr sz="3375" b="1">
                <a:solidFill>
                  <a:srgbClr val="2376BD"/>
                </a:solidFill>
                <a:latin typeface="Arial"/>
                <a:ea typeface="Arial"/>
                <a:cs typeface="Arial"/>
              </a:rPr>
              <a:t>Quel gain justifie un modèle plus complexe ?</a:t>
            </a:r>
          </a:p>
        </p:txBody>
      </p:sp>
      <p:sp>
        <p:nvSpPr>
          <p:cNvPr id="4" name="">
            <a:extLst xmlns:a="http://schemas.openxmlformats.org/drawingml/2006/main">
              <a:ext uri="{FF2B5EF4-FFF2-40B4-BE49-F238E27FC236}">
                <a16:creationId xmlns:a16="http://schemas.microsoft.com/office/drawing/2014/main" id="{E650AEC3-8071-45AB-95B7-5925332A9115}"/>
              </a:ext>
            </a:extLst>
          </p:cNvPr>
          <p:cNvSpPr>
            <a:spLocks xmlns:a="http://schemas.openxmlformats.org/drawingml/2006/main" noGrp="1"/>
          </p:cNvSpPr>
          <p:nvPr/>
        </p:nvSpPr>
        <p:spPr>
          <a:xfrm xmlns:a="http://schemas.openxmlformats.org/drawingml/2006/main">
            <a:off x="685800" y="4191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36579"/>
                </a:solidFill>
                <a:latin typeface="Arial"/>
                <a:ea typeface="Arial"/>
                <a:cs typeface="Arial"/>
              </a:defRPr>
            </a:defPPr>
          </a:lstStyle>
          <a:p xmlns:a="http://schemas.openxmlformats.org/drawingml/2006/main">
            <a:pPr>
              <a:defRPr sz="2250" b="0">
                <a:solidFill>
                  <a:srgbClr val="536579"/>
                </a:solidFill>
                <a:latin typeface="Arial"/>
                <a:ea typeface="Arial"/>
                <a:cs typeface="Arial"/>
              </a:defRPr>
            </a:pPr>
            <a:r>
              <a:rPr sz="2250" b="0">
                <a:solidFill>
                  <a:srgbClr val="536579"/>
                </a:solidFill>
                <a:latin typeface="Arial"/>
                <a:ea typeface="Arial"/>
                <a:cs typeface="Arial"/>
              </a:rPr>
              <a:t>Données, horizon, référence et coût de calcul</a:t>
            </a:r>
          </a:p>
        </p:txBody>
      </p:sp>
    </p:spTree>
    <p:extLst>
      <p:ext uri="{BB962C8B-B14F-4D97-AF65-F5344CB8AC3E}">
        <p14:creationId xmlns:p14="http://schemas.microsoft.com/office/powerpoint/2010/main" val="190100220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58B59A-F436-49B3-AF5D-2538F0E051A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Annexe : comptage des paramètres</a:t>
            </a:r>
          </a:p>
        </p:txBody>
      </p:sp>
      <p:sp>
        <p:nvSpPr>
          <p:cNvPr id="2" name="">
            <a:extLst xmlns:a="http://schemas.openxmlformats.org/drawingml/2006/main">
              <a:ext uri="{FF2B5EF4-FFF2-40B4-BE49-F238E27FC236}">
                <a16:creationId xmlns:a16="http://schemas.microsoft.com/office/drawing/2014/main" id="{EA1F1979-C8E8-4480-B775-C5E9F3381325}"/>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E0F79572-2C4F-4408-8CDA-05488F9650D7}"/>
              </a:ext>
            </a:extLst>
          </p:cNvPr>
          <p:cNvGraphicFramePr/>
          <p:nvPr/>
        </p:nvGraphicFramePr>
        <p:xfrm>
          <a:off xmlns:a="http://schemas.openxmlformats.org/drawingml/2006/main" x="628650" y="1714500"/>
          <a:ext xmlns:a="http://schemas.openxmlformats.org/drawingml/2006/main" cx="10934700" cy="2857500"/>
        </p:xfrm>
        <a:graphic xmlns:a="http://schemas.openxmlformats.org/drawingml/2006/main">
          <a:graphicData uri="http://schemas.openxmlformats.org/drawingml/2006/table">
            <a:tbl>
              <a:tblPr/>
              <a:tblGrid>
                <a:gridCol w="3429000"/>
                <a:gridCol w="4429125"/>
                <a:gridCol w="3076575"/>
              </a:tblGrid>
              <a:tr h="714375">
                <a:tc>
                  <a:txBody>
                    <a:bodyPr lIns="114300" tIns="114300" rIns="114300" bIns="114300"/>
                    <a:lstStyle/>
                    <a:p>
                      <a:r>
                        <a:rPr sz="1875" b="1">
                          <a:solidFill>
                            <a:srgbClr val="FFFFFF"/>
                          </a:solidFill>
                          <a:latin typeface="Arial"/>
                          <a:ea typeface="Arial"/>
                          <a:cs typeface="Arial"/>
                        </a:rPr>
                        <a:t>Couche</a:t>
                      </a:r>
                    </a:p>
                  </a:txBody>
                  <a:tcPr marL="91440" marR="91440" marT="45720" marB="4572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75" b="1">
                          <a:solidFill>
                            <a:srgbClr val="FFFFFF"/>
                          </a:solidFill>
                          <a:latin typeface="Arial"/>
                          <a:ea typeface="Arial"/>
                          <a:cs typeface="Arial"/>
                        </a:rPr>
                        <a:t>Formule avec d = 1 et u = 32</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c>
                  <a:txBody>
                    <a:bodyPr lIns="114300" tIns="114300" rIns="114300" bIns="114300"/>
                    <a:lstStyle/>
                    <a:p>
                      <a:r>
                        <a:rPr sz="1875" b="1">
                          <a:solidFill>
                            <a:srgbClr val="FFFFFF"/>
                          </a:solidFill>
                          <a:latin typeface="Arial"/>
                          <a:ea typeface="Arial"/>
                          <a:cs typeface="Arial"/>
                        </a:rPr>
                        <a:t>Total avec Dense(1)</a:t>
                      </a:r>
                    </a:p>
                  </a:txBody>
                  <a:tcPr marL="91440" marR="91440" marT="45720" marB="45720" anchor="ctr">
                    <a:lnR w="9525">
                      <a:solidFill>
                        <a:srgbClr val="DCE3EA"/>
                      </a:solidFill>
                      <a:prstDash val="solid"/>
                    </a:lnR>
                    <a:lnT w="9525">
                      <a:solidFill>
                        <a:srgbClr val="DCE3EA"/>
                      </a:solidFill>
                      <a:prstDash val="solid"/>
                    </a:lnT>
                    <a:lnB w="9525">
                      <a:solidFill>
                        <a:srgbClr val="DCE3EA"/>
                      </a:solidFill>
                      <a:prstDash val="solid"/>
                    </a:lnB>
                    <a:solidFill>
                      <a:srgbClr val="122336"/>
                    </a:solidFill>
                  </a:tcPr>
                </a:tc>
              </a:tr>
              <a:tr h="714375">
                <a:tc>
                  <a:txBody>
                    <a:bodyPr lIns="114300" tIns="114300" rIns="114300" bIns="114300"/>
                    <a:lstStyle/>
                    <a:p>
                      <a:r>
                        <a:rPr sz="1875" b="0">
                          <a:solidFill>
                            <a:srgbClr val="122336"/>
                          </a:solidFill>
                          <a:latin typeface="Arial"/>
                          <a:ea typeface="Arial"/>
                          <a:cs typeface="Arial"/>
                        </a:rPr>
                        <a:t>SimpleRNN</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u(d + u + 1)</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1 121</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r h="714375">
                <a:tc>
                  <a:txBody>
                    <a:bodyPr lIns="114300" tIns="114300" rIns="114300" bIns="114300"/>
                    <a:lstStyle/>
                    <a:p>
                      <a:r>
                        <a:rPr sz="1875" b="0">
                          <a:solidFill>
                            <a:srgbClr val="122336"/>
                          </a:solidFill>
                          <a:latin typeface="Arial"/>
                          <a:ea typeface="Arial"/>
                          <a:cs typeface="Arial"/>
                        </a:rPr>
                        <a:t>LSTM</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4u(d + u + 1)</a:t>
                      </a:r>
                    </a:p>
                  </a:txBody>
                  <a:tcPr marL="91440" marR="91440" marT="45720" marB="45720" anchor="ctr">
                    <a:lnR w="9525">
                      <a:solidFill>
                        <a:srgbClr val="DCE3EA"/>
                      </a:solidFill>
                      <a:prstDash val="solid"/>
                    </a:lnR>
                    <a:lnB w="9525">
                      <a:solidFill>
                        <a:srgbClr val="DCE3EA"/>
                      </a:solidFill>
                      <a:prstDash val="solid"/>
                    </a:lnB>
                    <a:solidFill>
                      <a:srgbClr val="F4F6F8"/>
                    </a:solidFill>
                  </a:tcPr>
                </a:tc>
                <a:tc>
                  <a:txBody>
                    <a:bodyPr lIns="114300" tIns="114300" rIns="114300" bIns="114300"/>
                    <a:lstStyle/>
                    <a:p>
                      <a:r>
                        <a:rPr sz="1875" b="0">
                          <a:solidFill>
                            <a:srgbClr val="122336"/>
                          </a:solidFill>
                          <a:latin typeface="Arial"/>
                          <a:ea typeface="Arial"/>
                          <a:cs typeface="Arial"/>
                        </a:rPr>
                        <a:t>4 385</a:t>
                      </a:r>
                    </a:p>
                  </a:txBody>
                  <a:tcPr marL="91440" marR="91440" marT="45720" marB="45720" anchor="ctr">
                    <a:lnR w="9525">
                      <a:solidFill>
                        <a:srgbClr val="DCE3EA"/>
                      </a:solidFill>
                      <a:prstDash val="solid"/>
                    </a:lnR>
                    <a:lnB w="9525">
                      <a:solidFill>
                        <a:srgbClr val="DCE3EA"/>
                      </a:solidFill>
                      <a:prstDash val="solid"/>
                    </a:lnB>
                    <a:solidFill>
                      <a:srgbClr val="F4F6F8"/>
                    </a:solidFill>
                  </a:tcPr>
                </a:tc>
              </a:tr>
              <a:tr h="714375">
                <a:tc>
                  <a:txBody>
                    <a:bodyPr lIns="114300" tIns="114300" rIns="114300" bIns="114300"/>
                    <a:lstStyle/>
                    <a:p>
                      <a:r>
                        <a:rPr sz="1875" b="0">
                          <a:solidFill>
                            <a:srgbClr val="122336"/>
                          </a:solidFill>
                          <a:latin typeface="Arial"/>
                          <a:ea typeface="Arial"/>
                          <a:cs typeface="Arial"/>
                        </a:rPr>
                        <a:t>GRU, reset_after=True</a:t>
                      </a:r>
                    </a:p>
                  </a:txBody>
                  <a:tcPr marL="91440" marR="91440" marT="45720" marB="4572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3u(d + u + 2)</a:t>
                      </a:r>
                    </a:p>
                  </a:txBody>
                  <a:tcPr marL="91440" marR="91440" marT="45720" marB="45720" anchor="ctr">
                    <a:lnR w="9525">
                      <a:solidFill>
                        <a:srgbClr val="DCE3EA"/>
                      </a:solidFill>
                      <a:prstDash val="solid"/>
                    </a:lnR>
                    <a:lnB w="9525">
                      <a:solidFill>
                        <a:srgbClr val="DCE3EA"/>
                      </a:solidFill>
                      <a:prstDash val="solid"/>
                    </a:lnB>
                    <a:solidFill>
                      <a:srgbClr val="FFFFFF"/>
                    </a:solidFill>
                  </a:tcPr>
                </a:tc>
                <a:tc>
                  <a:txBody>
                    <a:bodyPr lIns="114300" tIns="114300" rIns="114300" bIns="114300"/>
                    <a:lstStyle/>
                    <a:p>
                      <a:r>
                        <a:rPr sz="1875" b="0">
                          <a:solidFill>
                            <a:srgbClr val="122336"/>
                          </a:solidFill>
                          <a:latin typeface="Arial"/>
                          <a:ea typeface="Arial"/>
                          <a:cs typeface="Arial"/>
                        </a:rPr>
                        <a:t>3 393</a:t>
                      </a:r>
                    </a:p>
                  </a:txBody>
                  <a:tcPr marL="91440" marR="91440" marT="45720" marB="4572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F8C7D42-5C6D-48A0-AC63-464A9FCE34FF}"/>
              </a:ext>
            </a:extLst>
          </p:cNvPr>
          <p:cNvSpPr>
            <a:spLocks xmlns:a="http://schemas.openxmlformats.org/drawingml/2006/main" noGrp="1"/>
          </p:cNvSpPr>
          <p:nvPr/>
        </p:nvSpPr>
        <p:spPr>
          <a:xfrm xmlns:a="http://schemas.openxmlformats.org/drawingml/2006/main">
            <a:off x="62865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Dense(1) ajoute 32 poids et 1 biais à chaque architecture.</a:t>
            </a:r>
          </a:p>
        </p:txBody>
      </p:sp>
    </p:spTree>
    <p:extLst>
      <p:ext uri="{BB962C8B-B14F-4D97-AF65-F5344CB8AC3E}">
        <p14:creationId xmlns:p14="http://schemas.microsoft.com/office/powerpoint/2010/main" val="103180091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8419E1-F5E5-4299-9236-1B2829F3160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2336"/>
                </a:solidFill>
                <a:latin typeface="Arial"/>
                <a:ea typeface="Arial"/>
                <a:cs typeface="Arial"/>
              </a:defRPr>
            </a:defPPr>
          </a:lstStyle>
          <a:p xmlns:a="http://schemas.openxmlformats.org/drawingml/2006/main">
            <a:pPr>
              <a:defRPr sz="3150" b="1">
                <a:solidFill>
                  <a:srgbClr val="122336"/>
                </a:solidFill>
                <a:latin typeface="Arial"/>
                <a:ea typeface="Arial"/>
                <a:cs typeface="Arial"/>
              </a:defRPr>
            </a:pPr>
            <a:r>
              <a:rPr sz="3150" b="1">
                <a:solidFill>
                  <a:srgbClr val="122336"/>
                </a:solidFill>
                <a:latin typeface="Arial"/>
                <a:ea typeface="Arial"/>
                <a:cs typeface="Arial"/>
              </a:rPr>
              <a:t>Sources et fichiers de l’expérience</a:t>
            </a:r>
          </a:p>
        </p:txBody>
      </p:sp>
      <p:sp>
        <p:nvSpPr>
          <p:cNvPr id="2" name="">
            <a:extLst xmlns:a="http://schemas.openxmlformats.org/drawingml/2006/main">
              <a:ext uri="{FF2B5EF4-FFF2-40B4-BE49-F238E27FC236}">
                <a16:creationId xmlns:a16="http://schemas.microsoft.com/office/drawing/2014/main" id="{779E9EAD-C50D-4074-8334-12A2453E8841}"/>
              </a:ext>
            </a:extLst>
          </p:cNvPr>
          <p:cNvSpPr>
            <a:spLocks xmlns:a="http://schemas.openxmlformats.org/drawingml/2006/main" noGrp="1"/>
          </p:cNvSpPr>
          <p:nvPr/>
        </p:nvSpPr>
        <p:spPr>
          <a:xfrm xmlns:a="http://schemas.openxmlformats.org/drawingml/2006/main">
            <a:off x="11144250" y="64293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579"/>
                </a:solidFill>
                <a:latin typeface="Arial"/>
                <a:ea typeface="Arial"/>
                <a:cs typeface="Arial"/>
              </a:defRPr>
            </a:defPPr>
          </a:lstStyle>
          <a:p xmlns:a="http://schemas.openxmlformats.org/drawingml/2006/main">
            <a:pPr>
              <a:defRPr sz="1200" b="0">
                <a:solidFill>
                  <a:srgbClr val="536579"/>
                </a:solidFill>
                <a:latin typeface="Arial"/>
                <a:ea typeface="Arial"/>
                <a:cs typeface="Arial"/>
              </a:defRPr>
            </a:pPr>
            <a:r>
              <a:rPr sz="1200" b="0">
                <a:solidFill>
                  <a:srgbClr val="536579"/>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2C814D6D-4B47-4EBD-842F-0D9F7ED3F846}"/>
              </a:ext>
            </a:extLst>
          </p:cNvPr>
          <p:cNvSpPr>
            <a:spLocks xmlns:a="http://schemas.openxmlformats.org/drawingml/2006/main" noGrp="1"/>
          </p:cNvSpPr>
          <p:nvPr/>
        </p:nvSpPr>
        <p:spPr>
          <a:xfrm xmlns:a="http://schemas.openxmlformats.org/drawingml/2006/main">
            <a:off x="628650" y="1619250"/>
            <a:ext cx="105727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22336"/>
                </a:solidFill>
                <a:latin typeface="Arial"/>
                <a:ea typeface="Arial"/>
                <a:cs typeface="Arial"/>
              </a:defRPr>
            </a:defPPr>
          </a:lstStyle>
          <a:p xmlns:a="http://schemas.openxmlformats.org/drawingml/2006/main">
            <a:pPr>
              <a:defRPr sz="1950" b="0">
                <a:solidFill>
                  <a:srgbClr val="122336"/>
                </a:solidFill>
                <a:latin typeface="Arial"/>
                <a:ea typeface="Arial"/>
                <a:cs typeface="Arial"/>
              </a:defRPr>
            </a:pPr>
            <a:r>
              <a:rPr sz="1950" b="0">
                <a:solidFill>
                  <a:srgbClr val="122336"/>
                </a:solidFill>
                <a:latin typeface="Arial"/>
                <a:ea typeface="Arial"/>
                <a:cs typeface="Arial"/>
              </a:rPr>
              <a:t>TensorFlow : Time series forecasting</a:t>
            </a:r>
          </a:p>
          <a:p xmlns:a="http://schemas.openxmlformats.org/drawingml/2006/main">
            <a:pPr>
              <a:defRPr sz="1950" b="0">
                <a:solidFill>
                  <a:srgbClr val="122336"/>
                </a:solidFill>
                <a:latin typeface="Arial"/>
                <a:ea typeface="Arial"/>
                <a:cs typeface="Arial"/>
              </a:defRPr>
            </a:pPr>
            <a:r>
              <a:rPr sz="1950" b="0">
                <a:solidFill>
                  <a:srgbClr val="122336"/>
                </a:solidFill>
                <a:latin typeface="Arial"/>
                <a:ea typeface="Arial"/>
                <a:cs typeface="Arial"/>
              </a:rPr>
              <a:t>tensorflow.org/tutorials/structured_data/time_series</a:t>
            </a:r>
          </a:p>
        </p:txBody>
      </p:sp>
      <p:sp>
        <p:nvSpPr>
          <p:cNvPr id="4" name="">
            <a:extLst xmlns:a="http://schemas.openxmlformats.org/drawingml/2006/main">
              <a:ext uri="{FF2B5EF4-FFF2-40B4-BE49-F238E27FC236}">
                <a16:creationId xmlns:a16="http://schemas.microsoft.com/office/drawing/2014/main" id="{912A735F-AE41-439B-B394-E84DCBB8AAF6}"/>
              </a:ext>
            </a:extLst>
          </p:cNvPr>
          <p:cNvSpPr>
            <a:spLocks xmlns:a="http://schemas.openxmlformats.org/drawingml/2006/main" noGrp="1"/>
          </p:cNvSpPr>
          <p:nvPr/>
        </p:nvSpPr>
        <p:spPr>
          <a:xfrm xmlns:a="http://schemas.openxmlformats.org/drawingml/2006/main">
            <a:off x="628650" y="3000375"/>
            <a:ext cx="105727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22336"/>
                </a:solidFill>
                <a:latin typeface="Arial"/>
                <a:ea typeface="Arial"/>
                <a:cs typeface="Arial"/>
              </a:defRPr>
            </a:defPPr>
          </a:lstStyle>
          <a:p xmlns:a="http://schemas.openxmlformats.org/drawingml/2006/main">
            <a:pPr>
              <a:defRPr sz="1950" b="0">
                <a:solidFill>
                  <a:srgbClr val="122336"/>
                </a:solidFill>
                <a:latin typeface="Arial"/>
                <a:ea typeface="Arial"/>
                <a:cs typeface="Arial"/>
              </a:defRPr>
            </a:pPr>
            <a:r>
              <a:rPr sz="1950" b="0">
                <a:solidFill>
                  <a:srgbClr val="122336"/>
                </a:solidFill>
                <a:latin typeface="Arial"/>
                <a:ea typeface="Arial"/>
                <a:cs typeface="Arial"/>
              </a:rPr>
              <a:t>Keras : couches SimpleRNN, LSTM et GRU</a:t>
            </a:r>
          </a:p>
          <a:p xmlns:a="http://schemas.openxmlformats.org/drawingml/2006/main">
            <a:pPr>
              <a:defRPr sz="1950" b="0">
                <a:solidFill>
                  <a:srgbClr val="122336"/>
                </a:solidFill>
                <a:latin typeface="Arial"/>
                <a:ea typeface="Arial"/>
                <a:cs typeface="Arial"/>
              </a:defRPr>
            </a:pPr>
            <a:r>
              <a:rPr sz="1950" b="0">
                <a:solidFill>
                  <a:srgbClr val="122336"/>
                </a:solidFill>
                <a:latin typeface="Arial"/>
                <a:ea typeface="Arial"/>
                <a:cs typeface="Arial"/>
              </a:rPr>
              <a:t>keras.io/api/layers/recurrent_layers/</a:t>
            </a:r>
          </a:p>
        </p:txBody>
      </p:sp>
      <p:sp>
        <p:nvSpPr>
          <p:cNvPr id="5" name="">
            <a:extLst xmlns:a="http://schemas.openxmlformats.org/drawingml/2006/main">
              <a:ext uri="{FF2B5EF4-FFF2-40B4-BE49-F238E27FC236}">
                <a16:creationId xmlns:a16="http://schemas.microsoft.com/office/drawing/2014/main" id="{AC1CEEC6-1047-488F-A5D1-C4CB16A067A7}"/>
              </a:ext>
            </a:extLst>
          </p:cNvPr>
          <p:cNvSpPr>
            <a:spLocks xmlns:a="http://schemas.openxmlformats.org/drawingml/2006/main" noGrp="1"/>
          </p:cNvSpPr>
          <p:nvPr/>
        </p:nvSpPr>
        <p:spPr>
          <a:xfrm xmlns:a="http://schemas.openxmlformats.org/drawingml/2006/main">
            <a:off x="628650" y="4381500"/>
            <a:ext cx="105727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22336"/>
                </a:solidFill>
                <a:latin typeface="Arial"/>
                <a:ea typeface="Arial"/>
                <a:cs typeface="Arial"/>
              </a:defRPr>
            </a:defPPr>
          </a:lstStyle>
          <a:p xmlns:a="http://schemas.openxmlformats.org/drawingml/2006/main">
            <a:pPr>
              <a:defRPr sz="1950" b="0">
                <a:solidFill>
                  <a:srgbClr val="122336"/>
                </a:solidFill>
                <a:latin typeface="Arial"/>
                <a:ea typeface="Arial"/>
                <a:cs typeface="Arial"/>
              </a:defRPr>
            </a:pPr>
            <a:r>
              <a:rPr sz="1950" b="0">
                <a:solidFill>
                  <a:srgbClr val="122336"/>
                </a:solidFill>
                <a:latin typeface="Arial"/>
                <a:ea typeface="Arial"/>
                <a:cs typeface="Arial"/>
              </a:rPr>
              <a:t>Expérience locale : 4614d659431c</a:t>
            </a:r>
          </a:p>
          <a:p xmlns:a="http://schemas.openxmlformats.org/drawingml/2006/main">
            <a:pPr>
              <a:defRPr sz="1950" b="0">
                <a:solidFill>
                  <a:srgbClr val="122336"/>
                </a:solidFill>
                <a:latin typeface="Arial"/>
                <a:ea typeface="Arial"/>
                <a:cs typeface="Arial"/>
              </a:defRPr>
            </a:pPr>
            <a:r>
              <a:rPr sz="1950" b="0">
                <a:solidFill>
                  <a:srgbClr val="122336"/>
                </a:solidFill>
                <a:latin typeface="Arial"/>
                <a:ea typeface="Arial"/>
                <a:cs typeface="Arial"/>
              </a:rPr>
              <a:t>Deux Notebooks, modèles, historiques et prévisions sauvegardés.</a:t>
            </a:r>
          </a:p>
        </p:txBody>
      </p:sp>
    </p:spTree>
    <p:extLst>
      <p:ext uri="{BB962C8B-B14F-4D97-AF65-F5344CB8AC3E}">
        <p14:creationId xmlns:p14="http://schemas.microsoft.com/office/powerpoint/2010/main" val="1226626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2026-10-14T23:58:47.6630000Z</dcterms:created>
  <dcterms:modified xsi:type="dcterms:W3CDTF">2026-10-14T23:58:47.6630000Z</dcterms:modified>
</coreProperties>
</file>