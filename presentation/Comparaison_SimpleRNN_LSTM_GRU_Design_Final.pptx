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5.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e070e2239044b2" /><Relationship Type="http://schemas.openxmlformats.org/officeDocument/2006/relationships/extended-properties" Target="/docProps/app.xml" Id="R1ed6c518e5174fe1" /><Relationship Type="http://schemas.openxmlformats.org/officeDocument/2006/relationships/officeDocument" Target="/ppt/presentation.xml" Id="R6ba07f54024e41b7" /></Relationships>
</file>

<file path=ppt/presentation.xml><?xml version="1.0" encoding="utf-8"?>
<p:presentation xmlns:p="http://schemas.openxmlformats.org/presentationml/2006/main">
  <p:sldMasterIdLst>
    <p:sldMasterId xmlns:r="http://schemas.openxmlformats.org/officeDocument/2006/relationships" id="2147483648" r:id="R95d32780600246f4"/>
  </p:sldMasterIdLst>
  <p:notesMasterIdLst>
    <p:notesMasterId xmlns:r="http://schemas.openxmlformats.org/officeDocument/2006/relationships" r:id="R6be72025a2bd4c97"/>
  </p:notesMasterIdLst>
  <p:sldIdLst>
    <p:sldId xmlns:r="http://schemas.openxmlformats.org/officeDocument/2006/relationships" id="256" r:id="Ra38df53ed3c94bed"/>
    <p:sldId xmlns:r="http://schemas.openxmlformats.org/officeDocument/2006/relationships" id="257" r:id="R9671cb99dc254fba"/>
    <p:sldId xmlns:r="http://schemas.openxmlformats.org/officeDocument/2006/relationships" id="258" r:id="Rcc4370a8f38645eb"/>
    <p:sldId xmlns:r="http://schemas.openxmlformats.org/officeDocument/2006/relationships" id="259" r:id="Ref9274c77a024ad4"/>
    <p:sldId xmlns:r="http://schemas.openxmlformats.org/officeDocument/2006/relationships" id="260" r:id="R03a7d91ed41c435f"/>
    <p:sldId xmlns:r="http://schemas.openxmlformats.org/officeDocument/2006/relationships" id="261" r:id="R93645c29b2fb4bbe"/>
    <p:sldId xmlns:r="http://schemas.openxmlformats.org/officeDocument/2006/relationships" id="262" r:id="Re40a91b404d04aa7"/>
    <p:sldId xmlns:r="http://schemas.openxmlformats.org/officeDocument/2006/relationships" id="263" r:id="Rbfdc92f5dee94758"/>
    <p:sldId xmlns:r="http://schemas.openxmlformats.org/officeDocument/2006/relationships" id="264" r:id="Rab3eeae5a2ff487b"/>
    <p:sldId xmlns:r="http://schemas.openxmlformats.org/officeDocument/2006/relationships" id="265" r:id="R1c95e3d1eed643b0"/>
    <p:sldId xmlns:r="http://schemas.openxmlformats.org/officeDocument/2006/relationships" id="266" r:id="R2221fe381cd549dd"/>
    <p:sldId xmlns:r="http://schemas.openxmlformats.org/officeDocument/2006/relationships" id="267" r:id="Rf3597327f95849b6"/>
    <p:sldId xmlns:r="http://schemas.openxmlformats.org/officeDocument/2006/relationships" id="268" r:id="R20aa2ca71a1a4371"/>
    <p:sldId xmlns:r="http://schemas.openxmlformats.org/officeDocument/2006/relationships" id="269" r:id="R7b4d2e61c17e4b24"/>
    <p:sldId xmlns:r="http://schemas.openxmlformats.org/officeDocument/2006/relationships" id="270" r:id="R5a541df246c142d6"/>
    <p:sldId xmlns:r="http://schemas.openxmlformats.org/officeDocument/2006/relationships" id="271" r:id="R94dd20d9e2174ecf"/>
    <p:sldId xmlns:r="http://schemas.openxmlformats.org/officeDocument/2006/relationships" id="272" r:id="R6fdf8ac3490e46ef"/>
    <p:sldId xmlns:r="http://schemas.openxmlformats.org/officeDocument/2006/relationships" id="273" r:id="R15cc5703f1bf49ea"/>
    <p:sldId xmlns:r="http://schemas.openxmlformats.org/officeDocument/2006/relationships" id="274" r:id="Rafa91899fcb148b2"/>
    <p:sldId xmlns:r="http://schemas.openxmlformats.org/officeDocument/2006/relationships" id="275" r:id="R59b528ab6efe49aa"/>
    <p:sldId xmlns:r="http://schemas.openxmlformats.org/officeDocument/2006/relationships" id="276" r:id="Ra5d5eb101dfb43ae"/>
    <p:sldId xmlns:r="http://schemas.openxmlformats.org/officeDocument/2006/relationships" id="277" r:id="Re58f087e38a84675"/>
    <p:sldId xmlns:r="http://schemas.openxmlformats.org/officeDocument/2006/relationships" id="278" r:id="Rdf0d52136b5b489b"/>
    <p:sldId xmlns:r="http://schemas.openxmlformats.org/officeDocument/2006/relationships" id="279" r:id="Ra9fc0b8883ba40b4"/>
    <p:sldId xmlns:r="http://schemas.openxmlformats.org/officeDocument/2006/relationships" id="280" r:id="Rc797c663ff634f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e7a2413bbb435d" /><Relationship Type="http://schemas.openxmlformats.org/officeDocument/2006/relationships/slideMaster" Target="/ppt/slideMasters/slideMaster1.xml" Id="R95d32780600246f4" /><Relationship Type="http://schemas.openxmlformats.org/officeDocument/2006/relationships/notesMaster" Target="/ppt/notesMasters/notesMaster1.xml" Id="R6be72025a2bd4c97" /><Relationship Type="http://schemas.openxmlformats.org/officeDocument/2006/relationships/presProps" Target="/ppt/presProps.xml" Id="R71e09fc8c0b44093" /><Relationship Type="http://schemas.openxmlformats.org/officeDocument/2006/relationships/tableStyles" Target="/ppt/tableStyles.xml" Id="Rd345dbd58dc148c1" /><Relationship Type="http://schemas.openxmlformats.org/officeDocument/2006/relationships/slide" Target="/ppt/slides/slide1.xml" Id="Ra38df53ed3c94bed" /><Relationship Type="http://schemas.openxmlformats.org/officeDocument/2006/relationships/slide" Target="/ppt/slides/slide2.xml" Id="R9671cb99dc254fba" /><Relationship Type="http://schemas.openxmlformats.org/officeDocument/2006/relationships/slide" Target="/ppt/slides/slide3.xml" Id="Rcc4370a8f38645eb" /><Relationship Type="http://schemas.openxmlformats.org/officeDocument/2006/relationships/slide" Target="/ppt/slides/slide4.xml" Id="Ref9274c77a024ad4" /><Relationship Type="http://schemas.openxmlformats.org/officeDocument/2006/relationships/slide" Target="/ppt/slides/slide5.xml" Id="R03a7d91ed41c435f" /><Relationship Type="http://schemas.openxmlformats.org/officeDocument/2006/relationships/slide" Target="/ppt/slides/slide6.xml" Id="R93645c29b2fb4bbe" /><Relationship Type="http://schemas.openxmlformats.org/officeDocument/2006/relationships/slide" Target="/ppt/slides/slide7.xml" Id="Re40a91b404d04aa7" /><Relationship Type="http://schemas.openxmlformats.org/officeDocument/2006/relationships/slide" Target="/ppt/slides/slide8.xml" Id="Rbfdc92f5dee94758" /><Relationship Type="http://schemas.openxmlformats.org/officeDocument/2006/relationships/slide" Target="/ppt/slides/slide9.xml" Id="Rab3eeae5a2ff487b" /><Relationship Type="http://schemas.openxmlformats.org/officeDocument/2006/relationships/slide" Target="/ppt/slides/slide10.xml" Id="R1c95e3d1eed643b0" /><Relationship Type="http://schemas.openxmlformats.org/officeDocument/2006/relationships/slide" Target="/ppt/slides/slide11.xml" Id="R2221fe381cd549dd" /><Relationship Type="http://schemas.openxmlformats.org/officeDocument/2006/relationships/slide" Target="/ppt/slides/slide12.xml" Id="Rf3597327f95849b6" /><Relationship Type="http://schemas.openxmlformats.org/officeDocument/2006/relationships/slide" Target="/ppt/slides/slide13.xml" Id="R20aa2ca71a1a4371" /><Relationship Type="http://schemas.openxmlformats.org/officeDocument/2006/relationships/slide" Target="/ppt/slides/slide14.xml" Id="R7b4d2e61c17e4b24" /><Relationship Type="http://schemas.openxmlformats.org/officeDocument/2006/relationships/slide" Target="/ppt/slides/slide15.xml" Id="R5a541df246c142d6" /><Relationship Type="http://schemas.openxmlformats.org/officeDocument/2006/relationships/slide" Target="/ppt/slides/slide16.xml" Id="R94dd20d9e2174ecf" /><Relationship Type="http://schemas.openxmlformats.org/officeDocument/2006/relationships/slide" Target="/ppt/slides/slide17.xml" Id="R6fdf8ac3490e46ef" /><Relationship Type="http://schemas.openxmlformats.org/officeDocument/2006/relationships/slide" Target="/ppt/slides/slide18.xml" Id="R15cc5703f1bf49ea" /><Relationship Type="http://schemas.openxmlformats.org/officeDocument/2006/relationships/slide" Target="/ppt/slides/slide19.xml" Id="Rafa91899fcb148b2" /><Relationship Type="http://schemas.openxmlformats.org/officeDocument/2006/relationships/slide" Target="/ppt/slides/slide20.xml" Id="R59b528ab6efe49aa" /><Relationship Type="http://schemas.openxmlformats.org/officeDocument/2006/relationships/slide" Target="/ppt/slides/slide21.xml" Id="Ra5d5eb101dfb43ae" /><Relationship Type="http://schemas.openxmlformats.org/officeDocument/2006/relationships/slide" Target="/ppt/slides/slide22.xml" Id="Re58f087e38a84675" /><Relationship Type="http://schemas.openxmlformats.org/officeDocument/2006/relationships/slide" Target="/ppt/slides/slide23.xml" Id="Rdf0d52136b5b489b" /><Relationship Type="http://schemas.openxmlformats.org/officeDocument/2006/relationships/slide" Target="/ppt/slides/slide24.xml" Id="Ra9fc0b8883ba40b4" /><Relationship Type="http://schemas.openxmlformats.org/officeDocument/2006/relationships/slide" Target="/ppt/slides/slide25.xml" Id="Rc797c663ff634f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37691b970d4d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71a96baacd409b" /><Relationship Type="http://schemas.openxmlformats.org/officeDocument/2006/relationships/notesMaster" Target="/ppt/notesMasters/notesMaster1.xml" Id="R7825f3c26fb540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eb0fd609964554" /><Relationship Type="http://schemas.openxmlformats.org/officeDocument/2006/relationships/notesMaster" Target="/ppt/notesMasters/notesMaster1.xml" Id="Rbc09183274424e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397aa01fe54be9" /><Relationship Type="http://schemas.openxmlformats.org/officeDocument/2006/relationships/notesMaster" Target="/ppt/notesMasters/notesMaster1.xml" Id="Rfaf1bf01de6348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2c069920704069" /><Relationship Type="http://schemas.openxmlformats.org/officeDocument/2006/relationships/notesMaster" Target="/ppt/notesMasters/notesMaster1.xml" Id="R18c2043aa2d64d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1f89443d5a4272" /><Relationship Type="http://schemas.openxmlformats.org/officeDocument/2006/relationships/notesMaster" Target="/ppt/notesMasters/notesMaster1.xml" Id="R6b810fc4265f4e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0a8c6509944432" /><Relationship Type="http://schemas.openxmlformats.org/officeDocument/2006/relationships/notesMaster" Target="/ppt/notesMasters/notesMaster1.xml" Id="R3c9036dfb4004a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84325e69c2444b" /><Relationship Type="http://schemas.openxmlformats.org/officeDocument/2006/relationships/notesMaster" Target="/ppt/notesMasters/notesMaster1.xml" Id="R5d3c693fc3964f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ef88df4a8c4148" /><Relationship Type="http://schemas.openxmlformats.org/officeDocument/2006/relationships/notesMaster" Target="/ppt/notesMasters/notesMaster1.xml" Id="Raa792f3f6a7d4b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dcf96faf264f54" /><Relationship Type="http://schemas.openxmlformats.org/officeDocument/2006/relationships/notesMaster" Target="/ppt/notesMasters/notesMaster1.xml" Id="Ra439efb7d4bb4e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563a88b35a4626" /><Relationship Type="http://schemas.openxmlformats.org/officeDocument/2006/relationships/notesMaster" Target="/ppt/notesMasters/notesMaster1.xml" Id="R59674157b9174e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1e71b48f764276" /><Relationship Type="http://schemas.openxmlformats.org/officeDocument/2006/relationships/notesMaster" Target="/ppt/notesMasters/notesMaster1.xml" Id="R1aa56bb3e05c46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ea0ffe67e849d9" /><Relationship Type="http://schemas.openxmlformats.org/officeDocument/2006/relationships/notesMaster" Target="/ppt/notesMasters/notesMaster1.xml" Id="Rdfdb6d8b4f7245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d59ad2bb2a44b1" /><Relationship Type="http://schemas.openxmlformats.org/officeDocument/2006/relationships/notesMaster" Target="/ppt/notesMasters/notesMaster1.xml" Id="R57484744b2764e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f11cb6d5f74f38" /><Relationship Type="http://schemas.openxmlformats.org/officeDocument/2006/relationships/notesMaster" Target="/ppt/notesMasters/notesMaster1.xml" Id="Rd98de05c3b704a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07b1014ac44ba5" /><Relationship Type="http://schemas.openxmlformats.org/officeDocument/2006/relationships/notesMaster" Target="/ppt/notesMasters/notesMaster1.xml" Id="R60d011e86cc041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bfeebf78254c4d" /><Relationship Type="http://schemas.openxmlformats.org/officeDocument/2006/relationships/notesMaster" Target="/ppt/notesMasters/notesMaster1.xml" Id="R6dc6194a00c6409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328e3c4a4b4219" /><Relationship Type="http://schemas.openxmlformats.org/officeDocument/2006/relationships/notesMaster" Target="/ppt/notesMasters/notesMaster1.xml" Id="Rbf160bee196a40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0cc0cb7e84409b" /><Relationship Type="http://schemas.openxmlformats.org/officeDocument/2006/relationships/notesMaster" Target="/ppt/notesMasters/notesMaster1.xml" Id="R36dbe2d011e24a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57d1f3f5c4409a" /><Relationship Type="http://schemas.openxmlformats.org/officeDocument/2006/relationships/notesMaster" Target="/ppt/notesMasters/notesMaster1.xml" Id="R1cfaf394816f43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afe8174af24855" /><Relationship Type="http://schemas.openxmlformats.org/officeDocument/2006/relationships/notesMaster" Target="/ppt/notesMasters/notesMaster1.xml" Id="R8fc621107ba8455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7f5ad78a1f49d0" /><Relationship Type="http://schemas.openxmlformats.org/officeDocument/2006/relationships/notesMaster" Target="/ppt/notesMasters/notesMaster1.xml" Id="Re2d5d899f3b14d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5661b465004158" /><Relationship Type="http://schemas.openxmlformats.org/officeDocument/2006/relationships/notesMaster" Target="/ppt/notesMasters/notesMaster1.xml" Id="Ra008d0f28ba548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da972d11cdc4839" /><Relationship Type="http://schemas.openxmlformats.org/officeDocument/2006/relationships/notesMaster" Target="/ppt/notesMasters/notesMaster1.xml" Id="R9bd05c75d5f3420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00ef61867f74311" /><Relationship Type="http://schemas.openxmlformats.org/officeDocument/2006/relationships/notesMaster" Target="/ppt/notesMasters/notesMaster1.xml" Id="R10b5a8426e9640d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089762d2ff54e66" /><Relationship Type="http://schemas.openxmlformats.org/officeDocument/2006/relationships/notesMaster" Target="/ppt/notesMasters/notesMaster1.xml" Id="Re8f7f11223494c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0,5 min.</a:t>
            </a:r>
          </a:p>
          <a:p xmlns:a="http://schemas.openxmlformats.org/drawingml/2006/main">
            <a:r>
              <a:t>Présenter le sujet : comparer trois réseaux récurrents avec un protocole commun, puis vérifier leur utilité face à une référence simple. Le premier exemple sert à comprendre les séquences. L’expérience principale utilise des températures réelles. Annoncer que les résultats ne désignent pas un gagnant universel.</a:t>
            </a:r>
          </a:p>
          <a:p xmlns:a="http://schemas.openxmlformats.org/drawingml/2006/main">
            <a:r>
              <a:t/>
            </a:r>
          </a:p>
          <a:p xmlns:a="http://schemas.openxmlformats.org/drawingml/2006/main">
            <a:r>
              <a:t>Illustration artistique de couverture générée avec ImageGen. Elle ne représente ni une mesure ni une simulation météorologique.</a:t>
            </a:r>
          </a:p>
          <a:p xmlns:a="http://schemas.openxmlformats.org/drawingml/2006/main">
            <a:r>
              <a:t>Asset de couverture : .presentation-build-v2/assets/atmosphere.png. Outil : ImageGen intégré. Prompt artistique : cinematic 16:9 atmospheric wave, very fine copper cyan and muted lime filaments, dark topographic landscape, deep midnight navy, left half empty for editable title, no text, no numbers, no charts, no logos. Illustration conceptuelle uniquement.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la question avant les architectures. Nous cherchons un compromis entre erreur, nombre de paramètres et temps mesuré. Le signal synthétique rend la fenêtre visible. Jena permet une expérience réelle. Les modèles ont le même nombre d’unités, pas le même nombre de paramètres. La référence simple évite de confondre fonctionnement du réseau et réelle valeur ajoutée.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que NumPy n’impose pas des données artificielles. Nous avons choisi de créer une sinusoïde pour la première expérience. La seconde utilise des températures observées. L’horizon passe d’une étape à vingt-quatre heures et les unités changent. Les scores bruts des deux expériences ne se comparent donc pas directement. Sources : expériences exécutées dans les deux Notebooks du projet. Les CSV conservent les valeurs non arrondies.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trait régulier représente la sinusoïde et l’autre les mesures bruitées. La période vaut cinquante étapes. Les réseaux prévoient la prochaine valeur à partir des quarante précédentes. Sur le test, MAE : persistance 0,1361, SimpleRNN 0,0819, LSTM 0,0809, GRU 0,0850. Les trois réseaux améliorent cette référence. Cette tâche ne teste pas rigoureusement les dépendances lointaines. Source : figures/01_signal_synthetique.png et resultats/comparaison_finale_test.csv.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RNN lit les observations dans l’ordre. À chaque instant, elle combine l’entrée actuelle et son état précédent. Les poids sont partagés entre les instants. L’état est un vecteur appris, pas une copie exacte de tout le passé. Expliquer chaque symbole : x est l’entrée, h l’état, W les poids, b le biais. Le calcul se répète sur les 72 instants, puis Dense produit la prévision. Les dépendances longues peuvent être difficiles à apprendre, notamment à cause des gradients qui diminuent ou augmentent. Nos courbes seules ne prouvent pas ce mécanisme. Sources : https://keras.io/api/layers/recurrent_layers/simple_rnn/ ; https://keras.io/api/layers/recurrent_layers/lstm/ ; https://keras.io/api/layers/recurrent_layers/gru/</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LSTM appartient à la famille des réseaux récurrents. Elle possède l’état caché h et l’état de cellule c. La porte d’oubli module l’ancienne mémoire. La porte d’entrée module l’ajout d’une information candidate. La porte de sortie module l’information transmise dans h. Les portes utilisent des valeurs entre zéro et un, apprises, et non des décisions humaines. La formule de cellule illustre la conservation additive. Le symbole ⊙ indique un produit composante par composante. LSTM facilite la gestion du passé sans garantir la meilleure erreur sur chaque problème. Sources : https://keras.io/api/layers/recurrent_layers/simple_rnn/ ; https://keras.io/api/layers/recurrent_layers/lstm/ ; https://keras.io/api/layers/recurrent_layers/gru/</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GRU est aussi récurrente. Elle n’a pas d’état de cellule séparé. La porte de réinitialisation règle l’utilisation du passé lors du calcul de l’état candidat. La porte de mise à jour règle la combinaison de l’ancien état et de l’état candidat. Avec la convention affichée, z favorise l’ancien état lorsqu’il est proche de un. D’autres textes utilisent la convention complémentaire. Ici, la variante Keras reset_after=True emploie deux ensembles de biais. Elle explique le comptage de paramètres. Sources : https://keras.io/api/layers/recurrent_layers/simple_rnn/ ; https://keras.io/api/layers/recurrent_layers/lstm/ ; https://keras.io/api/layers/recurrent_layers/gru/</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72 pas correspondent aux observations, et les 32 unités à la taille de l’état caché. Dense(1) transforme le dernier état en température standardisée prévue. Les trois modèles relisent chaque fenêtre avec un nouvel état initial, car stateful=False. La longueur 72 n’augmente pas le nombre de poids récurrents, car ils sont partagés. Les comptes incluent les 33 paramètres de Dense. Source : resultats/jena/4614d659431c/architectures.csv et documentation Keras.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données proviennent du Max Planck Institute for Biogeochemistry. L’archive du tutoriel TensorFlow couvre 2009 à 2016. Elle comprend quatorze variables météorologiques, mais notre expérience n’utilise que T (degC). Nous calculons des moyennes horaires, alors que le tutoriel sélectionne une mesure sur six. Une heure étiquetée 14 h résume [13 h,14 h). Les 70 129 positions horaires comprennent des lacunes. La dernière étiquette déborde au 1er janvier 2017 à cause du regroupement. Source externe : https://www.tensorflow.org/tutorials/structured_data/time_series . Source locale : protocole.json.</a:t>
            </a:r>
          </a:p>
          <a:p xmlns:a="http://schemas.openxmlformats.org/drawingml/2006/main">
            <a:r>
              <a:t>Le graphique montre des moyennes mensuelles de janvier 2009 à décembre 2015 pour visualiser la saisonnalité. Cette agrégation sert uniquement à la présentation. Les modèles reçoivent les moyennes horaires. Source : archive Jena, T (degC).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contrôle a trouvé 327 dates dupliquées dans les lignes originales et 88 positions horaires manquantes. Il n’a pas trouvé de température brute hors de notre plage de contrôle ni de valeur brute absente. L’absence de ligne n’est pas une valeur NaN dans un CSV avant création de la grille. Les deux périodes manquantes durent 15 et 73 heures. Nous remplissons les trois premières heures de chaque lacune depuis le passé, et conservons les 82 heures restantes comme absentes. Nous excluons ensuite fenêtres incomplètes, cibles initialement manquantes et références hebdomadaires absentes. Les motifs se recouvrent : leur somme n’est pas le total exclu. Au total, 348 candidats sont exclus avant les délais de frontière. Source : protocole.json, exclusions.json et periodes_manquantes.csv.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Lire le graphique de gauche à droite. Chaque point bleu correspond à une moyenne horaire disponible. Les 72 dernières observations couvrent trois jours au sens de 72 mesures horaires, leur première et dernière étiquettes étant espacées de 71 heures. La zone grise couvre l’horizon. Le point rouge est une cible d’entraînement. Les températures intermédiaires ne sont pas fournies au modèle. À chaque instant de prévision ultérieur, nous utilisons les observations réellement devenues disponibles. Ce n’est pas une simulation récursive de toute la période. Source : figures/jena/4614d659431c/02_fenetre_horizon.png.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proportions portent sur la grille horaire brute, avant exclusions, puis les exemples sont affectés par leur cible. Cela explique que les nombres finaux ne soient pas exactement 70/15/15. Les premiers 24 h de cibles de validation et de test sont écartés afin que les modèles n’aient pas appris d’étiquettes encore futures au moment de prévoir. Des observations du passé peuvent figurer dans une fenêtre du jeu suivant. La standardisation utilise uniquement l’entraînement, moyenne 9,110 °C et écart-type 8,645 °C. Les exemples voisins se chevauchent. Source : divisions.csv et protocole.json.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époque est un passage sur tous les exemples d’entraînement, avec une mise à jour par lot. L’ordre reste chronologique et la mémoire ne passe pas d’une fenêtre à l’autre. Nous gardons les mêmes hyperparamètres, ce qui donne une comparaison contrôlée mais pas la performance optimale de chaque architecture. La graine est la même, mais les poids diffèrent en forme et l’exécution GPU n’est pas nécessairement reproductible bit à bit. Le modèle évalué est celui de la vingtième époque, et non le meilleur point choisi après coup. Aucun réglage ne change après la lecture du test. Source : protocole.json et Notebook 02.</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Prendre trois erreurs absolues : 2, 1 et 3 degrés. MAE vaut 2 degrés. Le carré moyen vaut (4+1+9)/3, soit 4,667 degrés carrés. Sa racine donne RMSE 2,160 degrés. Les carrés donnent davantage de poids aux grandes erreurs. Une MAE de 2,46 degrés ne signifie pas que chaque point se trompe exactement de 2,46 degrés et ne correspond pas à un pourcentage de précision. Durant fit, nous minimisons la MSE sur les températures standardisées. Pour le tableau final, nous revenons en °C avant de calculer les deux métriques.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À l’instant t, nous prévoyons la température t+24. La persistance emploie T(t). C’est aussi la même heure la veille de la cible, donc ces deux noms désignent la même prédiction ici. Le modèle hebdomadaire emploie la valeur une semaine avant la cible, soit t−144, qui est disponible mais hors de la fenêtre réseau. Les méthodes ne reçoivent donc pas exactement les mêmes données historiques, mais respectent toutes la disponibilité temporelle et les mêmes cibles. Une référence hebdomadaire n’est pas nécessairement forte en météo. Source : references_validation.csv, comparaison_test.csv.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reproduit les MSE normalisées de validation à chaque époque. LSTM et GRU évoluent plus régulièrement, tandis que SimpleRNN oscille. Cette observation décrit cette initialisation, cet ordre des exemples et ce réglage. Elle n’est pas une preuve isolée de disparition du gradient. L’entraînement de LSTM baisse encore tandis que sa validation plafonne : cela invite à examiner la généralisation, mais nous conservons le protocole fixé. Les poids finaux à l’époque vingt alimentent tous les scores. Source : historique_SimpleRNN.csv, historique_LSTM.csv et historique_GRU.csv.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Lire le tableau en degrés Celsius. Le test comprend 10 258 cibles. GRU présente les plus petites erreurs de cette exécution, puis LSTM. La différence de MAE entre elles est seulement 0,00456 °C. SimpleRNN se situe légèrement au-dessus de la persistance. La référence hebdomadaire est nettement moins bonne. Nous montrons tous les résultats, même lorsqu’un réseau ne bat pas la méthode simple. Source : comparaison_test.csv, expérience 4614d659431c.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 Le graphique commence à zéro pour ne pas exagérer les faibles écarts. Il compare la persistance et les trois réseaux. La référence hebdomadaire reste dans le tableau complet de la diapositive précédente. GRU réduit la MAE de 0,03371 °C, soit 1,35 %. LSTM la réduit de 0,02915 °C, soit 1,17 %. SimpleRNN augmente la MAE de 2,66 %. Une seule exécution ne permet pas une conclusion de supériorité statistique. Source : resultats/jena/4614d659431c/comparaison_test.csv.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 Le blanc représente la température réelle, le gris la persistance et les couleurs les trois réseaux. La première semaine du test a été choisie avant inspection. Pour la lisibilité, le graphique affiche une mesure sur six, sans moyenne supplémentaire. Les métriques utilisent toutes les cibles horaires du test. Chaque prévision a été émise vingt-quatre heures avant sa cible. Certaines baisses restent mal anticipées par les méthodes. La température seule ne fournit pas toutes les informations météorologiques. Cette explication est une limite plausible du protocole, pas une cause isolée démontrée. Source : predictions_test.csv et figure complète du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 À gauche, comparer le temps total de fit, démarrage inclus. À droite, lire la durée médiane des époques deux à vingt. GRU termine plus vite dans cette session et présente la plus petite médiane après démarrage. Les implémentations GPU, la compilation et l’ordre d’exécution peuvent influencer ces mesures. Le nombre de paramètres, déjà présenté, ne prédit pas seul la vitesse. Source : comparaison_test.csv et fichiers temps des trois modèles.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station et la température seule ne couvrent pas toutes les informations météo. Nous étudions un horizon unique de vingt-quatre heures et des fenêtres de soixante-douze heures. La comparaison garde les hyperparamètres égaux, sans optimiser chaque architecture. Une seule initialisation ne renseigne pas sur la dispersion des scores. Les fenêtres se recouvrent et les années diffèrent selon le jeu. Les résultats synthétiques et réels ne sont pas comparables en valeur brute. Des prolongements peuvent utiliser plusieurs graines, d’autres horizons et des variables supplémentaires. Comme nous avons déjà lu le test, tout réglage ultérieur devra être évalué sur une nouvelle période tenue à l’écart.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Revenir à la question initiale. Une mémoire plus élaborée n’entraîne pas automatiquement un grand gain. Sur la sinusoïde, les réseaux améliorent nettement la persistance. Sur Jena à vingt-quatre heures, la persistance constitue une référence forte, et les gains de LSTM et GRU restent modestes. GRU présente le meilleur compromis observé entre score et temps sur cette session, mais LSTM est quasiment équivalente en erreur. SimpleRNN suffit sur l’exemple simple, pas pour battre notre référence météo avec ces réglages. Insister sur la conclusion limitée au protocole.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Temps réservé aux échanges. Si l’on demande pourquoi les modèles n’améliorent que peu la référence : citer l’horizon vingt-quatre heures, la température seule, la force de la persistance quotidienne et les réglages communs non optimisés. Ne pas présenter ces facteurs comme des causes démontrées séparément. Pour la vitesse, rappeler les implémentations GPU et les temps après démarrage. Pour le classement, rappeler la graine unique.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durée principale. Pour d=1 et u=32, SimpleRNN a u(d+u+1)=1 088 paramètres récurrents. LSTM en a quatre fois autant, 4 352. La variante GRU reset_after=True possède 3u(d+u+2)=3 360 paramètres, en raison des deux groupes de biais. Dense(1) ajoute u+1=33 à chaque modèle. Ainsi les comptes totaux sont 1 121, 4 385 et 3 393. Ces paramètres sont partagés dans le temps. La fenêtre n’est pas multipliée par le nombre de poids. Sources : https://keras.io/api/layers/recurrent_layers/simple_rnn/ ; https://keras.io/api/layers/recurrent_layers/lstm/ ; https://keras.io/api/layers/recurrent_layers/gru/</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à consulter pour les données et les API. Les scores expérimentaux proviennent exclusivement des fichiers locaux de l’utilisateur. Expérience Jena 4614d659431c, archive SHA-256 63d757501e92284a7de7cdbef0337f03b24e13ead7ac2b5b8c86a18d8e38ba5b. Python 3.12.3, TensorFlow 2.21.0, Keras 3.15.1. Archive : https://storage.googleapis.com/tensorflow/tf-keras-datasets/jena_climate_2009_2016.csv.zip. Sources : https://keras.io/api/layers/recurrent_layers/simple_rnn/ ; https://keras.io/api/layers/recurrent_layers/lstm/ ; https://keras.io/api/layers/recurrent_layers/gru/</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becef52e04b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65258e2a4949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d0fc0ca75a45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998f487fe44b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6bbb77f3f741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9f7552b9e04d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F01AD9-5EE9-4721-85D6-7E8AEA338B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89B322-7E6B-489F-BE97-CCD2309437F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921B0F-5EF1-4580-ADFE-713D0AF368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2C800D-CFF7-4CE4-8D5A-C4DC4C8C26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BE63E6-F23C-4D3E-8DE8-526E279A2B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5A26B1-66FD-4BAA-B449-73CB5F6D13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A455B5-E507-4853-9E2D-4EB85766D7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1A156E-DEED-49E9-8979-69F030F1AB2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9619A4-E18F-4D53-BF82-F097283C6D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B59852-46FB-4305-B33B-A42619928E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e14c6587444f23" /><Relationship Type="http://schemas.openxmlformats.org/officeDocument/2006/relationships/slideLayout" Target="/ppt/slideLayouts/slideLayout1.xml" Id="Rfdf24878842c47f5" /><Relationship Type="http://schemas.openxmlformats.org/officeDocument/2006/relationships/slideLayout" Target="/ppt/slideLayouts/slideLayout2.xml" Id="Rb0da07ae95954c49" /><Relationship Type="http://schemas.openxmlformats.org/officeDocument/2006/relationships/slideLayout" Target="/ppt/slideLayouts/slideLayout3.xml" Id="R4b5678a27bad4dec" /><Relationship Type="http://schemas.openxmlformats.org/officeDocument/2006/relationships/slideLayout" Target="/ppt/slideLayouts/slideLayout4.xml" Id="Re3b00c5444d640d1" /><Relationship Type="http://schemas.openxmlformats.org/officeDocument/2006/relationships/slideLayout" Target="/ppt/slideLayouts/slideLayout5.xml" Id="R0fda406978aa4619" /><Relationship Type="http://schemas.openxmlformats.org/officeDocument/2006/relationships/slideLayout" Target="/ppt/slideLayouts/slideLayout6.xml" Id="Rbb0fe01600e94d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f24878842c47f5"/>
    <p:sldLayoutId xmlns:r="http://schemas.openxmlformats.org/officeDocument/2006/relationships" id="2147483650" r:id="Rb0da07ae95954c49"/>
    <p:sldLayoutId xmlns:r="http://schemas.openxmlformats.org/officeDocument/2006/relationships" id="2147483651" r:id="R4b5678a27bad4dec"/>
    <p:sldLayoutId xmlns:r="http://schemas.openxmlformats.org/officeDocument/2006/relationships" id="2147483652" r:id="Re3b00c5444d640d1"/>
    <p:sldLayoutId xmlns:r="http://schemas.openxmlformats.org/officeDocument/2006/relationships" id="2147483653" r:id="R0fda406978aa4619"/>
    <p:sldLayoutId xmlns:r="http://schemas.openxmlformats.org/officeDocument/2006/relationships" id="2147483654" r:id="Rbb0fe01600e94d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fdb725a617f4e6a" /><Relationship Type="http://schemas.openxmlformats.org/officeDocument/2006/relationships/image" Target="/ppt/media/image.png" Id="Rea1964565af2437c" /><Relationship Type="http://schemas.openxmlformats.org/officeDocument/2006/relationships/notesSlide" Target="/ppt/notesSlides/notesSlide1.xml" Id="R37f5f9daba6843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0dc3c1428346b8" /><Relationship Type="http://schemas.openxmlformats.org/officeDocument/2006/relationships/notesSlide" Target="/ppt/notesSlides/notesSlide2.xml" Id="Ra10652ac606a4c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6984b5a6f44ffb" /><Relationship Type="http://schemas.openxmlformats.org/officeDocument/2006/relationships/notesSlide" Target="/ppt/notesSlides/notesSlide3.xml" Id="Rd10b264085b44d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f2c12cbdac4f03" /><Relationship Type="http://schemas.openxmlformats.org/officeDocument/2006/relationships/image" Target="/ppt/media/image2.png" Id="R6e2c9efd3f504c77" /><Relationship Type="http://schemas.openxmlformats.org/officeDocument/2006/relationships/notesSlide" Target="/ppt/notesSlides/notesSlide4.xml" Id="R5208c6a632fc49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d6a8f0760148f0" /><Relationship Type="http://schemas.openxmlformats.org/officeDocument/2006/relationships/notesSlide" Target="/ppt/notesSlides/notesSlide5.xml" Id="R9d12511a363746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d8a62cb59844e4" /><Relationship Type="http://schemas.openxmlformats.org/officeDocument/2006/relationships/notesSlide" Target="/ppt/notesSlides/notesSlide6.xml" Id="R28f70d6f351843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be45b820454d5b" /><Relationship Type="http://schemas.openxmlformats.org/officeDocument/2006/relationships/notesSlide" Target="/ppt/notesSlides/notesSlide7.xml" Id="Rcf60024ecfe748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e91d68bf3f42da" /><Relationship Type="http://schemas.openxmlformats.org/officeDocument/2006/relationships/notesSlide" Target="/ppt/notesSlides/notesSlide8.xml" Id="R7cfc2186aaa741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f6b61ac84d4405" /><Relationship Type="http://schemas.openxmlformats.org/officeDocument/2006/relationships/chart" Target="/ppt/slides/charts/chart1.xml" Id="R30fe9f55adc64beb" /><Relationship Type="http://schemas.openxmlformats.org/officeDocument/2006/relationships/notesSlide" Target="/ppt/notesSlides/notesSlide9.xml" Id="Rb6f24959e90547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262e0fb2ac4d52" /><Relationship Type="http://schemas.openxmlformats.org/officeDocument/2006/relationships/notesSlide" Target="/ppt/notesSlides/notesSlide10.xml" Id="Ree3c85592c7442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16564ebc2904e15" /><Relationship Type="http://schemas.openxmlformats.org/officeDocument/2006/relationships/image" Target="/ppt/media/image3.png" Id="R3a4463d63d9c4f38" /><Relationship Type="http://schemas.openxmlformats.org/officeDocument/2006/relationships/notesSlide" Target="/ppt/notesSlides/notesSlide11.xml" Id="R0dad5920afc84c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aa243d437f5438a" /><Relationship Type="http://schemas.openxmlformats.org/officeDocument/2006/relationships/notesSlide" Target="/ppt/notesSlides/notesSlide12.xml" Id="R1e38db672e7d45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10f78d33f34cc8" /><Relationship Type="http://schemas.openxmlformats.org/officeDocument/2006/relationships/notesSlide" Target="/ppt/notesSlides/notesSlide13.xml" Id="R0bfd9a1d9e7c4c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e4b9a7132594623" /><Relationship Type="http://schemas.openxmlformats.org/officeDocument/2006/relationships/notesSlide" Target="/ppt/notesSlides/notesSlide14.xml" Id="R42e83b9e924240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24b68e96dcb4832" /><Relationship Type="http://schemas.openxmlformats.org/officeDocument/2006/relationships/notesSlide" Target="/ppt/notesSlides/notesSlide15.xml" Id="R840c547a1af545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8d4f350cd16404f" /><Relationship Type="http://schemas.openxmlformats.org/officeDocument/2006/relationships/chart" Target="/ppt/slides/charts/chart2.xml" Id="R8816f62f62d74a25" /><Relationship Type="http://schemas.openxmlformats.org/officeDocument/2006/relationships/notesSlide" Target="/ppt/notesSlides/notesSlide16.xml" Id="Re93eae34b50641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c00f8ddba7f48a5" /><Relationship Type="http://schemas.openxmlformats.org/officeDocument/2006/relationships/notesSlide" Target="/ppt/notesSlides/notesSlide17.xml" Id="R11aee26f8e364c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5558a11759942e4" /><Relationship Type="http://schemas.openxmlformats.org/officeDocument/2006/relationships/chart" Target="/ppt/slides/charts/chart3.xml" Id="R8a7d6ba549da4ac1" /><Relationship Type="http://schemas.openxmlformats.org/officeDocument/2006/relationships/notesSlide" Target="/ppt/notesSlides/notesSlide18.xml" Id="Rfe7dc65b96fd45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583b8bdc4dd454d" /><Relationship Type="http://schemas.openxmlformats.org/officeDocument/2006/relationships/chart" Target="/ppt/slides/charts/chart4.xml" Id="R49e0e090700749d5" /><Relationship Type="http://schemas.openxmlformats.org/officeDocument/2006/relationships/notesSlide" Target="/ppt/notesSlides/notesSlide19.xml" Id="R2d1cbb2c4dce4f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17728426c0496f" /><Relationship Type="http://schemas.openxmlformats.org/officeDocument/2006/relationships/chart" Target="/ppt/slides/charts/chart5.xml" Id="R20f630c77d3b4abd" /><Relationship Type="http://schemas.openxmlformats.org/officeDocument/2006/relationships/notesSlide" Target="/ppt/notesSlides/notesSlide20.xml" Id="Rca7849b5bee54b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38c0d0da4764276" /><Relationship Type="http://schemas.openxmlformats.org/officeDocument/2006/relationships/notesSlide" Target="/ppt/notesSlides/notesSlide21.xml" Id="Rf36926b858374be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3e8509c393c4c10" /><Relationship Type="http://schemas.openxmlformats.org/officeDocument/2006/relationships/notesSlide" Target="/ppt/notesSlides/notesSlide22.xml" Id="Rfb9b55cd138b4e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ad62254c4f748a3" /><Relationship Type="http://schemas.openxmlformats.org/officeDocument/2006/relationships/image" Target="/ppt/media/image4.png" Id="R05ba03fcf9684470" /><Relationship Type="http://schemas.openxmlformats.org/officeDocument/2006/relationships/notesSlide" Target="/ppt/notesSlides/notesSlide23.xml" Id="R8e19740b51c8439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70bae160e9d4996" /><Relationship Type="http://schemas.openxmlformats.org/officeDocument/2006/relationships/notesSlide" Target="/ppt/notesSlides/notesSlide24.xml" Id="R397b51b074144b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b4825f455f54583" /><Relationship Type="http://schemas.openxmlformats.org/officeDocument/2006/relationships/notesSlide" Target="/ppt/notesSlides/notesSlide25.xml" Id="Rdd04d1ff09cf431b" /></Relationships>
</file>

<file path=ppt/slides/charts/chart1.xml><?xml version="1.0" encoding="utf-8"?>
<c:chartSpace xmlns:c="http://schemas.openxmlformats.org/drawingml/2006/chart">
  <c:lang val="en-US"/>
  <c:chart>
    <c:plotArea>
      <c:lineChart>
        <c:grouping val="standard"/>
        <c:varyColors val="0"/>
        <c:ser>
          <c:idx val="0"/>
          <c:order val="0"/>
          <c:tx>
            <c:v>Moyenne mensuelle</c:v>
          </c:tx>
          <c:spPr>
            <a:ln xmlns:a="http://schemas.openxmlformats.org/drawingml/2006/main" w="28575">
              <a:solidFill>
                <a:srgbClr val="28749E"/>
              </a:solidFill>
            </a:ln>
          </c:spPr>
          <c:marker>
            <c:symbol val="none"/>
          </c:marker>
          <c:cat>
            <c:strLit>
              <c:ptCount val="84"/>
              <c:pt idx="0">
                <c:v>2009-01-01</c:v>
              </c:pt>
              <c:pt idx="1">
                <c:v>2009-02-01</c:v>
              </c:pt>
              <c:pt idx="2">
                <c:v>2009-03-01</c:v>
              </c:pt>
              <c:pt idx="3">
                <c:v>2009-04-01</c:v>
              </c:pt>
              <c:pt idx="4">
                <c:v>2009-05-01</c:v>
              </c:pt>
              <c:pt idx="5">
                <c:v>2009-06-01</c:v>
              </c:pt>
              <c:pt idx="6">
                <c:v>2009-07-01</c:v>
              </c:pt>
              <c:pt idx="7">
                <c:v>2009-08-01</c:v>
              </c:pt>
              <c:pt idx="8">
                <c:v>2009-09-01</c:v>
              </c:pt>
              <c:pt idx="9">
                <c:v>2009-10-01</c:v>
              </c:pt>
              <c:pt idx="10">
                <c:v>2009-11-01</c:v>
              </c:pt>
              <c:pt idx="11">
                <c:v>2009-12-01</c:v>
              </c:pt>
              <c:pt idx="12">
                <c:v>2010-01-01</c:v>
              </c:pt>
              <c:pt idx="13">
                <c:v>2010-02-01</c:v>
              </c:pt>
              <c:pt idx="14">
                <c:v>2010-03-01</c:v>
              </c:pt>
              <c:pt idx="15">
                <c:v>2010-04-01</c:v>
              </c:pt>
              <c:pt idx="16">
                <c:v>2010-05-01</c:v>
              </c:pt>
              <c:pt idx="17">
                <c:v>2010-06-01</c:v>
              </c:pt>
              <c:pt idx="18">
                <c:v>2010-07-01</c:v>
              </c:pt>
              <c:pt idx="19">
                <c:v>2010-08-01</c:v>
              </c:pt>
              <c:pt idx="20">
                <c:v>2010-09-01</c:v>
              </c:pt>
              <c:pt idx="21">
                <c:v>2010-10-01</c:v>
              </c:pt>
              <c:pt idx="22">
                <c:v>2010-11-01</c:v>
              </c:pt>
              <c:pt idx="23">
                <c:v>2010-12-01</c:v>
              </c:pt>
              <c:pt idx="24">
                <c:v>2011-01-01</c:v>
              </c:pt>
              <c:pt idx="25">
                <c:v>2011-02-01</c:v>
              </c:pt>
              <c:pt idx="26">
                <c:v>2011-03-01</c:v>
              </c:pt>
              <c:pt idx="27">
                <c:v>2011-04-01</c:v>
              </c:pt>
              <c:pt idx="28">
                <c:v>2011-05-01</c:v>
              </c:pt>
              <c:pt idx="29">
                <c:v>2011-06-01</c:v>
              </c:pt>
              <c:pt idx="30">
                <c:v>2011-07-01</c:v>
              </c:pt>
              <c:pt idx="31">
                <c:v>2011-08-01</c:v>
              </c:pt>
              <c:pt idx="32">
                <c:v>2011-09-01</c:v>
              </c:pt>
              <c:pt idx="33">
                <c:v>2011-10-01</c:v>
              </c:pt>
              <c:pt idx="34">
                <c:v>2011-11-01</c:v>
              </c:pt>
              <c:pt idx="35">
                <c:v>2011-12-01</c:v>
              </c:pt>
              <c:pt idx="36">
                <c:v>2012-01-01</c:v>
              </c:pt>
              <c:pt idx="37">
                <c:v>2012-02-01</c:v>
              </c:pt>
              <c:pt idx="38">
                <c:v>2012-03-01</c:v>
              </c:pt>
              <c:pt idx="39">
                <c:v>2012-04-01</c:v>
              </c:pt>
              <c:pt idx="40">
                <c:v>2012-05-01</c:v>
              </c:pt>
              <c:pt idx="41">
                <c:v>2012-06-01</c:v>
              </c:pt>
              <c:pt idx="42">
                <c:v>2012-07-01</c:v>
              </c:pt>
              <c:pt idx="43">
                <c:v>2012-08-01</c:v>
              </c:pt>
              <c:pt idx="44">
                <c:v>2012-09-01</c:v>
              </c:pt>
              <c:pt idx="45">
                <c:v>2012-10-01</c:v>
              </c:pt>
              <c:pt idx="46">
                <c:v>2012-11-01</c:v>
              </c:pt>
              <c:pt idx="47">
                <c:v>2012-12-01</c:v>
              </c:pt>
              <c:pt idx="48">
                <c:v>2013-01-01</c:v>
              </c:pt>
              <c:pt idx="49">
                <c:v>2013-02-01</c:v>
              </c:pt>
              <c:pt idx="50">
                <c:v>2013-03-01</c:v>
              </c:pt>
              <c:pt idx="51">
                <c:v>2013-04-01</c:v>
              </c:pt>
              <c:pt idx="52">
                <c:v>2013-05-01</c:v>
              </c:pt>
              <c:pt idx="53">
                <c:v>2013-06-01</c:v>
              </c:pt>
              <c:pt idx="54">
                <c:v>2013-07-01</c:v>
              </c:pt>
              <c:pt idx="55">
                <c:v>2013-08-01</c:v>
              </c:pt>
              <c:pt idx="56">
                <c:v>2013-09-01</c:v>
              </c:pt>
              <c:pt idx="57">
                <c:v>2013-10-01</c:v>
              </c:pt>
              <c:pt idx="58">
                <c:v>2013-11-01</c:v>
              </c:pt>
              <c:pt idx="59">
                <c:v>2013-12-01</c:v>
              </c:pt>
              <c:pt idx="60">
                <c:v>2014-01-01</c:v>
              </c:pt>
              <c:pt idx="61">
                <c:v>2014-02-01</c:v>
              </c:pt>
              <c:pt idx="62">
                <c:v>2014-03-01</c:v>
              </c:pt>
              <c:pt idx="63">
                <c:v>2014-04-01</c:v>
              </c:pt>
              <c:pt idx="64">
                <c:v>2014-05-01</c:v>
              </c:pt>
              <c:pt idx="65">
                <c:v>2014-06-01</c:v>
              </c:pt>
              <c:pt idx="66">
                <c:v>2014-07-01</c:v>
              </c:pt>
              <c:pt idx="67">
                <c:v>2014-08-01</c:v>
              </c:pt>
              <c:pt idx="68">
                <c:v>2014-09-01</c:v>
              </c:pt>
              <c:pt idx="69">
                <c:v>2014-10-01</c:v>
              </c:pt>
              <c:pt idx="70">
                <c:v>2014-11-01</c:v>
              </c:pt>
              <c:pt idx="71">
                <c:v>2014-12-01</c:v>
              </c:pt>
              <c:pt idx="72">
                <c:v>2015-01-01</c:v>
              </c:pt>
              <c:pt idx="73">
                <c:v>2015-02-01</c:v>
              </c:pt>
              <c:pt idx="74">
                <c:v>2015-03-01</c:v>
              </c:pt>
              <c:pt idx="75">
                <c:v>2015-04-01</c:v>
              </c:pt>
              <c:pt idx="76">
                <c:v>2015-05-01</c:v>
              </c:pt>
              <c:pt idx="77">
                <c:v>2015-06-01</c:v>
              </c:pt>
              <c:pt idx="78">
                <c:v>2015-07-01</c:v>
              </c:pt>
              <c:pt idx="79">
                <c:v>2015-08-01</c:v>
              </c:pt>
              <c:pt idx="80">
                <c:v>2015-09-01</c:v>
              </c:pt>
              <c:pt idx="81">
                <c:v>2015-10-01</c:v>
              </c:pt>
              <c:pt idx="82">
                <c:v>2015-11-01</c:v>
              </c:pt>
              <c:pt idx="83">
                <c:v>2015-12-01</c:v>
              </c:pt>
            </c:strLit>
          </c:cat>
          <c:val>
            <c:numLit>
              <c:formatCode>0.00</c:formatCode>
              <c:ptCount val="84"/>
              <c:pt idx="0">
                <c:v>-3.6287492148945715</c:v>
              </c:pt>
              <c:pt idx="1">
                <c:v>0.15721478174603176</c:v>
              </c:pt>
              <c:pt idx="2">
                <c:v>3.992074372759857</c:v>
              </c:pt>
              <c:pt idx="3">
                <c:v>11.881375</c:v>
              </c:pt>
              <c:pt idx="4">
                <c:v>13.430374103942652</c:v>
              </c:pt>
              <c:pt idx="5">
                <c:v>14.240368055555557</c:v>
              </c:pt>
              <c:pt idx="6">
                <c:v>18.000127688172043</c:v>
              </c:pt>
              <c:pt idx="7">
                <c:v>18.883882168458783</c:v>
              </c:pt>
              <c:pt idx="8">
                <c:v>14.29461574074074</c:v>
              </c:pt>
              <c:pt idx="9">
                <c:v>7.585485215053763</c:v>
              </c:pt>
              <c:pt idx="10">
                <c:v>7.159391203703703</c:v>
              </c:pt>
              <c:pt idx="11">
                <c:v>-0.47736783154121865</c:v>
              </c:pt>
              <c:pt idx="12">
                <c:v>-4.994805107526881</c:v>
              </c:pt>
              <c:pt idx="13">
                <c:v>-0.9641468253968254</c:v>
              </c:pt>
              <c:pt idx="14">
                <c:v>4.098870967741935</c:v>
              </c:pt>
              <c:pt idx="15">
                <c:v>8.547803240740741</c:v>
              </c:pt>
              <c:pt idx="16">
                <c:v>10.292011648745518</c:v>
              </c:pt>
              <c:pt idx="17">
                <c:v>16.85485416666667</c:v>
              </c:pt>
              <c:pt idx="18">
                <c:v>20.754415933528836</c:v>
              </c:pt>
              <c:pt idx="19">
                <c:v>16.33962365591398</c:v>
              </c:pt>
              <c:pt idx="20">
                <c:v>11.911060185185185</c:v>
              </c:pt>
              <c:pt idx="21">
                <c:v>7.467887544802868</c:v>
              </c:pt>
              <c:pt idx="22">
                <c:v>4.135324074074074</c:v>
              </c:pt>
              <c:pt idx="23">
                <c:v>-5.322701612903226</c:v>
              </c:pt>
              <c:pt idx="24">
                <c:v>0.47038530465949824</c:v>
              </c:pt>
              <c:pt idx="25">
                <c:v>-0.23318948412698415</c:v>
              </c:pt>
              <c:pt idx="26">
                <c:v>4.460224014336918</c:v>
              </c:pt>
              <c:pt idx="27">
                <c:v>11.42575925925926</c:v>
              </c:pt>
              <c:pt idx="28">
                <c:v>13.758608870967743</c:v>
              </c:pt>
              <c:pt idx="29">
                <c:v>16.58096527777778</c:v>
              </c:pt>
              <c:pt idx="30">
                <c:v>16.11192652329749</c:v>
              </c:pt>
              <c:pt idx="31">
                <c:v>17.70918234767025</c:v>
              </c:pt>
              <c:pt idx="32">
                <c:v>15.019898148148147</c:v>
              </c:pt>
              <c:pt idx="33">
                <c:v>8.924045698924731</c:v>
              </c:pt>
              <c:pt idx="34">
                <c:v>3.306048611111111</c:v>
              </c:pt>
              <c:pt idx="35">
                <c:v>3.477952508960574</c:v>
              </c:pt>
              <c:pt idx="36">
                <c:v>1.43019041218638</c:v>
              </c:pt>
              <c:pt idx="37">
                <c:v>-3.1181728927203065</c:v>
              </c:pt>
              <c:pt idx="38">
                <c:v>7.743407258064517</c:v>
              </c:pt>
              <c:pt idx="39">
                <c:v>9.028465277777778</c:v>
              </c:pt>
              <c:pt idx="40">
                <c:v>15.40100806451613</c:v>
              </c:pt>
              <c:pt idx="41">
                <c:v>16.193092592592592</c:v>
              </c:pt>
              <c:pt idx="42">
                <c:v>18.47717965949821</c:v>
              </c:pt>
              <c:pt idx="43">
                <c:v>19.62280017921147</c:v>
              </c:pt>
              <c:pt idx="44">
                <c:v>14.44019675925926</c:v>
              </c:pt>
              <c:pt idx="45">
                <c:v>8.82377688172043</c:v>
              </c:pt>
              <c:pt idx="46">
                <c:v>5.414699074074075</c:v>
              </c:pt>
              <c:pt idx="47">
                <c:v>1.7883086917562725</c:v>
              </c:pt>
              <c:pt idx="48">
                <c:v>0.037620967741935456</c:v>
              </c:pt>
              <c:pt idx="49">
                <c:v>-0.7113616071428572</c:v>
              </c:pt>
              <c:pt idx="50">
                <c:v>-0.7933915770609319</c:v>
              </c:pt>
              <c:pt idx="51">
                <c:v>8.726560185185186</c:v>
              </c:pt>
              <c:pt idx="52">
                <c:v>12.307271057347672</c:v>
              </c:pt>
              <c:pt idx="53">
                <c:v>16.30296296296296</c:v>
              </c:pt>
              <c:pt idx="54">
                <c:v>20.328577508960574</c:v>
              </c:pt>
              <c:pt idx="55">
                <c:v>18.562275985663085</c:v>
              </c:pt>
              <c:pt idx="56">
                <c:v>13.82301851851852</c:v>
              </c:pt>
              <c:pt idx="57">
                <c:v>11.04489247311828</c:v>
              </c:pt>
              <c:pt idx="58">
                <c:v>4.659851851851852</c:v>
              </c:pt>
              <c:pt idx="59">
                <c:v>4.131075268817204</c:v>
              </c:pt>
              <c:pt idx="60">
                <c:v>2.047083333333333</c:v>
              </c:pt>
              <c:pt idx="61">
                <c:v>4.987723214285714</c:v>
              </c:pt>
              <c:pt idx="62">
                <c:v>7.300846027479092</c:v>
              </c:pt>
              <c:pt idx="63">
                <c:v>11.450849537037039</c:v>
              </c:pt>
              <c:pt idx="64">
                <c:v>12.89258064516129</c:v>
              </c:pt>
              <c:pt idx="65">
                <c:v>16.622256944444445</c:v>
              </c:pt>
              <c:pt idx="66">
                <c:v>20.137414874551972</c:v>
              </c:pt>
              <c:pt idx="67">
                <c:v>16.46363799283154</c:v>
              </c:pt>
              <c:pt idx="68">
                <c:v>15.268011820330969</c:v>
              </c:pt>
              <c:pt idx="69">
                <c:v>12.241173835125448</c:v>
              </c:pt>
              <c:pt idx="70">
                <c:v>6.165236111111112</c:v>
              </c:pt>
              <c:pt idx="71">
                <c:v>2.5508221326164877</c:v>
              </c:pt>
              <c:pt idx="72">
                <c:v>2.598095878136201</c:v>
              </c:pt>
              <c:pt idx="73">
                <c:v>1.0592063492063493</c:v>
              </c:pt>
              <c:pt idx="74">
                <c:v>5.23611559139785</c:v>
              </c:pt>
              <c:pt idx="75">
                <c:v>8.848152777777777</c:v>
              </c:pt>
              <c:pt idx="76">
                <c:v>13.346946684587815</c:v>
              </c:pt>
              <c:pt idx="77">
                <c:v>16.453805555555554</c:v>
              </c:pt>
              <c:pt idx="78">
                <c:v>20.592157258064518</c:v>
              </c:pt>
              <c:pt idx="79">
                <c:v>20.912795698924732</c:v>
              </c:pt>
              <c:pt idx="80">
                <c:v>13.459479166666668</c:v>
              </c:pt>
              <c:pt idx="81">
                <c:v>8.234825268817204</c:v>
              </c:pt>
              <c:pt idx="82">
                <c:v>8.008261574074075</c:v>
              </c:pt>
              <c:pt idx="83">
                <c:v>6.624988799283154</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335"/>
                  </a:solidFill>
                  <a:latin typeface="Segoe UI"/>
                  <a:ea typeface="Segoe UI"/>
                  <a:cs typeface="Segoe U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B6C3CA"/>
            </a:solidFill>
          </a:ln>
        </c:spPr>
        <c:txPr>
          <a:bodyPr xmlns:a="http://schemas.openxmlformats.org/drawingml/2006/main" anchorCtr="1"/>
          <a:lstStyle xmlns:a="http://schemas.openxmlformats.org/drawingml/2006/main"/>
          <a:p xmlns:a="http://schemas.openxmlformats.org/drawingml/2006/main">
            <a:pPr>
              <a:defRPr sz="1350">
                <a:solidFill>
                  <a:srgbClr val="566775"/>
                </a:solidFill>
                <a:latin typeface="Segoe UI"/>
                <a:ea typeface="Segoe UI"/>
                <a:cs typeface="Segoe UI"/>
              </a:defRPr>
            </a:pPr>
          </a:p>
        </c:txPr>
        <c:crossAx val="48672768"/>
      </c:catAx>
      <c:valAx>
        <c:axId val="48672768"/>
        <c:scaling>
          <c:orientation val="minMax"/>
          <c:max val="25"/>
          <c:min val="-10"/>
        </c:scaling>
        <c:delete val="0"/>
        <c:axPos val="l"/>
        <c:majorGridlines>
          <c:spPr>
            <a:ln xmlns:a="http://schemas.openxmlformats.org/drawingml/2006/main" w="7620">
              <a:solidFill>
                <a:srgbClr val="D8DDD9"/>
              </a:solidFill>
            </a:ln>
          </c:spPr>
        </c:majorGridlines>
        <c:title>
          <c:tx>
            <c:rich>
              <a:bodyPr xmlns:a="http://schemas.openxmlformats.org/drawingml/2006/main"/>
              <a:lstStyle xmlns:a="http://schemas.openxmlformats.org/drawingml/2006/main"/>
              <a:p xmlns:a="http://schemas.openxmlformats.org/drawingml/2006/main">
                <a:r>
                  <a:rPr>
                    <a:latin typeface="Segoe UI"/>
                    <a:ea typeface="Segoe UI"/>
                    <a:cs typeface="Segoe UI"/>
                  </a:rPr>
                  <a:t>°C</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66775"/>
                </a:solidFill>
                <a:latin typeface="Segoe UI"/>
                <a:ea typeface="Segoe UI"/>
                <a:cs typeface="Segoe UI"/>
              </a:defRPr>
            </a:pPr>
          </a:p>
        </c:txPr>
        <c:crossAx val="48650112"/>
        <c:crossBetween val="between"/>
      </c:valAx>
      <c:spPr>
        <a:solidFill xmlns:a="http://schemas.openxmlformats.org/drawingml/2006/main">
          <a:srgbClr val="F4F2ED"/>
        </a:solidFill>
      </c:spPr>
    </c:plotArea>
    <c:plotVisOnly val="1"/>
  </c:chart>
  <c:spPr>
    <a:solidFill xmlns:a="http://schemas.openxmlformats.org/drawingml/2006/main">
      <a:srgbClr val="F4F2ED"/>
    </a:solidFill>
  </c:spPr>
</c:chartSpace>
</file>

<file path=ppt/slides/charts/chart2.xml><?xml version="1.0" encoding="utf-8"?>
<c:chartSpace xmlns:c="http://schemas.openxmlformats.org/drawingml/2006/chart">
  <c:lang val="en-US"/>
  <c:chart>
    <c:plotArea>
      <c:lineChart>
        <c:grouping val="standard"/>
        <c:varyColors val="0"/>
        <c:ser>
          <c:idx val="0"/>
          <c:order val="0"/>
          <c:tx>
            <c:v>SimpleRNN</c:v>
          </c:tx>
          <c:spPr>
            <a:ln xmlns:a="http://schemas.openxmlformats.org/drawingml/2006/main" w="28575">
              <a:solidFill>
                <a:srgbClr val="68B9E8"/>
              </a:solidFill>
            </a:ln>
          </c:spPr>
          <c:marker>
            <c:symbol val="none"/>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0.00</c:formatCode>
              <c:ptCount val="20"/>
              <c:pt idx="0">
                <c:v>0.17474426329135895</c:v>
              </c:pt>
              <c:pt idx="1">
                <c:v>0.15476129949092865</c:v>
              </c:pt>
              <c:pt idx="2">
                <c:v>0.2140210121870041</c:v>
              </c:pt>
              <c:pt idx="3">
                <c:v>0.15945419669151306</c:v>
              </c:pt>
              <c:pt idx="4">
                <c:v>0.2246621549129486</c:v>
              </c:pt>
              <c:pt idx="5">
                <c:v>0.1713370531797409</c:v>
              </c:pt>
              <c:pt idx="6">
                <c:v>0.1960228532552719</c:v>
              </c:pt>
              <c:pt idx="7">
                <c:v>0.20287582278251648</c:v>
              </c:pt>
              <c:pt idx="8">
                <c:v>0.16256003081798553</c:v>
              </c:pt>
              <c:pt idx="9">
                <c:v>0.20811651647090912</c:v>
              </c:pt>
              <c:pt idx="10">
                <c:v>0.24240165948867798</c:v>
              </c:pt>
              <c:pt idx="11">
                <c:v>0.16063453257083893</c:v>
              </c:pt>
              <c:pt idx="12">
                <c:v>0.1884012222290039</c:v>
              </c:pt>
              <c:pt idx="13">
                <c:v>0.18720589578151703</c:v>
              </c:pt>
              <c:pt idx="14">
                <c:v>0.16625067591667175</c:v>
              </c:pt>
              <c:pt idx="15">
                <c:v>0.1936134248971939</c:v>
              </c:pt>
              <c:pt idx="16">
                <c:v>0.1583651602268219</c:v>
              </c:pt>
              <c:pt idx="17">
                <c:v>0.14488202333450317</c:v>
              </c:pt>
              <c:pt idx="18">
                <c:v>0.14333240687847137</c:v>
              </c:pt>
              <c:pt idx="19">
                <c:v>0.15034745633602142</c:v>
              </c:pt>
            </c:numLit>
          </c:val>
          <c:smooth val="0"/>
        </c:ser>
        <c:ser>
          <c:idx val="1"/>
          <c:order val="1"/>
          <c:tx>
            <c:v>LSTM</c:v>
          </c:tx>
          <c:spPr>
            <a:ln xmlns:a="http://schemas.openxmlformats.org/drawingml/2006/main" w="28575">
              <a:solidFill>
                <a:srgbClr val="EBA36D"/>
              </a:solidFill>
            </a:ln>
          </c:spPr>
          <c:marker>
            <c:symbol val="none"/>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0.00</c:formatCode>
              <c:ptCount val="20"/>
              <c:pt idx="0">
                <c:v>0.16228631138801575</c:v>
              </c:pt>
              <c:pt idx="1">
                <c:v>0.14990536868572235</c:v>
              </c:pt>
              <c:pt idx="2">
                <c:v>0.1475784331560135</c:v>
              </c:pt>
              <c:pt idx="3">
                <c:v>0.14622612297534943</c:v>
              </c:pt>
              <c:pt idx="4">
                <c:v>0.14531812071800232</c:v>
              </c:pt>
              <c:pt idx="5">
                <c:v>0.14482498168945312</c:v>
              </c:pt>
              <c:pt idx="6">
                <c:v>0.1438315361738205</c:v>
              </c:pt>
              <c:pt idx="7">
                <c:v>0.1434178501367569</c:v>
              </c:pt>
              <c:pt idx="8">
                <c:v>0.14395050704479218</c:v>
              </c:pt>
              <c:pt idx="9">
                <c:v>0.14427027106285095</c:v>
              </c:pt>
              <c:pt idx="10">
                <c:v>0.14441333711147308</c:v>
              </c:pt>
              <c:pt idx="11">
                <c:v>0.14651446044445038</c:v>
              </c:pt>
              <c:pt idx="12">
                <c:v>0.14502984285354614</c:v>
              </c:pt>
              <c:pt idx="13">
                <c:v>0.14532391726970673</c:v>
              </c:pt>
              <c:pt idx="14">
                <c:v>0.1436574012041092</c:v>
              </c:pt>
              <c:pt idx="15">
                <c:v>0.14392665028572083</c:v>
              </c:pt>
              <c:pt idx="16">
                <c:v>0.14306282997131348</c:v>
              </c:pt>
              <c:pt idx="17">
                <c:v>0.14390619099140167</c:v>
              </c:pt>
              <c:pt idx="18">
                <c:v>0.14672107994556427</c:v>
              </c:pt>
              <c:pt idx="19">
                <c:v>0.1458415389060974</c:v>
              </c:pt>
            </c:numLit>
          </c:val>
          <c:smooth val="0"/>
        </c:ser>
        <c:ser>
          <c:idx val="2"/>
          <c:order val="2"/>
          <c:tx>
            <c:v>GRU</c:v>
          </c:tx>
          <c:spPr>
            <a:ln xmlns:a="http://schemas.openxmlformats.org/drawingml/2006/main" w="28575">
              <a:solidFill>
                <a:srgbClr val="D0DF8E"/>
              </a:solidFill>
            </a:ln>
          </c:spPr>
          <c:marker>
            <c:symbol val="none"/>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0.00</c:formatCode>
              <c:ptCount val="20"/>
              <c:pt idx="0">
                <c:v>0.1537851095199585</c:v>
              </c:pt>
              <c:pt idx="1">
                <c:v>0.14982372522354126</c:v>
              </c:pt>
              <c:pt idx="2">
                <c:v>0.14836516976356506</c:v>
              </c:pt>
              <c:pt idx="3">
                <c:v>0.14760610461235046</c:v>
              </c:pt>
              <c:pt idx="4">
                <c:v>0.14713895320892334</c:v>
              </c:pt>
              <c:pt idx="5">
                <c:v>0.146820530295372</c:v>
              </c:pt>
              <c:pt idx="6">
                <c:v>0.14658455550670624</c:v>
              </c:pt>
              <c:pt idx="7">
                <c:v>0.14640140533447266</c:v>
              </c:pt>
              <c:pt idx="8">
                <c:v>0.14624978601932526</c:v>
              </c:pt>
              <c:pt idx="9">
                <c:v>0.14612214267253876</c:v>
              </c:pt>
              <c:pt idx="10">
                <c:v>0.14600089192390442</c:v>
              </c:pt>
              <c:pt idx="11">
                <c:v>0.14588332176208496</c:v>
              </c:pt>
              <c:pt idx="12">
                <c:v>0.1457267701625824</c:v>
              </c:pt>
              <c:pt idx="13">
                <c:v>0.14551512897014618</c:v>
              </c:pt>
              <c:pt idx="14">
                <c:v>0.14522691071033478</c:v>
              </c:pt>
              <c:pt idx="15">
                <c:v>0.144917294383049</c:v>
              </c:pt>
              <c:pt idx="16">
                <c:v>0.14447474479675293</c:v>
              </c:pt>
              <c:pt idx="17">
                <c:v>0.14432565867900848</c:v>
              </c:pt>
              <c:pt idx="18">
                <c:v>0.14384886622428894</c:v>
              </c:pt>
              <c:pt idx="19">
                <c:v>0.14350736141204834</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F3F5F3"/>
                  </a:solidFill>
                  <a:latin typeface="Segoe UI"/>
                  <a:ea typeface="Segoe UI"/>
                  <a:cs typeface="Segoe U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Segoe UI"/>
                    <a:ea typeface="Segoe UI"/>
                    <a:cs typeface="Segoe UI"/>
                  </a:rPr>
                  <a:t>Époque</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General"/>
        <c:majorTickMark val="none"/>
        <c:minorTickMark val="none"/>
        <c:spPr>
          <a:ln xmlns:a="http://schemas.openxmlformats.org/drawingml/2006/main" w="9525">
            <a:solidFill>
              <a:srgbClr val="35495A"/>
            </a:solidFill>
          </a:ln>
        </c:spPr>
        <c:txPr>
          <a:bodyPr xmlns:a="http://schemas.openxmlformats.org/drawingml/2006/main" anchorCtr="1"/>
          <a:lstStyle xmlns:a="http://schemas.openxmlformats.org/drawingml/2006/main"/>
          <a:p xmlns:a="http://schemas.openxmlformats.org/drawingml/2006/main">
            <a:pPr>
              <a:defRPr sz="1350">
                <a:solidFill>
                  <a:srgbClr val="9EAFBF"/>
                </a:solidFill>
                <a:latin typeface="Segoe UI"/>
                <a:ea typeface="Segoe UI"/>
                <a:cs typeface="Segoe UI"/>
              </a:defRPr>
            </a:pPr>
          </a:p>
        </c:txPr>
        <c:crossAx val="48672768"/>
      </c:catAx>
      <c:valAx>
        <c:axId val="48672768"/>
        <c:scaling>
          <c:orientation val="minMax"/>
          <c:max val="0.25"/>
          <c:min val="0.13"/>
        </c:scaling>
        <c:delete val="0"/>
        <c:axPos val="l"/>
        <c:majorGridlines>
          <c:spPr>
            <a:ln xmlns:a="http://schemas.openxmlformats.org/drawingml/2006/main" w="7620">
              <a:solidFill>
                <a:srgbClr val="253746"/>
              </a:solidFill>
            </a:ln>
          </c:spPr>
        </c:majorGridlines>
        <c:title>
          <c:tx>
            <c:rich>
              <a:bodyPr xmlns:a="http://schemas.openxmlformats.org/drawingml/2006/main"/>
              <a:lstStyle xmlns:a="http://schemas.openxmlformats.org/drawingml/2006/main"/>
              <a:p xmlns:a="http://schemas.openxmlformats.org/drawingml/2006/main">
                <a:r>
                  <a:rPr>
                    <a:latin typeface="Segoe UI"/>
                    <a:ea typeface="Segoe UI"/>
                    <a:cs typeface="Segoe UI"/>
                  </a:rPr>
                  <a:t>MSE normalisée</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9EAFBF"/>
                </a:solidFill>
                <a:latin typeface="Segoe UI"/>
                <a:ea typeface="Segoe UI"/>
                <a:cs typeface="Segoe UI"/>
              </a:defRPr>
            </a:pPr>
          </a:p>
        </c:txPr>
        <c:crossAx val="48650112"/>
        <c:crossBetween val="between"/>
      </c:valAx>
      <c:spPr>
        <a:solidFill xmlns:a="http://schemas.openxmlformats.org/drawingml/2006/main">
          <a:srgbClr val="0B1522"/>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F3F5F3"/>
              </a:solidFill>
              <a:latin typeface="Segoe UI"/>
              <a:ea typeface="Segoe UI"/>
              <a:cs typeface="Segoe UI"/>
            </a:defRPr>
          </a:pPr>
        </a:p>
      </c:txPr>
    </c:legend>
    <c:plotVisOnly val="1"/>
  </c:chart>
  <c:spPr>
    <a:solidFill xmlns:a="http://schemas.openxmlformats.org/drawingml/2006/main">
      <a:srgbClr val="0B1522"/>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MAE (°C)</c:v>
          </c:tx>
          <c:invertIfNegative val="0"/>
          <c:dPt>
            <c:idx val="0"/>
            <c:invertIfNegative val="0"/>
            <c:spPr>
              <a:solidFill xmlns:a="http://schemas.openxmlformats.org/drawingml/2006/main">
                <a:srgbClr val="9EAFBF"/>
              </a:solidFill>
            </c:spPr>
          </c:dPt>
          <c:dPt>
            <c:idx val="1"/>
            <c:invertIfNegative val="0"/>
            <c:spPr>
              <a:solidFill xmlns:a="http://schemas.openxmlformats.org/drawingml/2006/main">
                <a:srgbClr val="68B9E8"/>
              </a:solidFill>
            </c:spPr>
          </c:dPt>
          <c:dPt>
            <c:idx val="2"/>
            <c:invertIfNegative val="0"/>
            <c:spPr>
              <a:solidFill xmlns:a="http://schemas.openxmlformats.org/drawingml/2006/main">
                <a:srgbClr val="EBA36D"/>
              </a:solidFill>
            </c:spPr>
          </c:dPt>
          <c:dPt>
            <c:idx val="3"/>
            <c:invertIfNegative val="0"/>
            <c:spPr>
              <a:solidFill xmlns:a="http://schemas.openxmlformats.org/drawingml/2006/main">
                <a:srgbClr val="D0DF8E"/>
              </a:solidFill>
            </c:spPr>
          </c:dPt>
          <c:cat>
            <c:strLit>
              <c:ptCount val="4"/>
              <c:pt idx="0">
                <c:v>Persistance</c:v>
              </c:pt>
              <c:pt idx="1">
                <c:v>SimpleRNN</c:v>
              </c:pt>
              <c:pt idx="2">
                <c:v>LSTM</c:v>
              </c:pt>
              <c:pt idx="3">
                <c:v>GRU</c:v>
              </c:pt>
            </c:strLit>
          </c:cat>
          <c:val>
            <c:numLit>
              <c:formatCode>0.000</c:formatCode>
              <c:ptCount val="4"/>
              <c:pt idx="0">
                <c:v>2.4957741131458766</c:v>
              </c:pt>
              <c:pt idx="1">
                <c:v>2.5622825611986113</c:v>
              </c:pt>
              <c:pt idx="2">
                <c:v>2.466625423407134</c:v>
              </c:pt>
              <c:pt idx="3">
                <c:v>2.4620650764168883</c:v>
              </c:pt>
            </c:numLit>
          </c:val>
        </c:ser>
        <c:dLbls>
          <c:numFmt formatCode="0.000" sourceLinked="0"/>
          <c:txPr>
            <a:bodyPr xmlns:a="http://schemas.openxmlformats.org/drawingml/2006/main" anchorCtr="1"/>
            <a:lstStyle xmlns:a="http://schemas.openxmlformats.org/drawingml/2006/main"/>
            <a:p xmlns:a="http://schemas.openxmlformats.org/drawingml/2006/main">
              <a:pPr>
                <a:defRPr sz="1800" b="1">
                  <a:solidFill>
                    <a:srgbClr val="F3F5F3"/>
                  </a:solidFill>
                  <a:latin typeface="Segoe UI"/>
                  <a:ea typeface="Segoe UI"/>
                  <a:cs typeface="Segoe U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5495A"/>
            </a:solidFill>
          </a:ln>
        </c:spPr>
        <c:txPr>
          <a:bodyPr xmlns:a="http://schemas.openxmlformats.org/drawingml/2006/main" anchorCtr="1"/>
          <a:lstStyle xmlns:a="http://schemas.openxmlformats.org/drawingml/2006/main"/>
          <a:p xmlns:a="http://schemas.openxmlformats.org/drawingml/2006/main">
            <a:pPr>
              <a:defRPr sz="1350">
                <a:solidFill>
                  <a:srgbClr val="9EAFBF"/>
                </a:solidFill>
                <a:latin typeface="Segoe UI"/>
                <a:ea typeface="Segoe UI"/>
                <a:cs typeface="Segoe UI"/>
              </a:defRPr>
            </a:pPr>
          </a:p>
        </c:txPr>
        <c:crossAx val="48672768"/>
      </c:catAx>
      <c:valAx>
        <c:axId val="48672768"/>
        <c:scaling>
          <c:orientation val="minMax"/>
          <c:max val="3.2"/>
          <c:min val="0"/>
        </c:scaling>
        <c:delete val="0"/>
        <c:axPos val="l"/>
        <c:majorGridlines>
          <c:spPr>
            <a:ln xmlns:a="http://schemas.openxmlformats.org/drawingml/2006/main" w="7620">
              <a:solidFill>
                <a:srgbClr val="253746"/>
              </a:solidFill>
            </a:ln>
          </c:spPr>
        </c:majorGridlines>
        <c:title>
          <c:tx>
            <c:rich>
              <a:bodyPr xmlns:a="http://schemas.openxmlformats.org/drawingml/2006/main"/>
              <a:lstStyle xmlns:a="http://schemas.openxmlformats.org/drawingml/2006/main"/>
              <a:p xmlns:a="http://schemas.openxmlformats.org/drawingml/2006/main">
                <a:r>
                  <a:rPr>
                    <a:latin typeface="Segoe UI"/>
                    <a:ea typeface="Segoe UI"/>
                    <a:cs typeface="Segoe UI"/>
                  </a:rPr>
                  <a:t>MAE (°C)</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9EAFBF"/>
                </a:solidFill>
                <a:latin typeface="Segoe UI"/>
                <a:ea typeface="Segoe UI"/>
                <a:cs typeface="Segoe UI"/>
              </a:defRPr>
            </a:pPr>
          </a:p>
        </c:txPr>
        <c:crossAx val="48650112"/>
        <c:crossBetween val="between"/>
      </c:valAx>
      <c:spPr>
        <a:solidFill xmlns:a="http://schemas.openxmlformats.org/drawingml/2006/main">
          <a:srgbClr val="0B1522"/>
        </a:solidFill>
      </c:spPr>
    </c:plotArea>
    <c:plotVisOnly val="1"/>
  </c:chart>
  <c:spPr>
    <a:solidFill xmlns:a="http://schemas.openxmlformats.org/drawingml/2006/main">
      <a:srgbClr val="0B1522"/>
    </a:solidFill>
  </c:spPr>
</c:chartSpace>
</file>

<file path=ppt/slides/charts/chart4.xml><?xml version="1.0" encoding="utf-8"?>
<c:chartSpace xmlns:c="http://schemas.openxmlformats.org/drawingml/2006/chart">
  <c:lang val="en-US"/>
  <c:chart>
    <c:plotArea>
      <c:lineChart>
        <c:grouping val="standard"/>
        <c:varyColors val="0"/>
        <c:ser>
          <c:idx val="0"/>
          <c:order val="0"/>
          <c:tx>
            <c:v>Réel</c:v>
          </c:tx>
          <c:spPr>
            <a:ln xmlns:a="http://schemas.openxmlformats.org/drawingml/2006/main" w="33338">
              <a:solidFill>
                <a:srgbClr val="F3F5F3"/>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8.99</c:v>
              </c:pt>
              <c:pt idx="1">
                <c:v>5.6716666</c:v>
              </c:pt>
              <c:pt idx="2">
                <c:v>4.025</c:v>
              </c:pt>
              <c:pt idx="3">
                <c:v>10.641666</c:v>
              </c:pt>
              <c:pt idx="4">
                <c:v>10.328333</c:v>
              </c:pt>
              <c:pt idx="5">
                <c:v>9.931666</c:v>
              </c:pt>
              <c:pt idx="6">
                <c:v>8.901667</c:v>
              </c:pt>
              <c:pt idx="7">
                <c:v>12.705</c:v>
              </c:pt>
              <c:pt idx="8">
                <c:v>11.03</c:v>
              </c:pt>
              <c:pt idx="9">
                <c:v>5.3733335</c:v>
              </c:pt>
              <c:pt idx="10">
                <c:v>1.525</c:v>
              </c:pt>
              <c:pt idx="11">
                <c:v>7.088333</c:v>
              </c:pt>
              <c:pt idx="12">
                <c:v>8.845</c:v>
              </c:pt>
              <c:pt idx="13">
                <c:v>6.375</c:v>
              </c:pt>
              <c:pt idx="14">
                <c:v>7.38</c:v>
              </c:pt>
              <c:pt idx="15">
                <c:v>10.881667</c:v>
              </c:pt>
              <c:pt idx="16">
                <c:v>12.398334</c:v>
              </c:pt>
              <c:pt idx="17">
                <c:v>10.2</c:v>
              </c:pt>
              <c:pt idx="18">
                <c:v>8.86</c:v>
              </c:pt>
              <c:pt idx="19">
                <c:v>9.63</c:v>
              </c:pt>
              <c:pt idx="20">
                <c:v>12.025</c:v>
              </c:pt>
              <c:pt idx="21">
                <c:v>7.5383334</c:v>
              </c:pt>
              <c:pt idx="22">
                <c:v>2.6933334</c:v>
              </c:pt>
              <c:pt idx="23">
                <c:v>10.493333</c:v>
              </c:pt>
              <c:pt idx="24">
                <c:v>10.696667</c:v>
              </c:pt>
              <c:pt idx="25">
                <c:v>5.846667</c:v>
              </c:pt>
              <c:pt idx="26">
                <c:v>1.4033333</c:v>
              </c:pt>
              <c:pt idx="27">
                <c:v>8.681666</c:v>
              </c:pt>
            </c:numLit>
          </c:val>
          <c:smooth val="0"/>
        </c:ser>
        <c:ser>
          <c:idx val="1"/>
          <c:order val="1"/>
          <c:tx>
            <c:v>Persistance</c:v>
          </c:tx>
          <c:spPr>
            <a:ln xmlns:a="http://schemas.openxmlformats.org/drawingml/2006/main" w="23813">
              <a:solidFill>
                <a:srgbClr val="4E6070"/>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8.335</c:v>
              </c:pt>
              <c:pt idx="1">
                <c:v>7.5516667</c:v>
              </c:pt>
              <c:pt idx="2">
                <c:v>6.9583335</c:v>
              </c:pt>
              <c:pt idx="3">
                <c:v>9.108334</c:v>
              </c:pt>
              <c:pt idx="4">
                <c:v>8.99</c:v>
              </c:pt>
              <c:pt idx="5">
                <c:v>5.6716666</c:v>
              </c:pt>
              <c:pt idx="6">
                <c:v>4.025</c:v>
              </c:pt>
              <c:pt idx="7">
                <c:v>10.641666</c:v>
              </c:pt>
              <c:pt idx="8">
                <c:v>10.328333</c:v>
              </c:pt>
              <c:pt idx="9">
                <c:v>9.931666</c:v>
              </c:pt>
              <c:pt idx="10">
                <c:v>8.901667</c:v>
              </c:pt>
              <c:pt idx="11">
                <c:v>12.705</c:v>
              </c:pt>
              <c:pt idx="12">
                <c:v>11.03</c:v>
              </c:pt>
              <c:pt idx="13">
                <c:v>5.3733335</c:v>
              </c:pt>
              <c:pt idx="14">
                <c:v>1.525</c:v>
              </c:pt>
              <c:pt idx="15">
                <c:v>7.088333</c:v>
              </c:pt>
              <c:pt idx="16">
                <c:v>8.845</c:v>
              </c:pt>
              <c:pt idx="17">
                <c:v>6.375</c:v>
              </c:pt>
              <c:pt idx="18">
                <c:v>7.38</c:v>
              </c:pt>
              <c:pt idx="19">
                <c:v>10.881667</c:v>
              </c:pt>
              <c:pt idx="20">
                <c:v>12.398334</c:v>
              </c:pt>
              <c:pt idx="21">
                <c:v>10.2</c:v>
              </c:pt>
              <c:pt idx="22">
                <c:v>8.86</c:v>
              </c:pt>
              <c:pt idx="23">
                <c:v>9.63</c:v>
              </c:pt>
              <c:pt idx="24">
                <c:v>12.025</c:v>
              </c:pt>
              <c:pt idx="25">
                <c:v>7.5383334</c:v>
              </c:pt>
              <c:pt idx="26">
                <c:v>2.6933334</c:v>
              </c:pt>
              <c:pt idx="27">
                <c:v>10.493333</c:v>
              </c:pt>
            </c:numLit>
          </c:val>
          <c:smooth val="0"/>
        </c:ser>
        <c:ser>
          <c:idx val="2"/>
          <c:order val="2"/>
          <c:tx>
            <c:v>SimpleRNN</c:v>
          </c:tx>
          <c:spPr>
            <a:ln xmlns:a="http://schemas.openxmlformats.org/drawingml/2006/main" w="23813">
              <a:solidFill>
                <a:srgbClr val="68B9E8"/>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9.077932</c:v>
              </c:pt>
              <c:pt idx="1">
                <c:v>8.178385</c:v>
              </c:pt>
              <c:pt idx="2">
                <c:v>6.9884024</c:v>
              </c:pt>
              <c:pt idx="3">
                <c:v>10.223711</c:v>
              </c:pt>
              <c:pt idx="4">
                <c:v>9.702546</c:v>
              </c:pt>
              <c:pt idx="5">
                <c:v>6.153257</c:v>
              </c:pt>
              <c:pt idx="6">
                <c:v>4.2056904</c:v>
              </c:pt>
              <c:pt idx="7">
                <c:v>11.225771</c:v>
              </c:pt>
              <c:pt idx="8">
                <c:v>11.115433</c:v>
              </c:pt>
              <c:pt idx="9">
                <c:v>10.57</c:v>
              </c:pt>
              <c:pt idx="10">
                <c:v>9.456416</c:v>
              </c:pt>
              <c:pt idx="11">
                <c:v>13.546974</c:v>
              </c:pt>
              <c:pt idx="12">
                <c:v>12.002523</c:v>
              </c:pt>
              <c:pt idx="13">
                <c:v>6.36163</c:v>
              </c:pt>
              <c:pt idx="14">
                <c:v>2.4836845</c:v>
              </c:pt>
              <c:pt idx="15">
                <c:v>9.167247</c:v>
              </c:pt>
              <c:pt idx="16">
                <c:v>10.516836</c:v>
              </c:pt>
              <c:pt idx="17">
                <c:v>7.0987177</c:v>
              </c:pt>
              <c:pt idx="18">
                <c:v>7.681147</c:v>
              </c:pt>
              <c:pt idx="19">
                <c:v>12.86085</c:v>
              </c:pt>
              <c:pt idx="20">
                <c:v>14.15426</c:v>
              </c:pt>
              <c:pt idx="21">
                <c:v>11.850031</c:v>
              </c:pt>
              <c:pt idx="22">
                <c:v>9.553026</c:v>
              </c:pt>
              <c:pt idx="23">
                <c:v>11.352348</c:v>
              </c:pt>
              <c:pt idx="24">
                <c:v>13.456861</c:v>
              </c:pt>
              <c:pt idx="25">
                <c:v>8.202318</c:v>
              </c:pt>
              <c:pt idx="26">
                <c:v>2.681459</c:v>
              </c:pt>
              <c:pt idx="27">
                <c:v>11.909797</c:v>
              </c:pt>
            </c:numLit>
          </c:val>
          <c:smooth val="0"/>
        </c:ser>
        <c:ser>
          <c:idx val="3"/>
          <c:order val="3"/>
          <c:tx>
            <c:v>LSTM</c:v>
          </c:tx>
          <c:spPr>
            <a:ln xmlns:a="http://schemas.openxmlformats.org/drawingml/2006/main" w="23813">
              <a:solidFill>
                <a:srgbClr val="EBA36D"/>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9.1285925</c:v>
              </c:pt>
              <c:pt idx="1">
                <c:v>6.6954145</c:v>
              </c:pt>
              <c:pt idx="2">
                <c:v>7.4855313</c:v>
              </c:pt>
              <c:pt idx="3">
                <c:v>10.158039</c:v>
              </c:pt>
              <c:pt idx="4">
                <c:v>9.500311</c:v>
              </c:pt>
              <c:pt idx="5">
                <c:v>5.3800173</c:v>
              </c:pt>
              <c:pt idx="6">
                <c:v>5.28541</c:v>
              </c:pt>
              <c:pt idx="7">
                <c:v>11.651498</c:v>
              </c:pt>
              <c:pt idx="8">
                <c:v>10.988628</c:v>
              </c:pt>
              <c:pt idx="9">
                <c:v>8.579805</c:v>
              </c:pt>
              <c:pt idx="10">
                <c:v>8.747035</c:v>
              </c:pt>
              <c:pt idx="11">
                <c:v>13.65032</c:v>
              </c:pt>
              <c:pt idx="12">
                <c:v>10.83101</c:v>
              </c:pt>
              <c:pt idx="13">
                <c:v>6.8899803</c:v>
              </c:pt>
              <c:pt idx="14">
                <c:v>4.5498943</c:v>
              </c:pt>
              <c:pt idx="15">
                <c:v>8.416023</c:v>
              </c:pt>
              <c:pt idx="16">
                <c:v>8.791483</c:v>
              </c:pt>
              <c:pt idx="17">
                <c:v>6.2261014</c:v>
              </c:pt>
              <c:pt idx="18">
                <c:v>7.3639126</c:v>
              </c:pt>
              <c:pt idx="19">
                <c:v>11.712657</c:v>
              </c:pt>
              <c:pt idx="20">
                <c:v>11.858591</c:v>
              </c:pt>
              <c:pt idx="21">
                <c:v>9.470847</c:v>
              </c:pt>
              <c:pt idx="22">
                <c:v>9.381367</c:v>
              </c:pt>
              <c:pt idx="23">
                <c:v>10.75392</c:v>
              </c:pt>
              <c:pt idx="24">
                <c:v>11.424355</c:v>
              </c:pt>
              <c:pt idx="25">
                <c:v>7.768644</c:v>
              </c:pt>
              <c:pt idx="26">
                <c:v>4.894119</c:v>
              </c:pt>
              <c:pt idx="27">
                <c:v>11.474317</c:v>
              </c:pt>
            </c:numLit>
          </c:val>
          <c:smooth val="0"/>
        </c:ser>
        <c:ser>
          <c:idx val="4"/>
          <c:order val="4"/>
          <c:tx>
            <c:v>GRU</c:v>
          </c:tx>
          <c:spPr>
            <a:ln xmlns:a="http://schemas.openxmlformats.org/drawingml/2006/main" w="23813">
              <a:solidFill>
                <a:srgbClr val="D0DF8E"/>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8.480901</c:v>
              </c:pt>
              <c:pt idx="1">
                <c:v>7.8273683</c:v>
              </c:pt>
              <c:pt idx="2">
                <c:v>7.3239965</c:v>
              </c:pt>
              <c:pt idx="3">
                <c:v>9.321601</c:v>
              </c:pt>
              <c:pt idx="4">
                <c:v>9.141309</c:v>
              </c:pt>
              <c:pt idx="5">
                <c:v>6.2888355</c:v>
              </c:pt>
              <c:pt idx="6">
                <c:v>4.8317094</c:v>
              </c:pt>
              <c:pt idx="7">
                <c:v>10.802528</c:v>
              </c:pt>
              <c:pt idx="8">
                <c:v>10.334488</c:v>
              </c:pt>
              <c:pt idx="9">
                <c:v>10.081727</c:v>
              </c:pt>
              <c:pt idx="10">
                <c:v>9.181169</c:v>
              </c:pt>
              <c:pt idx="11">
                <c:v>12.787771</c:v>
              </c:pt>
              <c:pt idx="12">
                <c:v>11.176576</c:v>
              </c:pt>
              <c:pt idx="13">
                <c:v>6.3628416</c:v>
              </c:pt>
              <c:pt idx="14">
                <c:v>2.8902621</c:v>
              </c:pt>
              <c:pt idx="15">
                <c:v>7.87039</c:v>
              </c:pt>
              <c:pt idx="16">
                <c:v>9.069349</c:v>
              </c:pt>
              <c:pt idx="17">
                <c:v>6.9886837</c:v>
              </c:pt>
              <c:pt idx="18">
                <c:v>7.7664704</c:v>
              </c:pt>
              <c:pt idx="19">
                <c:v>11.051802</c:v>
              </c:pt>
              <c:pt idx="20">
                <c:v>12.33103</c:v>
              </c:pt>
              <c:pt idx="21">
                <c:v>10.381611</c:v>
              </c:pt>
              <c:pt idx="22">
                <c:v>9.257832</c:v>
              </c:pt>
              <c:pt idx="23">
                <c:v>9.981478</c:v>
              </c:pt>
              <c:pt idx="24">
                <c:v>12.10004</c:v>
              </c:pt>
              <c:pt idx="25">
                <c:v>8.159431</c:v>
              </c:pt>
              <c:pt idx="26">
                <c:v>3.9924698</c:v>
              </c:pt>
              <c:pt idx="27">
                <c:v>11.159733</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F3F5F3"/>
                  </a:solidFill>
                  <a:latin typeface="Segoe UI"/>
                  <a:ea typeface="Segoe UI"/>
                  <a:cs typeface="Segoe U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Segoe UI"/>
                    <a:ea typeface="Segoe UI"/>
                    <a:cs typeface="Segoe UI"/>
                  </a:rPr>
                  <a:t>Heures depuis le 21 octobre 2015 à 18 h</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General"/>
        <c:majorTickMark val="none"/>
        <c:minorTickMark val="none"/>
        <c:spPr>
          <a:ln xmlns:a="http://schemas.openxmlformats.org/drawingml/2006/main" w="9525">
            <a:solidFill>
              <a:srgbClr val="35495A"/>
            </a:solidFill>
          </a:ln>
        </c:spPr>
        <c:txPr>
          <a:bodyPr xmlns:a="http://schemas.openxmlformats.org/drawingml/2006/main" anchorCtr="1"/>
          <a:lstStyle xmlns:a="http://schemas.openxmlformats.org/drawingml/2006/main"/>
          <a:p xmlns:a="http://schemas.openxmlformats.org/drawingml/2006/main">
            <a:pPr>
              <a:defRPr sz="1350">
                <a:solidFill>
                  <a:srgbClr val="9EAFBF"/>
                </a:solidFill>
                <a:latin typeface="Segoe UI"/>
                <a:ea typeface="Segoe UI"/>
                <a:cs typeface="Segoe UI"/>
              </a:defRPr>
            </a:pPr>
          </a:p>
        </c:txPr>
        <c:crossAx val="48672768"/>
      </c:catAx>
      <c:valAx>
        <c:axId val="48672768"/>
        <c:scaling>
          <c:orientation val="minMax"/>
          <c:max val="18"/>
          <c:min val="0"/>
        </c:scaling>
        <c:delete val="0"/>
        <c:axPos val="l"/>
        <c:majorGridlines>
          <c:spPr>
            <a:ln xmlns:a="http://schemas.openxmlformats.org/drawingml/2006/main" w="7620">
              <a:solidFill>
                <a:srgbClr val="253746"/>
              </a:solidFill>
            </a:ln>
          </c:spPr>
        </c:majorGridlines>
        <c:title>
          <c:tx>
            <c:rich>
              <a:bodyPr xmlns:a="http://schemas.openxmlformats.org/drawingml/2006/main"/>
              <a:lstStyle xmlns:a="http://schemas.openxmlformats.org/drawingml/2006/main"/>
              <a:p xmlns:a="http://schemas.openxmlformats.org/drawingml/2006/main">
                <a:r>
                  <a:rPr>
                    <a:latin typeface="Segoe UI"/>
                    <a:ea typeface="Segoe UI"/>
                    <a:cs typeface="Segoe UI"/>
                  </a:rPr>
                  <a:t>Température (°C)</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9EAFBF"/>
                </a:solidFill>
                <a:latin typeface="Segoe UI"/>
                <a:ea typeface="Segoe UI"/>
                <a:cs typeface="Segoe UI"/>
              </a:defRPr>
            </a:pPr>
          </a:p>
        </c:txPr>
        <c:crossAx val="48650112"/>
        <c:crossBetween val="between"/>
      </c:valAx>
      <c:spPr>
        <a:solidFill xmlns:a="http://schemas.openxmlformats.org/drawingml/2006/main">
          <a:srgbClr val="0B1522"/>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F3F5F3"/>
              </a:solidFill>
              <a:latin typeface="Segoe UI"/>
              <a:ea typeface="Segoe UI"/>
              <a:cs typeface="Segoe UI"/>
            </a:defRPr>
          </a:pPr>
        </a:p>
      </c:txPr>
    </c:legend>
    <c:plotVisOnly val="1"/>
  </c:chart>
  <c:spPr>
    <a:solidFill xmlns:a="http://schemas.openxmlformats.org/drawingml/2006/main">
      <a:srgbClr val="0B1522"/>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Fit total (s)</c:v>
          </c:tx>
          <c:invertIfNegative val="0"/>
          <c:dPt>
            <c:idx val="0"/>
            <c:invertIfNegative val="0"/>
            <c:spPr>
              <a:solidFill xmlns:a="http://schemas.openxmlformats.org/drawingml/2006/main">
                <a:srgbClr val="68B9E8"/>
              </a:solidFill>
            </c:spPr>
          </c:dPt>
          <c:dPt>
            <c:idx val="1"/>
            <c:invertIfNegative val="0"/>
            <c:spPr>
              <a:solidFill xmlns:a="http://schemas.openxmlformats.org/drawingml/2006/main">
                <a:srgbClr val="EBA36D"/>
              </a:solidFill>
            </c:spPr>
          </c:dPt>
          <c:dPt>
            <c:idx val="2"/>
            <c:invertIfNegative val="0"/>
            <c:spPr>
              <a:solidFill xmlns:a="http://schemas.openxmlformats.org/drawingml/2006/main">
                <a:srgbClr val="D0DF8E"/>
              </a:solidFill>
            </c:spPr>
          </c:dPt>
          <c:cat>
            <c:strLit>
              <c:ptCount val="3"/>
              <c:pt idx="0">
                <c:v>SimpleRNN</c:v>
              </c:pt>
              <c:pt idx="1">
                <c:v>LSTM</c:v>
              </c:pt>
              <c:pt idx="2">
                <c:v>GRU</c:v>
              </c:pt>
            </c:strLit>
          </c:cat>
          <c:val>
            <c:numLit>
              <c:formatCode>0.0</c:formatCode>
              <c:ptCount val="3"/>
              <c:pt idx="0">
                <c:v>100.04175648700038</c:v>
              </c:pt>
              <c:pt idx="1">
                <c:v>92.29221542699997</c:v>
              </c:pt>
              <c:pt idx="2">
                <c:v>82.92317695499969</c:v>
              </c:pt>
            </c:numLit>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F3F5F3"/>
                  </a:solidFill>
                  <a:latin typeface="Segoe UI"/>
                  <a:ea typeface="Segoe UI"/>
                  <a:cs typeface="Segoe U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5495A"/>
            </a:solidFill>
          </a:ln>
        </c:spPr>
        <c:txPr>
          <a:bodyPr xmlns:a="http://schemas.openxmlformats.org/drawingml/2006/main" anchorCtr="1"/>
          <a:lstStyle xmlns:a="http://schemas.openxmlformats.org/drawingml/2006/main"/>
          <a:p xmlns:a="http://schemas.openxmlformats.org/drawingml/2006/main">
            <a:pPr>
              <a:defRPr sz="1350">
                <a:solidFill>
                  <a:srgbClr val="9EAFBF"/>
                </a:solidFill>
                <a:latin typeface="Segoe UI"/>
                <a:ea typeface="Segoe UI"/>
                <a:cs typeface="Segoe UI"/>
              </a:defRPr>
            </a:pPr>
          </a:p>
        </c:txPr>
        <c:crossAx val="48672768"/>
      </c:catAx>
      <c:valAx>
        <c:axId val="48672768"/>
        <c:scaling>
          <c:orientation val="minMax"/>
          <c:max val="125"/>
          <c:min val="0"/>
        </c:scaling>
        <c:delete val="0"/>
        <c:axPos val="l"/>
        <c:majorGridlines>
          <c:spPr>
            <a:ln xmlns:a="http://schemas.openxmlformats.org/drawingml/2006/main" w="7620">
              <a:solidFill>
                <a:srgbClr val="253746"/>
              </a:solidFill>
            </a:ln>
          </c:spPr>
        </c:majorGridlines>
        <c:title>
          <c:tx>
            <c:rich>
              <a:bodyPr xmlns:a="http://schemas.openxmlformats.org/drawingml/2006/main"/>
              <a:lstStyle xmlns:a="http://schemas.openxmlformats.org/drawingml/2006/main"/>
              <a:p xmlns:a="http://schemas.openxmlformats.org/drawingml/2006/main">
                <a:r>
                  <a:rPr>
                    <a:latin typeface="Segoe UI"/>
                    <a:ea typeface="Segoe UI"/>
                    <a:cs typeface="Segoe UI"/>
                  </a:rPr>
                  <a:t>Fit total (s)</a:t>
                </a:r>
              </a:p>
            </c:rich>
          </c:tx>
          <c:overlay val="0"/>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title>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9EAFBF"/>
                </a:solidFill>
                <a:latin typeface="Segoe UI"/>
                <a:ea typeface="Segoe UI"/>
                <a:cs typeface="Segoe UI"/>
              </a:defRPr>
            </a:pPr>
          </a:p>
        </c:txPr>
        <c:crossAx val="48650112"/>
        <c:crossBetween val="between"/>
      </c:valAx>
      <c:spPr>
        <a:solidFill xmlns:a="http://schemas.openxmlformats.org/drawingml/2006/main">
          <a:srgbClr val="0B1522"/>
        </a:solidFill>
      </c:spPr>
    </c:plotArea>
    <c:plotVisOnly val="1"/>
  </c:chart>
  <c:spPr>
    <a:solidFill xmlns:a="http://schemas.openxmlformats.org/drawingml/2006/main">
      <a:srgbClr val="0B1522"/>
    </a:solidFill>
  </c:spPr>
</c:chartSpace>
</file>

<file path=ppt/slides/slide1.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D42B52-F985-430B-A3D0-E732464E2B5C}"/>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SÉRIES TEMPORELLES</a:t>
            </a:r>
          </a:p>
        </p:txBody>
      </p:sp>
      <p:sp>
        <p:nvSpPr>
          <p:cNvPr id="2" name="">
            <a:extLst xmlns:a="http://schemas.openxmlformats.org/drawingml/2006/main">
              <a:ext uri="{FF2B5EF4-FFF2-40B4-BE49-F238E27FC236}">
                <a16:creationId xmlns:a16="http://schemas.microsoft.com/office/drawing/2014/main" id="{C64FEE3F-A9ED-4ED2-9BF2-16C4CD28C8D8}"/>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01</a:t>
            </a:r>
          </a:p>
        </p:txBody>
      </p:sp>
      <p:pic>
        <p:nvPicPr>
          <p:cNvPr id="3" name="">
            <a:extLst xmlns:a="http://schemas.openxmlformats.org/drawingml/2006/main">
              <a:ext uri="{FF2B5EF4-FFF2-40B4-BE49-F238E27FC236}">
                <a16:creationId xmlns:a16="http://schemas.microsoft.com/office/drawing/2014/main" id="{AF67A06C-FAAB-4163-BD20-5CD353D4CC91}"/>
              </a:ext>
            </a:extLst>
          </p:cNvPr>
          <p:cNvPicPr>
            <a:picLocks xmlns:a="http://schemas.openxmlformats.org/drawingml/2006/main" noChangeAspect="1"/>
          </p:cNvPicPr>
          <p:nvPr/>
        </p:nvPicPr>
        <p:blipFill>
          <a:blip xmlns:r="http://schemas.openxmlformats.org/officeDocument/2006/relationships" xmlns:a="http://schemas.openxmlformats.org/drawingml/2006/main" r:embed="Rea1964565af2437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F7B4CFC-FB7F-4DBC-B7BF-A0531B54E279}"/>
              </a:ext>
            </a:extLst>
          </p:cNvPr>
          <p:cNvSpPr>
            <a:spLocks xmlns:a="http://schemas.openxmlformats.org/drawingml/2006/main" noGrp="1"/>
          </p:cNvSpPr>
          <p:nvPr/>
        </p:nvSpPr>
        <p:spPr>
          <a:xfrm xmlns:a="http://schemas.openxmlformats.org/drawingml/2006/main">
            <a:off x="571500" y="457200"/>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EAFBF"/>
                </a:solidFill>
                <a:latin typeface="Segoe UI"/>
                <a:ea typeface="Segoe UI"/>
                <a:cs typeface="Segoe UI"/>
              </a:defRPr>
            </a:defPPr>
          </a:lstStyle>
          <a:p xmlns:a="http://schemas.openxmlformats.org/drawingml/2006/main">
            <a:pPr>
              <a:defRPr sz="1350" b="1">
                <a:solidFill>
                  <a:srgbClr val="9EAFBF"/>
                </a:solidFill>
                <a:latin typeface="Segoe UI"/>
                <a:ea typeface="Segoe UI"/>
                <a:cs typeface="Segoe UI"/>
              </a:defRPr>
            </a:pPr>
            <a:r>
              <a:rPr sz="1350" b="1">
                <a:solidFill>
                  <a:srgbClr val="9EAFBF"/>
                </a:solidFill>
                <a:latin typeface="Segoe UI"/>
                <a:ea typeface="Segoe UI"/>
                <a:cs typeface="Segoe UI"/>
              </a:rPr>
              <a:t>APPRENTISSAGE PROFOND</a:t>
            </a:r>
          </a:p>
        </p:txBody>
      </p:sp>
      <p:sp>
        <p:nvSpPr>
          <p:cNvPr id="5" name="">
            <a:extLst xmlns:a="http://schemas.openxmlformats.org/drawingml/2006/main">
              <a:ext uri="{FF2B5EF4-FFF2-40B4-BE49-F238E27FC236}">
                <a16:creationId xmlns:a16="http://schemas.microsoft.com/office/drawing/2014/main" id="{F39241C8-4454-4F66-ACE6-943D4C107A7C}"/>
              </a:ext>
            </a:extLst>
          </p:cNvPr>
          <p:cNvSpPr>
            <a:spLocks xmlns:a="http://schemas.openxmlformats.org/drawingml/2006/main" noGrp="1"/>
          </p:cNvSpPr>
          <p:nvPr/>
        </p:nvSpPr>
        <p:spPr>
          <a:xfrm xmlns:a="http://schemas.openxmlformats.org/drawingml/2006/main">
            <a:off x="552450" y="1428750"/>
            <a:ext cx="6953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F3F5F3"/>
                </a:solidFill>
                <a:latin typeface="Segoe UI"/>
                <a:ea typeface="Segoe UI"/>
                <a:cs typeface="Segoe UI"/>
              </a:defRPr>
            </a:defPPr>
          </a:lstStyle>
          <a:p xmlns:a="http://schemas.openxmlformats.org/drawingml/2006/main">
            <a:pPr>
              <a:defRPr sz="7200" b="1">
                <a:solidFill>
                  <a:srgbClr val="F3F5F3"/>
                </a:solidFill>
                <a:latin typeface="Segoe UI"/>
                <a:ea typeface="Segoe UI"/>
                <a:cs typeface="Segoe UI"/>
              </a:defRPr>
            </a:pPr>
            <a:r>
              <a:rPr sz="7200" b="1">
                <a:solidFill>
                  <a:srgbClr val="F3F5F3"/>
                </a:solidFill>
                <a:latin typeface="Segoe UI"/>
                <a:ea typeface="Segoe UI"/>
                <a:cs typeface="Segoe UI"/>
              </a:rPr>
              <a:t>Apprendre</a:t>
            </a:r>
          </a:p>
          <a:p xmlns:a="http://schemas.openxmlformats.org/drawingml/2006/main">
            <a:pPr>
              <a:defRPr sz="7200" b="1">
                <a:solidFill>
                  <a:srgbClr val="F3F5F3"/>
                </a:solidFill>
                <a:latin typeface="Segoe UI"/>
                <a:ea typeface="Segoe UI"/>
                <a:cs typeface="Segoe UI"/>
              </a:defRPr>
            </a:pPr>
            <a:r>
              <a:rPr sz="7200" b="1">
                <a:solidFill>
                  <a:srgbClr val="F3F5F3"/>
                </a:solidFill>
                <a:latin typeface="Segoe UI"/>
                <a:ea typeface="Segoe UI"/>
                <a:cs typeface="Segoe UI"/>
              </a:rPr>
              <a:t>le temps.</a:t>
            </a:r>
          </a:p>
        </p:txBody>
      </p:sp>
      <p:sp>
        <p:nvSpPr>
          <p:cNvPr id="6" name="">
            <a:extLst xmlns:a="http://schemas.openxmlformats.org/drawingml/2006/main">
              <a:ext uri="{FF2B5EF4-FFF2-40B4-BE49-F238E27FC236}">
                <a16:creationId xmlns:a16="http://schemas.microsoft.com/office/drawing/2014/main" id="{50ECFA8A-3C40-4AE5-AB26-59833E002536}"/>
              </a:ext>
            </a:extLst>
          </p:cNvPr>
          <p:cNvSpPr>
            <a:spLocks xmlns:a="http://schemas.openxmlformats.org/drawingml/2006/main" noGrp="1"/>
          </p:cNvSpPr>
          <p:nvPr/>
        </p:nvSpPr>
        <p:spPr>
          <a:xfrm xmlns:a="http://schemas.openxmlformats.org/drawingml/2006/main">
            <a:off x="600075" y="41910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B9E8"/>
                </a:solidFill>
                <a:latin typeface="Segoe UI"/>
                <a:ea typeface="Segoe UI"/>
                <a:cs typeface="Segoe UI"/>
              </a:defRPr>
            </a:defPPr>
          </a:lstStyle>
          <a:p xmlns:a="http://schemas.openxmlformats.org/drawingml/2006/main">
            <a:pPr>
              <a:defRPr sz="2700" b="1">
                <a:solidFill>
                  <a:srgbClr val="68B9E8"/>
                </a:solidFill>
                <a:latin typeface="Segoe UI"/>
                <a:ea typeface="Segoe UI"/>
                <a:cs typeface="Segoe UI"/>
              </a:defRPr>
            </a:pPr>
            <a:r>
              <a:rPr sz="2700" b="1">
                <a:solidFill>
                  <a:srgbClr val="68B9E8"/>
                </a:solidFill>
                <a:latin typeface="Segoe UI"/>
                <a:ea typeface="Segoe UI"/>
                <a:cs typeface="Segoe UI"/>
              </a:rPr>
              <a:t>SimpleRNN</a:t>
            </a:r>
          </a:p>
        </p:txBody>
      </p:sp>
      <p:sp>
        <p:nvSpPr>
          <p:cNvPr id="7" name="">
            <a:extLst xmlns:a="http://schemas.openxmlformats.org/drawingml/2006/main">
              <a:ext uri="{FF2B5EF4-FFF2-40B4-BE49-F238E27FC236}">
                <a16:creationId xmlns:a16="http://schemas.microsoft.com/office/drawing/2014/main" id="{F4F7DC3C-4CDD-44EB-AAD6-5995AD2723B4}"/>
              </a:ext>
            </a:extLst>
          </p:cNvPr>
          <p:cNvSpPr>
            <a:spLocks xmlns:a="http://schemas.openxmlformats.org/drawingml/2006/main" noGrp="1"/>
          </p:cNvSpPr>
          <p:nvPr/>
        </p:nvSpPr>
        <p:spPr>
          <a:xfrm xmlns:a="http://schemas.openxmlformats.org/drawingml/2006/main">
            <a:off x="600075" y="47244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EBA36D"/>
                </a:solidFill>
                <a:latin typeface="Segoe UI"/>
                <a:ea typeface="Segoe UI"/>
                <a:cs typeface="Segoe UI"/>
              </a:defRPr>
            </a:defPPr>
          </a:lstStyle>
          <a:p xmlns:a="http://schemas.openxmlformats.org/drawingml/2006/main">
            <a:pPr>
              <a:defRPr sz="2700" b="1">
                <a:solidFill>
                  <a:srgbClr val="EBA36D"/>
                </a:solidFill>
                <a:latin typeface="Segoe UI"/>
                <a:ea typeface="Segoe UI"/>
                <a:cs typeface="Segoe UI"/>
              </a:defRPr>
            </a:pPr>
            <a:r>
              <a:rPr sz="2700" b="1">
                <a:solidFill>
                  <a:srgbClr val="EBA36D"/>
                </a:solidFill>
                <a:latin typeface="Segoe UI"/>
                <a:ea typeface="Segoe UI"/>
                <a:cs typeface="Segoe UI"/>
              </a:rPr>
              <a:t>LSTM</a:t>
            </a:r>
          </a:p>
        </p:txBody>
      </p:sp>
      <p:sp>
        <p:nvSpPr>
          <p:cNvPr id="8" name="">
            <a:extLst xmlns:a="http://schemas.openxmlformats.org/drawingml/2006/main">
              <a:ext uri="{FF2B5EF4-FFF2-40B4-BE49-F238E27FC236}">
                <a16:creationId xmlns:a16="http://schemas.microsoft.com/office/drawing/2014/main" id="{EC9A7831-0B0D-4820-B78B-6041E5FCB929}"/>
              </a:ext>
            </a:extLst>
          </p:cNvPr>
          <p:cNvSpPr>
            <a:spLocks xmlns:a="http://schemas.openxmlformats.org/drawingml/2006/main" noGrp="1"/>
          </p:cNvSpPr>
          <p:nvPr/>
        </p:nvSpPr>
        <p:spPr>
          <a:xfrm xmlns:a="http://schemas.openxmlformats.org/drawingml/2006/main">
            <a:off x="600075" y="52578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D0DF8E"/>
                </a:solidFill>
                <a:latin typeface="Segoe UI"/>
                <a:ea typeface="Segoe UI"/>
                <a:cs typeface="Segoe UI"/>
              </a:defRPr>
            </a:defPPr>
          </a:lstStyle>
          <a:p xmlns:a="http://schemas.openxmlformats.org/drawingml/2006/main">
            <a:pPr>
              <a:defRPr sz="2700" b="1">
                <a:solidFill>
                  <a:srgbClr val="D0DF8E"/>
                </a:solidFill>
                <a:latin typeface="Segoe UI"/>
                <a:ea typeface="Segoe UI"/>
                <a:cs typeface="Segoe UI"/>
              </a:defRPr>
            </a:pPr>
            <a:r>
              <a:rPr sz="2700" b="1">
                <a:solidFill>
                  <a:srgbClr val="D0DF8E"/>
                </a:solidFill>
                <a:latin typeface="Segoe UI"/>
                <a:ea typeface="Segoe UI"/>
                <a:cs typeface="Segoe UI"/>
              </a:rPr>
              <a:t>GRU</a:t>
            </a:r>
          </a:p>
        </p:txBody>
      </p:sp>
      <p:sp>
        <p:nvSpPr>
          <p:cNvPr id="9" name="">
            <a:extLst xmlns:a="http://schemas.openxmlformats.org/drawingml/2006/main">
              <a:ext uri="{FF2B5EF4-FFF2-40B4-BE49-F238E27FC236}">
                <a16:creationId xmlns:a16="http://schemas.microsoft.com/office/drawing/2014/main" id="{8C36D496-DD81-4533-8110-90546FB2AD17}"/>
              </a:ext>
            </a:extLst>
          </p:cNvPr>
          <p:cNvSpPr>
            <a:spLocks xmlns:a="http://schemas.openxmlformats.org/drawingml/2006/main" noGrp="1"/>
          </p:cNvSpPr>
          <p:nvPr/>
        </p:nvSpPr>
        <p:spPr>
          <a:xfrm xmlns:a="http://schemas.openxmlformats.org/drawingml/2006/main">
            <a:off x="609600" y="607695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F3F5F3"/>
                </a:solidFill>
                <a:latin typeface="Segoe UI"/>
                <a:ea typeface="Segoe UI"/>
                <a:cs typeface="Segoe UI"/>
              </a:defRPr>
            </a:defPPr>
          </a:lstStyle>
          <a:p xmlns:a="http://schemas.openxmlformats.org/drawingml/2006/main">
            <a:pPr>
              <a:defRPr sz="1650" b="0">
                <a:solidFill>
                  <a:srgbClr val="F3F5F3"/>
                </a:solidFill>
                <a:latin typeface="Segoe UI"/>
                <a:ea typeface="Segoe UI"/>
                <a:cs typeface="Segoe UI"/>
              </a:defRPr>
            </a:pPr>
            <a:r>
              <a:rPr sz="1650" b="0">
                <a:solidFill>
                  <a:srgbClr val="F3F5F3"/>
                </a:solidFill>
                <a:latin typeface="Segoe UI"/>
                <a:ea typeface="Segoe UI"/>
                <a:cs typeface="Segoe UI"/>
              </a:rPr>
              <a:t>Une comparaison sur signal synthétique</a:t>
            </a:r>
          </a:p>
          <a:p xmlns:a="http://schemas.openxmlformats.org/drawingml/2006/main">
            <a:pPr>
              <a:defRPr sz="1650" b="0">
                <a:solidFill>
                  <a:srgbClr val="F3F5F3"/>
                </a:solidFill>
                <a:latin typeface="Segoe UI"/>
                <a:ea typeface="Segoe UI"/>
                <a:cs typeface="Segoe UI"/>
              </a:defRPr>
            </a:pPr>
            <a:r>
              <a:rPr sz="1650" b="0">
                <a:solidFill>
                  <a:srgbClr val="F3F5F3"/>
                </a:solidFill>
                <a:latin typeface="Segoe UI"/>
                <a:ea typeface="Segoe UI"/>
                <a:cs typeface="Segoe UI"/>
              </a:rPr>
              <a:t>et températures réelles de Jena</a:t>
            </a:r>
          </a:p>
        </p:txBody>
      </p:sp>
    </p:spTree>
    <p:extLst>
      <p:ext uri="{BB962C8B-B14F-4D97-AF65-F5344CB8AC3E}">
        <p14:creationId xmlns:p14="http://schemas.microsoft.com/office/powerpoint/2010/main" val="201543827"/>
      </p:ext>
    </p:extLst>
  </p:cSld>
</p:sld>
</file>

<file path=ppt/slides/slide2.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49C171-7087-4EE3-9BD0-10E001716DC4}"/>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LA QUESTION</a:t>
            </a:r>
          </a:p>
        </p:txBody>
      </p:sp>
      <p:sp>
        <p:nvSpPr>
          <p:cNvPr id="2" name="">
            <a:extLst xmlns:a="http://schemas.openxmlformats.org/drawingml/2006/main">
              <a:ext uri="{FF2B5EF4-FFF2-40B4-BE49-F238E27FC236}">
                <a16:creationId xmlns:a16="http://schemas.microsoft.com/office/drawing/2014/main" id="{31017EDB-CEC5-44DD-B4C6-1332C75B18C3}"/>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02</a:t>
            </a:r>
          </a:p>
        </p:txBody>
      </p:sp>
      <p:sp>
        <p:nvSpPr>
          <p:cNvPr id="3" name="">
            <a:extLst xmlns:a="http://schemas.openxmlformats.org/drawingml/2006/main">
              <a:ext uri="{FF2B5EF4-FFF2-40B4-BE49-F238E27FC236}">
                <a16:creationId xmlns:a16="http://schemas.microsoft.com/office/drawing/2014/main" id="{434A2CEE-A115-4A4A-9E33-D90D1E0C115B}"/>
              </a:ext>
            </a:extLst>
          </p:cNvPr>
          <p:cNvSpPr>
            <a:spLocks xmlns:a="http://schemas.openxmlformats.org/drawingml/2006/main" noGrp="1"/>
          </p:cNvSpPr>
          <p:nvPr/>
        </p:nvSpPr>
        <p:spPr>
          <a:xfrm xmlns:a="http://schemas.openxmlformats.org/drawingml/2006/main">
            <a:off x="571500" y="1238250"/>
            <a:ext cx="10382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3F5F3"/>
                </a:solidFill>
                <a:latin typeface="Segoe UI"/>
                <a:ea typeface="Segoe UI"/>
                <a:cs typeface="Segoe UI"/>
              </a:defRPr>
            </a:defPPr>
          </a:lstStyle>
          <a:p xmlns:a="http://schemas.openxmlformats.org/drawingml/2006/main">
            <a:pPr>
              <a:defRPr sz="5850" b="1">
                <a:solidFill>
                  <a:srgbClr val="F3F5F3"/>
                </a:solidFill>
                <a:latin typeface="Segoe UI"/>
                <a:ea typeface="Segoe UI"/>
                <a:cs typeface="Segoe UI"/>
              </a:defRPr>
            </a:pPr>
            <a:r>
              <a:rPr sz="5850" b="1">
                <a:solidFill>
                  <a:srgbClr val="F3F5F3"/>
                </a:solidFill>
                <a:latin typeface="Segoe UI"/>
                <a:ea typeface="Segoe UI"/>
                <a:cs typeface="Segoe UI"/>
              </a:rPr>
              <a:t>Plus de mémoire.</a:t>
            </a:r>
          </a:p>
          <a:p xmlns:a="http://schemas.openxmlformats.org/drawingml/2006/main">
            <a:pPr>
              <a:defRPr sz="5850" b="1">
                <a:solidFill>
                  <a:srgbClr val="F3F5F3"/>
                </a:solidFill>
                <a:latin typeface="Segoe UI"/>
                <a:ea typeface="Segoe UI"/>
                <a:cs typeface="Segoe UI"/>
              </a:defRPr>
            </a:pPr>
            <a:r>
              <a:rPr sz="5850" b="1">
                <a:solidFill>
                  <a:srgbClr val="F3F5F3"/>
                </a:solidFill>
                <a:latin typeface="Segoe UI"/>
                <a:ea typeface="Segoe UI"/>
                <a:cs typeface="Segoe UI"/>
              </a:rPr>
              <a:t>Quel gain réel ?</a:t>
            </a:r>
          </a:p>
        </p:txBody>
      </p:sp>
      <p:sp>
        <p:nvSpPr>
          <p:cNvPr id="4" name="">
            <a:extLst xmlns:a="http://schemas.openxmlformats.org/drawingml/2006/main">
              <a:ext uri="{FF2B5EF4-FFF2-40B4-BE49-F238E27FC236}">
                <a16:creationId xmlns:a16="http://schemas.microsoft.com/office/drawing/2014/main" id="{604BD2F8-BE8B-48C4-A935-BCB2E7090041}"/>
              </a:ext>
            </a:extLst>
          </p:cNvPr>
          <p:cNvSpPr>
            <a:spLocks xmlns:a="http://schemas.openxmlformats.org/drawingml/2006/main" noGrp="1"/>
          </p:cNvSpPr>
          <p:nvPr/>
        </p:nvSpPr>
        <p:spPr>
          <a:xfrm xmlns:a="http://schemas.openxmlformats.org/drawingml/2006/main">
            <a:off x="609600" y="3714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68B9E8"/>
                </a:solidFill>
                <a:latin typeface="Segoe UI"/>
                <a:ea typeface="Segoe UI"/>
                <a:cs typeface="Segoe UI"/>
              </a:defRPr>
            </a:defPPr>
          </a:lstStyle>
          <a:p xmlns:a="http://schemas.openxmlformats.org/drawingml/2006/main">
            <a:pPr>
              <a:defRPr sz="2250" b="1">
                <a:solidFill>
                  <a:srgbClr val="68B9E8"/>
                </a:solidFill>
                <a:latin typeface="Segoe UI"/>
                <a:ea typeface="Segoe UI"/>
                <a:cs typeface="Segoe UI"/>
              </a:defRPr>
            </a:pPr>
            <a:r>
              <a:rPr sz="2250" b="1">
                <a:solidFill>
                  <a:srgbClr val="68B9E8"/>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9E2E6612-B9C7-4394-9703-5400A5D5259D}"/>
              </a:ext>
            </a:extLst>
          </p:cNvPr>
          <p:cNvSpPr>
            <a:spLocks xmlns:a="http://schemas.openxmlformats.org/drawingml/2006/main" noGrp="1"/>
          </p:cNvSpPr>
          <p:nvPr/>
        </p:nvSpPr>
        <p:spPr>
          <a:xfrm xmlns:a="http://schemas.openxmlformats.org/drawingml/2006/main">
            <a:off x="1524000" y="37147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3"/>
                </a:solidFill>
                <a:latin typeface="Segoe UI"/>
                <a:ea typeface="Segoe UI"/>
                <a:cs typeface="Segoe UI"/>
              </a:defRPr>
            </a:defPPr>
          </a:lstStyle>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Comprendre sur une sinusoïde</a:t>
            </a:r>
          </a:p>
        </p:txBody>
      </p:sp>
      <p:sp>
        <p:nvSpPr>
          <p:cNvPr id="6" name="">
            <a:extLst xmlns:a="http://schemas.openxmlformats.org/drawingml/2006/main">
              <a:ext uri="{FF2B5EF4-FFF2-40B4-BE49-F238E27FC236}">
                <a16:creationId xmlns:a16="http://schemas.microsoft.com/office/drawing/2014/main" id="{95472477-4E11-4EFE-AB2F-33B7F7E5D681}"/>
              </a:ext>
            </a:extLst>
          </p:cNvPr>
          <p:cNvSpPr>
            <a:spLocks xmlns:a="http://schemas.openxmlformats.org/drawingml/2006/main" noGrp="1"/>
          </p:cNvSpPr>
          <p:nvPr/>
        </p:nvSpPr>
        <p:spPr>
          <a:xfrm xmlns:a="http://schemas.openxmlformats.org/drawingml/2006/main">
            <a:off x="609600" y="44196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EBA36D"/>
                </a:solidFill>
                <a:latin typeface="Segoe UI"/>
                <a:ea typeface="Segoe UI"/>
                <a:cs typeface="Segoe UI"/>
              </a:defRPr>
            </a:defPPr>
          </a:lstStyle>
          <a:p xmlns:a="http://schemas.openxmlformats.org/drawingml/2006/main">
            <a:pPr>
              <a:defRPr sz="2250" b="1">
                <a:solidFill>
                  <a:srgbClr val="EBA36D"/>
                </a:solidFill>
                <a:latin typeface="Segoe UI"/>
                <a:ea typeface="Segoe UI"/>
                <a:cs typeface="Segoe UI"/>
              </a:defRPr>
            </a:pPr>
            <a:r>
              <a:rPr sz="2250" b="1">
                <a:solidFill>
                  <a:srgbClr val="EBA36D"/>
                </a:solidFill>
                <a:latin typeface="Segoe UI"/>
                <a:ea typeface="Segoe UI"/>
                <a:cs typeface="Segoe UI"/>
              </a:rPr>
              <a:t>02</a:t>
            </a:r>
          </a:p>
        </p:txBody>
      </p:sp>
      <p:sp>
        <p:nvSpPr>
          <p:cNvPr id="7" name="">
            <a:extLst xmlns:a="http://schemas.openxmlformats.org/drawingml/2006/main">
              <a:ext uri="{FF2B5EF4-FFF2-40B4-BE49-F238E27FC236}">
                <a16:creationId xmlns:a16="http://schemas.microsoft.com/office/drawing/2014/main" id="{3EBEB0A0-D2CC-4417-8FCC-097294FB0FCC}"/>
              </a:ext>
            </a:extLst>
          </p:cNvPr>
          <p:cNvSpPr>
            <a:spLocks xmlns:a="http://schemas.openxmlformats.org/drawingml/2006/main" noGrp="1"/>
          </p:cNvSpPr>
          <p:nvPr/>
        </p:nvSpPr>
        <p:spPr>
          <a:xfrm xmlns:a="http://schemas.openxmlformats.org/drawingml/2006/main">
            <a:off x="1524000" y="441960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3"/>
                </a:solidFill>
                <a:latin typeface="Segoe UI"/>
                <a:ea typeface="Segoe UI"/>
                <a:cs typeface="Segoe UI"/>
              </a:defRPr>
            </a:defPPr>
          </a:lstStyle>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Comparer sur des températures réelles</a:t>
            </a:r>
          </a:p>
        </p:txBody>
      </p:sp>
      <p:sp>
        <p:nvSpPr>
          <p:cNvPr id="8" name="">
            <a:extLst xmlns:a="http://schemas.openxmlformats.org/drawingml/2006/main">
              <a:ext uri="{FF2B5EF4-FFF2-40B4-BE49-F238E27FC236}">
                <a16:creationId xmlns:a16="http://schemas.microsoft.com/office/drawing/2014/main" id="{35629239-5ADF-4D24-BB09-E6891DE61703}"/>
              </a:ext>
            </a:extLst>
          </p:cNvPr>
          <p:cNvSpPr>
            <a:spLocks xmlns:a="http://schemas.openxmlformats.org/drawingml/2006/main" noGrp="1"/>
          </p:cNvSpPr>
          <p:nvPr/>
        </p:nvSpPr>
        <p:spPr>
          <a:xfrm xmlns:a="http://schemas.openxmlformats.org/drawingml/2006/main">
            <a:off x="609600" y="51244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D0DF8E"/>
                </a:solidFill>
                <a:latin typeface="Segoe UI"/>
                <a:ea typeface="Segoe UI"/>
                <a:cs typeface="Segoe UI"/>
              </a:defRPr>
            </a:defPPr>
          </a:lstStyle>
          <a:p xmlns:a="http://schemas.openxmlformats.org/drawingml/2006/main">
            <a:pPr>
              <a:defRPr sz="2250" b="1">
                <a:solidFill>
                  <a:srgbClr val="D0DF8E"/>
                </a:solidFill>
                <a:latin typeface="Segoe UI"/>
                <a:ea typeface="Segoe UI"/>
                <a:cs typeface="Segoe UI"/>
              </a:defRPr>
            </a:pPr>
            <a:r>
              <a:rPr sz="2250" b="1">
                <a:solidFill>
                  <a:srgbClr val="D0DF8E"/>
                </a:solidFill>
                <a:latin typeface="Segoe UI"/>
                <a:ea typeface="Segoe UI"/>
                <a:cs typeface="Segoe UI"/>
              </a:rPr>
              <a:t>03</a:t>
            </a:r>
          </a:p>
        </p:txBody>
      </p:sp>
      <p:sp>
        <p:nvSpPr>
          <p:cNvPr id="9" name="">
            <a:extLst xmlns:a="http://schemas.openxmlformats.org/drawingml/2006/main">
              <a:ext uri="{FF2B5EF4-FFF2-40B4-BE49-F238E27FC236}">
                <a16:creationId xmlns:a16="http://schemas.microsoft.com/office/drawing/2014/main" id="{CA47BA79-BB01-49A8-8021-BA8E64B167DA}"/>
              </a:ext>
            </a:extLst>
          </p:cNvPr>
          <p:cNvSpPr>
            <a:spLocks xmlns:a="http://schemas.openxmlformats.org/drawingml/2006/main" noGrp="1"/>
          </p:cNvSpPr>
          <p:nvPr/>
        </p:nvSpPr>
        <p:spPr>
          <a:xfrm xmlns:a="http://schemas.openxmlformats.org/drawingml/2006/main">
            <a:off x="1524000" y="512445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3"/>
                </a:solidFill>
                <a:latin typeface="Segoe UI"/>
                <a:ea typeface="Segoe UI"/>
                <a:cs typeface="Segoe UI"/>
              </a:defRPr>
            </a:defPPr>
          </a:lstStyle>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Mesurer face à une référence simple</a:t>
            </a:r>
          </a:p>
        </p:txBody>
      </p:sp>
    </p:spTree>
    <p:extLst>
      <p:ext uri="{BB962C8B-B14F-4D97-AF65-F5344CB8AC3E}">
        <p14:creationId xmlns:p14="http://schemas.microsoft.com/office/powerpoint/2010/main" val="977663959"/>
      </p:ext>
    </p:extLst>
  </p:cSld>
</p:sld>
</file>

<file path=ppt/slides/slide3.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9D1086-8BB4-4950-9104-4098CB7C77A5}"/>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LES EXPÉRIENCES</a:t>
            </a:r>
          </a:p>
        </p:txBody>
      </p:sp>
      <p:sp>
        <p:nvSpPr>
          <p:cNvPr id="2" name="">
            <a:extLst xmlns:a="http://schemas.openxmlformats.org/drawingml/2006/main">
              <a:ext uri="{FF2B5EF4-FFF2-40B4-BE49-F238E27FC236}">
                <a16:creationId xmlns:a16="http://schemas.microsoft.com/office/drawing/2014/main" id="{7214E9EF-13B3-4377-B797-528692E406A2}"/>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7B969429-1D69-4238-8A28-F0B154177120}"/>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Deux jeux de données. Deux difficultés.</a:t>
            </a:r>
          </a:p>
        </p:txBody>
      </p:sp>
      <p:sp>
        <p:nvSpPr>
          <p:cNvPr id="4" name="">
            <a:extLst xmlns:a="http://schemas.openxmlformats.org/drawingml/2006/main">
              <a:ext uri="{FF2B5EF4-FFF2-40B4-BE49-F238E27FC236}">
                <a16:creationId xmlns:a16="http://schemas.microsoft.com/office/drawing/2014/main" id="{9CD245E0-223D-49F9-940A-AE7301B4E9B0}"/>
              </a:ext>
            </a:extLst>
          </p:cNvPr>
          <p:cNvSpPr>
            <a:spLocks xmlns:a="http://schemas.openxmlformats.org/drawingml/2006/main" noGrp="1"/>
          </p:cNvSpPr>
          <p:nvPr/>
        </p:nvSpPr>
        <p:spPr>
          <a:xfrm xmlns:a="http://schemas.openxmlformats.org/drawingml/2006/main">
            <a:off x="619125" y="21240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28749E"/>
                </a:solidFill>
                <a:latin typeface="Segoe UI"/>
                <a:ea typeface="Segoe UI"/>
                <a:cs typeface="Segoe UI"/>
              </a:defRPr>
            </a:defPPr>
          </a:lstStyle>
          <a:p xmlns:a="http://schemas.openxmlformats.org/drawingml/2006/main">
            <a:pPr>
              <a:defRPr sz="1575" b="1">
                <a:solidFill>
                  <a:srgbClr val="28749E"/>
                </a:solidFill>
                <a:latin typeface="Segoe UI"/>
                <a:ea typeface="Segoe UI"/>
                <a:cs typeface="Segoe UI"/>
              </a:defRPr>
            </a:pPr>
            <a:r>
              <a:rPr sz="1575" b="1">
                <a:solidFill>
                  <a:srgbClr val="28749E"/>
                </a:solidFill>
                <a:latin typeface="Segoe UI"/>
                <a:ea typeface="Segoe UI"/>
                <a:cs typeface="Segoe UI"/>
              </a:rPr>
              <a:t>01  SIGNAL SYNTHÉTIQUE</a:t>
            </a:r>
          </a:p>
        </p:txBody>
      </p:sp>
      <p:sp>
        <p:nvSpPr>
          <p:cNvPr id="5" name="">
            <a:extLst xmlns:a="http://schemas.openxmlformats.org/drawingml/2006/main">
              <a:ext uri="{FF2B5EF4-FFF2-40B4-BE49-F238E27FC236}">
                <a16:creationId xmlns:a16="http://schemas.microsoft.com/office/drawing/2014/main" id="{EA6FF9B2-5249-423F-8AC6-B8BE7F5A14E7}"/>
              </a:ext>
            </a:extLst>
          </p:cNvPr>
          <p:cNvSpPr>
            <a:spLocks xmlns:a="http://schemas.openxmlformats.org/drawingml/2006/main" noGrp="1"/>
          </p:cNvSpPr>
          <p:nvPr/>
        </p:nvSpPr>
        <p:spPr>
          <a:xfrm xmlns:a="http://schemas.openxmlformats.org/drawingml/2006/main">
            <a:off x="590550" y="26670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28749E"/>
                </a:solidFill>
                <a:latin typeface="Segoe UI"/>
                <a:ea typeface="Segoe UI"/>
                <a:cs typeface="Segoe UI"/>
              </a:defRPr>
            </a:defPPr>
          </a:lstStyle>
          <a:p xmlns:a="http://schemas.openxmlformats.org/drawingml/2006/main">
            <a:pPr>
              <a:defRPr sz="7050" b="1">
                <a:solidFill>
                  <a:srgbClr val="28749E"/>
                </a:solidFill>
                <a:latin typeface="Segoe UI"/>
                <a:ea typeface="Segoe UI"/>
                <a:cs typeface="Segoe UI"/>
              </a:defRPr>
            </a:pPr>
            <a:r>
              <a:rPr sz="7050" b="1">
                <a:solidFill>
                  <a:srgbClr val="28749E"/>
                </a:solidFill>
                <a:latin typeface="Segoe UI"/>
                <a:ea typeface="Segoe UI"/>
                <a:cs typeface="Segoe UI"/>
              </a:rPr>
              <a:t>2 000</a:t>
            </a:r>
          </a:p>
        </p:txBody>
      </p:sp>
      <p:sp>
        <p:nvSpPr>
          <p:cNvPr id="6" name="">
            <a:extLst xmlns:a="http://schemas.openxmlformats.org/drawingml/2006/main">
              <a:ext uri="{FF2B5EF4-FFF2-40B4-BE49-F238E27FC236}">
                <a16:creationId xmlns:a16="http://schemas.microsoft.com/office/drawing/2014/main" id="{8BA0B7C5-3ED9-4837-990E-00CE22975B00}"/>
              </a:ext>
            </a:extLst>
          </p:cNvPr>
          <p:cNvSpPr>
            <a:spLocks xmlns:a="http://schemas.openxmlformats.org/drawingml/2006/main" noGrp="1"/>
          </p:cNvSpPr>
          <p:nvPr/>
        </p:nvSpPr>
        <p:spPr>
          <a:xfrm xmlns:a="http://schemas.openxmlformats.org/drawingml/2006/main">
            <a:off x="590550" y="38385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66775"/>
                </a:solidFill>
                <a:latin typeface="Segoe UI"/>
                <a:ea typeface="Segoe UI"/>
                <a:cs typeface="Segoe UI"/>
              </a:defRPr>
            </a:defPPr>
          </a:lstStyle>
          <a:p xmlns:a="http://schemas.openxmlformats.org/drawingml/2006/main">
            <a:pPr>
              <a:defRPr sz="1800" b="0">
                <a:solidFill>
                  <a:srgbClr val="566775"/>
                </a:solidFill>
                <a:latin typeface="Segoe UI"/>
                <a:ea typeface="Segoe UI"/>
                <a:cs typeface="Segoe UI"/>
              </a:defRPr>
            </a:pPr>
            <a:r>
              <a:rPr sz="1800" b="0">
                <a:solidFill>
                  <a:srgbClr val="566775"/>
                </a:solidFill>
                <a:latin typeface="Segoe UI"/>
                <a:ea typeface="Segoe UI"/>
                <a:cs typeface="Segoe UI"/>
              </a:rPr>
              <a:t>valeurs créées avec NumPy</a:t>
            </a:r>
          </a:p>
        </p:txBody>
      </p:sp>
      <p:sp>
        <p:nvSpPr>
          <p:cNvPr id="7" name="">
            <a:extLst xmlns:a="http://schemas.openxmlformats.org/drawingml/2006/main">
              <a:ext uri="{FF2B5EF4-FFF2-40B4-BE49-F238E27FC236}">
                <a16:creationId xmlns:a16="http://schemas.microsoft.com/office/drawing/2014/main" id="{D73B8306-046F-478A-B69D-EDD85691492E}"/>
              </a:ext>
            </a:extLst>
          </p:cNvPr>
          <p:cNvSpPr>
            <a:spLocks xmlns:a="http://schemas.openxmlformats.org/drawingml/2006/main" noGrp="1"/>
          </p:cNvSpPr>
          <p:nvPr/>
        </p:nvSpPr>
        <p:spPr>
          <a:xfrm xmlns:a="http://schemas.openxmlformats.org/drawingml/2006/main">
            <a:off x="609600" y="47625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35"/>
                </a:solidFill>
                <a:latin typeface="Segoe UI"/>
                <a:ea typeface="Segoe UI"/>
                <a:cs typeface="Segoe UI"/>
              </a:defRPr>
            </a:defPPr>
          </a:lstStyle>
          <a:p xmlns:a="http://schemas.openxmlformats.org/drawingml/2006/main">
            <a:pPr>
              <a:defRPr sz="2325" b="0">
                <a:solidFill>
                  <a:srgbClr val="142335"/>
                </a:solidFill>
                <a:latin typeface="Segoe UI"/>
                <a:ea typeface="Segoe UI"/>
                <a:cs typeface="Segoe UI"/>
              </a:defRPr>
            </a:pPr>
            <a:r>
              <a:rPr sz="2325" b="0">
                <a:solidFill>
                  <a:srgbClr val="142335"/>
                </a:solidFill>
                <a:latin typeface="Segoe UI"/>
                <a:ea typeface="Segoe UI"/>
                <a:cs typeface="Segoe UI"/>
              </a:rPr>
              <a:t>40 valeurs observées</a:t>
            </a:r>
          </a:p>
          <a:p xmlns:a="http://schemas.openxmlformats.org/drawingml/2006/main">
            <a:pPr>
              <a:defRPr sz="2325" b="0">
                <a:solidFill>
                  <a:srgbClr val="142335"/>
                </a:solidFill>
                <a:latin typeface="Segoe UI"/>
                <a:ea typeface="Segoe UI"/>
                <a:cs typeface="Segoe UI"/>
              </a:defRPr>
            </a:pPr>
            <a:r>
              <a:rPr sz="2325" b="0">
                <a:solidFill>
                  <a:srgbClr val="142335"/>
                </a:solidFill>
                <a:latin typeface="Segoe UI"/>
                <a:ea typeface="Segoe UI"/>
                <a:cs typeface="Segoe UI"/>
              </a:rPr>
              <a:t>Cible : la valeur suivante</a:t>
            </a:r>
          </a:p>
        </p:txBody>
      </p:sp>
      <p:sp>
        <p:nvSpPr>
          <p:cNvPr id="8" name="">
            <a:extLst xmlns:a="http://schemas.openxmlformats.org/drawingml/2006/main">
              <a:ext uri="{FF2B5EF4-FFF2-40B4-BE49-F238E27FC236}">
                <a16:creationId xmlns:a16="http://schemas.microsoft.com/office/drawing/2014/main" id="{2E3CC848-40E9-470F-80A4-A69E50F41524}"/>
              </a:ext>
            </a:extLst>
          </p:cNvPr>
          <p:cNvSpPr>
            <a:spLocks xmlns:a="http://schemas.openxmlformats.org/drawingml/2006/main" noGrp="1"/>
          </p:cNvSpPr>
          <p:nvPr/>
        </p:nvSpPr>
        <p:spPr>
          <a:xfrm xmlns:a="http://schemas.openxmlformats.org/drawingml/2006/main">
            <a:off x="6524625" y="21240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9C5A2C"/>
                </a:solidFill>
                <a:latin typeface="Segoe UI"/>
                <a:ea typeface="Segoe UI"/>
                <a:cs typeface="Segoe UI"/>
              </a:defRPr>
            </a:defPPr>
          </a:lstStyle>
          <a:p xmlns:a="http://schemas.openxmlformats.org/drawingml/2006/main">
            <a:pPr>
              <a:defRPr sz="1575" b="1">
                <a:solidFill>
                  <a:srgbClr val="9C5A2C"/>
                </a:solidFill>
                <a:latin typeface="Segoe UI"/>
                <a:ea typeface="Segoe UI"/>
                <a:cs typeface="Segoe UI"/>
              </a:defRPr>
            </a:pPr>
            <a:r>
              <a:rPr sz="1575" b="1">
                <a:solidFill>
                  <a:srgbClr val="9C5A2C"/>
                </a:solidFill>
                <a:latin typeface="Segoe UI"/>
                <a:ea typeface="Segoe UI"/>
                <a:cs typeface="Segoe UI"/>
              </a:rPr>
              <a:t>02  JENA CLIMATE</a:t>
            </a:r>
          </a:p>
        </p:txBody>
      </p:sp>
      <p:sp>
        <p:nvSpPr>
          <p:cNvPr id="9" name="">
            <a:extLst xmlns:a="http://schemas.openxmlformats.org/drawingml/2006/main">
              <a:ext uri="{FF2B5EF4-FFF2-40B4-BE49-F238E27FC236}">
                <a16:creationId xmlns:a16="http://schemas.microsoft.com/office/drawing/2014/main" id="{8BF34318-EC98-4730-B34B-70A130F8069C}"/>
              </a:ext>
            </a:extLst>
          </p:cNvPr>
          <p:cNvSpPr>
            <a:spLocks xmlns:a="http://schemas.openxmlformats.org/drawingml/2006/main" noGrp="1"/>
          </p:cNvSpPr>
          <p:nvPr/>
        </p:nvSpPr>
        <p:spPr>
          <a:xfrm xmlns:a="http://schemas.openxmlformats.org/drawingml/2006/main">
            <a:off x="6496050" y="266700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9C5A2C"/>
                </a:solidFill>
                <a:latin typeface="Segoe UI"/>
                <a:ea typeface="Segoe UI"/>
                <a:cs typeface="Segoe UI"/>
              </a:defRPr>
            </a:defPPr>
          </a:lstStyle>
          <a:p xmlns:a="http://schemas.openxmlformats.org/drawingml/2006/main">
            <a:pPr>
              <a:defRPr sz="7050" b="1">
                <a:solidFill>
                  <a:srgbClr val="9C5A2C"/>
                </a:solidFill>
                <a:latin typeface="Segoe UI"/>
                <a:ea typeface="Segoe UI"/>
                <a:cs typeface="Segoe UI"/>
              </a:defRPr>
            </a:pPr>
            <a:r>
              <a:rPr sz="7050" b="1">
                <a:solidFill>
                  <a:srgbClr val="9C5A2C"/>
                </a:solidFill>
                <a:latin typeface="Segoe UI"/>
                <a:ea typeface="Segoe UI"/>
                <a:cs typeface="Segoe UI"/>
              </a:rPr>
              <a:t>420 551</a:t>
            </a:r>
          </a:p>
        </p:txBody>
      </p:sp>
      <p:sp>
        <p:nvSpPr>
          <p:cNvPr id="10" name="">
            <a:extLst xmlns:a="http://schemas.openxmlformats.org/drawingml/2006/main">
              <a:ext uri="{FF2B5EF4-FFF2-40B4-BE49-F238E27FC236}">
                <a16:creationId xmlns:a16="http://schemas.microsoft.com/office/drawing/2014/main" id="{EE42E487-5055-4336-9BEF-AF10AD50DA69}"/>
              </a:ext>
            </a:extLst>
          </p:cNvPr>
          <p:cNvSpPr>
            <a:spLocks xmlns:a="http://schemas.openxmlformats.org/drawingml/2006/main" noGrp="1"/>
          </p:cNvSpPr>
          <p:nvPr/>
        </p:nvSpPr>
        <p:spPr>
          <a:xfrm xmlns:a="http://schemas.openxmlformats.org/drawingml/2006/main">
            <a:off x="6496050" y="38385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66775"/>
                </a:solidFill>
                <a:latin typeface="Segoe UI"/>
                <a:ea typeface="Segoe UI"/>
                <a:cs typeface="Segoe UI"/>
              </a:defRPr>
            </a:defPPr>
          </a:lstStyle>
          <a:p xmlns:a="http://schemas.openxmlformats.org/drawingml/2006/main">
            <a:pPr>
              <a:defRPr sz="1800" b="0">
                <a:solidFill>
                  <a:srgbClr val="566775"/>
                </a:solidFill>
                <a:latin typeface="Segoe UI"/>
                <a:ea typeface="Segoe UI"/>
                <a:cs typeface="Segoe UI"/>
              </a:defRPr>
            </a:pPr>
            <a:r>
              <a:rPr sz="1800" b="0">
                <a:solidFill>
                  <a:srgbClr val="566775"/>
                </a:solidFill>
                <a:latin typeface="Segoe UI"/>
                <a:ea typeface="Segoe UI"/>
                <a:cs typeface="Segoe UI"/>
              </a:rPr>
              <a:t>lignes de mesures réelles</a:t>
            </a:r>
          </a:p>
        </p:txBody>
      </p:sp>
      <p:sp>
        <p:nvSpPr>
          <p:cNvPr id="11" name="">
            <a:extLst xmlns:a="http://schemas.openxmlformats.org/drawingml/2006/main">
              <a:ext uri="{FF2B5EF4-FFF2-40B4-BE49-F238E27FC236}">
                <a16:creationId xmlns:a16="http://schemas.microsoft.com/office/drawing/2014/main" id="{22D934D8-A24E-417C-B9AC-2F63248F49D7}"/>
              </a:ext>
            </a:extLst>
          </p:cNvPr>
          <p:cNvSpPr>
            <a:spLocks xmlns:a="http://schemas.openxmlformats.org/drawingml/2006/main" noGrp="1"/>
          </p:cNvSpPr>
          <p:nvPr/>
        </p:nvSpPr>
        <p:spPr>
          <a:xfrm xmlns:a="http://schemas.openxmlformats.org/drawingml/2006/main">
            <a:off x="6524625" y="47625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35"/>
                </a:solidFill>
                <a:latin typeface="Segoe UI"/>
                <a:ea typeface="Segoe UI"/>
                <a:cs typeface="Segoe UI"/>
              </a:defRPr>
            </a:defPPr>
          </a:lstStyle>
          <a:p xmlns:a="http://schemas.openxmlformats.org/drawingml/2006/main">
            <a:pPr>
              <a:defRPr sz="2325" b="0">
                <a:solidFill>
                  <a:srgbClr val="142335"/>
                </a:solidFill>
                <a:latin typeface="Segoe UI"/>
                <a:ea typeface="Segoe UI"/>
                <a:cs typeface="Segoe UI"/>
              </a:defRPr>
            </a:pPr>
            <a:r>
              <a:rPr sz="2325" b="0">
                <a:solidFill>
                  <a:srgbClr val="142335"/>
                </a:solidFill>
                <a:latin typeface="Segoe UI"/>
                <a:ea typeface="Segoe UI"/>
                <a:cs typeface="Segoe UI"/>
              </a:rPr>
              <a:t>72 heures observées</a:t>
            </a:r>
          </a:p>
          <a:p xmlns:a="http://schemas.openxmlformats.org/drawingml/2006/main">
            <a:pPr>
              <a:defRPr sz="2325" b="0">
                <a:solidFill>
                  <a:srgbClr val="142335"/>
                </a:solidFill>
                <a:latin typeface="Segoe UI"/>
                <a:ea typeface="Segoe UI"/>
                <a:cs typeface="Segoe UI"/>
              </a:defRPr>
            </a:pPr>
            <a:r>
              <a:rPr sz="2325" b="0">
                <a:solidFill>
                  <a:srgbClr val="142335"/>
                </a:solidFill>
                <a:latin typeface="Segoe UI"/>
                <a:ea typeface="Segoe UI"/>
                <a:cs typeface="Segoe UI"/>
              </a:rPr>
              <a:t>Cible : la température à +24 h</a:t>
            </a:r>
          </a:p>
        </p:txBody>
      </p:sp>
    </p:spTree>
    <p:extLst>
      <p:ext uri="{BB962C8B-B14F-4D97-AF65-F5344CB8AC3E}">
        <p14:creationId xmlns:p14="http://schemas.microsoft.com/office/powerpoint/2010/main" val="647048737"/>
      </p:ext>
    </p:extLst>
  </p:cSld>
</p:sld>
</file>

<file path=ppt/slides/slide4.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180238-91AC-4EAE-BC92-70CF55843824}"/>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EXPÉRIENCE 01</a:t>
            </a:r>
          </a:p>
        </p:txBody>
      </p:sp>
      <p:sp>
        <p:nvSpPr>
          <p:cNvPr id="2" name="">
            <a:extLst xmlns:a="http://schemas.openxmlformats.org/drawingml/2006/main">
              <a:ext uri="{FF2B5EF4-FFF2-40B4-BE49-F238E27FC236}">
                <a16:creationId xmlns:a16="http://schemas.microsoft.com/office/drawing/2014/main" id="{8072C815-55AB-4F2E-B0C1-45C36A4160D7}"/>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1CCC475C-3E43-45A1-A5B6-AEB10C0875D9}"/>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Le cas simple : un motif qui se répète</a:t>
            </a:r>
          </a:p>
        </p:txBody>
      </p:sp>
      <p:pic>
        <p:nvPicPr>
          <p:cNvPr id="4" name="">
            <a:extLst xmlns:a="http://schemas.openxmlformats.org/drawingml/2006/main">
              <a:ext uri="{FF2B5EF4-FFF2-40B4-BE49-F238E27FC236}">
                <a16:creationId xmlns:a16="http://schemas.microsoft.com/office/drawing/2014/main" id="{9150AE25-53F6-4CCA-93FC-2437A554076F}"/>
              </a:ext>
            </a:extLst>
          </p:cNvPr>
          <p:cNvPicPr>
            <a:picLocks xmlns:a="http://schemas.openxmlformats.org/drawingml/2006/main" noChangeAspect="1"/>
          </p:cNvPicPr>
          <p:nvPr/>
        </p:nvPicPr>
        <p:blipFill>
          <a:blip xmlns:r="http://schemas.openxmlformats.org/officeDocument/2006/relationships" xmlns:a="http://schemas.openxmlformats.org/drawingml/2006/main" r:embed="R6e2c9efd3f504c77"/>
          <a:stretch xmlns:a="http://schemas.openxmlformats.org/drawingml/2006/main"/>
        </p:blipFill>
        <p:spPr>
          <a:xfrm xmlns:a="http://schemas.openxmlformats.org/drawingml/2006/main">
            <a:off x="919493" y="1790700"/>
            <a:ext cx="10353013" cy="3381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4CC8F94-D442-45CC-AD58-EA8AD64BB5DC}"/>
              </a:ext>
            </a:extLst>
          </p:cNvPr>
          <p:cNvSpPr>
            <a:spLocks xmlns:a="http://schemas.openxmlformats.org/drawingml/2006/main" noGrp="1"/>
          </p:cNvSpPr>
          <p:nvPr/>
        </p:nvSpPr>
        <p:spPr>
          <a:xfrm xmlns:a="http://schemas.openxmlformats.org/drawingml/2006/main">
            <a:off x="619125" y="53149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28749E"/>
                </a:solidFill>
                <a:latin typeface="Segoe UI"/>
                <a:ea typeface="Segoe UI"/>
                <a:cs typeface="Segoe UI"/>
              </a:defRPr>
            </a:defPPr>
          </a:lstStyle>
          <a:p xmlns:a="http://schemas.openxmlformats.org/drawingml/2006/main">
            <a:pPr>
              <a:defRPr sz="4050" b="1">
                <a:solidFill>
                  <a:srgbClr val="28749E"/>
                </a:solidFill>
                <a:latin typeface="Segoe UI"/>
                <a:ea typeface="Segoe UI"/>
                <a:cs typeface="Segoe UI"/>
              </a:defRPr>
            </a:pPr>
            <a:r>
              <a:rPr sz="4050" b="1">
                <a:solidFill>
                  <a:srgbClr val="28749E"/>
                </a:solidFill>
                <a:latin typeface="Segoe UI"/>
                <a:ea typeface="Segoe UI"/>
                <a:cs typeface="Segoe UI"/>
              </a:rPr>
              <a:t>≈ 40 %</a:t>
            </a:r>
          </a:p>
        </p:txBody>
      </p:sp>
      <p:sp>
        <p:nvSpPr>
          <p:cNvPr id="6" name="">
            <a:extLst xmlns:a="http://schemas.openxmlformats.org/drawingml/2006/main">
              <a:ext uri="{FF2B5EF4-FFF2-40B4-BE49-F238E27FC236}">
                <a16:creationId xmlns:a16="http://schemas.microsoft.com/office/drawing/2014/main" id="{195A10FE-8B86-4AC2-866B-FFAEAEBEBC5B}"/>
              </a:ext>
            </a:extLst>
          </p:cNvPr>
          <p:cNvSpPr>
            <a:spLocks xmlns:a="http://schemas.openxmlformats.org/drawingml/2006/main" noGrp="1"/>
          </p:cNvSpPr>
          <p:nvPr/>
        </p:nvSpPr>
        <p:spPr>
          <a:xfrm xmlns:a="http://schemas.openxmlformats.org/drawingml/2006/main">
            <a:off x="3476625" y="5410200"/>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35"/>
                </a:solidFill>
                <a:latin typeface="Segoe UI"/>
                <a:ea typeface="Segoe UI"/>
                <a:cs typeface="Segoe UI"/>
              </a:defRPr>
            </a:defPPr>
          </a:lstStyle>
          <a:p xmlns:a="http://schemas.openxmlformats.org/drawingml/2006/main">
            <a:pPr>
              <a:defRPr sz="1950" b="0">
                <a:solidFill>
                  <a:srgbClr val="142335"/>
                </a:solidFill>
                <a:latin typeface="Segoe UI"/>
                <a:ea typeface="Segoe UI"/>
                <a:cs typeface="Segoe UI"/>
              </a:defRPr>
            </a:pPr>
            <a:r>
              <a:rPr sz="1950" b="0">
                <a:solidFill>
                  <a:srgbClr val="142335"/>
                </a:solidFill>
                <a:latin typeface="Segoe UI"/>
                <a:ea typeface="Segoe UI"/>
                <a:cs typeface="Segoe UI"/>
              </a:rPr>
              <a:t>de MAE en moins pour SimpleRNN et LSTM</a:t>
            </a:r>
          </a:p>
          <a:p xmlns:a="http://schemas.openxmlformats.org/drawingml/2006/main">
            <a:pPr>
              <a:defRPr sz="1950" b="0">
                <a:solidFill>
                  <a:srgbClr val="142335"/>
                </a:solidFill>
                <a:latin typeface="Segoe UI"/>
                <a:ea typeface="Segoe UI"/>
                <a:cs typeface="Segoe UI"/>
              </a:defRPr>
            </a:pPr>
            <a:r>
              <a:rPr sz="1950" b="0">
                <a:solidFill>
                  <a:srgbClr val="142335"/>
                </a:solidFill>
                <a:latin typeface="Segoe UI"/>
                <a:ea typeface="Segoe UI"/>
                <a:cs typeface="Segoe UI"/>
              </a:rPr>
              <a:t>face à la persistance sur ce test.</a:t>
            </a:r>
          </a:p>
        </p:txBody>
      </p:sp>
    </p:spTree>
    <p:extLst>
      <p:ext uri="{BB962C8B-B14F-4D97-AF65-F5344CB8AC3E}">
        <p14:creationId xmlns:p14="http://schemas.microsoft.com/office/powerpoint/2010/main" val="1160322739"/>
      </p:ext>
    </p:extLst>
  </p:cSld>
</p:sld>
</file>

<file path=ppt/slides/slide5.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81A100-3A64-43D2-8C24-45E872ECCD7E}"/>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LES ARCHITECTURES</a:t>
            </a:r>
          </a:p>
        </p:txBody>
      </p:sp>
      <p:sp>
        <p:nvSpPr>
          <p:cNvPr id="2" name="">
            <a:extLst xmlns:a="http://schemas.openxmlformats.org/drawingml/2006/main">
              <a:ext uri="{FF2B5EF4-FFF2-40B4-BE49-F238E27FC236}">
                <a16:creationId xmlns:a16="http://schemas.microsoft.com/office/drawing/2014/main" id="{8BCD0AE1-6127-4958-BE9A-E39B324C29EF}"/>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05</a:t>
            </a:r>
          </a:p>
        </p:txBody>
      </p:sp>
      <p:sp>
        <p:nvSpPr>
          <p:cNvPr id="3" name="">
            <a:extLst xmlns:a="http://schemas.openxmlformats.org/drawingml/2006/main">
              <a:ext uri="{FF2B5EF4-FFF2-40B4-BE49-F238E27FC236}">
                <a16:creationId xmlns:a16="http://schemas.microsoft.com/office/drawing/2014/main" id="{8CD36E91-9E36-48F9-BCD4-CF744580EED3}"/>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SimpleRNN</a:t>
            </a:r>
          </a:p>
        </p:txBody>
      </p:sp>
      <p:sp>
        <p:nvSpPr>
          <p:cNvPr id="4" name="">
            <a:extLst xmlns:a="http://schemas.openxmlformats.org/drawingml/2006/main">
              <a:ext uri="{FF2B5EF4-FFF2-40B4-BE49-F238E27FC236}">
                <a16:creationId xmlns:a16="http://schemas.microsoft.com/office/drawing/2014/main" id="{40C9A6E2-4B60-4E3B-BE05-6F79BA7E86AB}"/>
              </a:ext>
            </a:extLst>
          </p:cNvPr>
          <p:cNvSpPr>
            <a:spLocks xmlns:a="http://schemas.openxmlformats.org/drawingml/2006/main" noGrp="1"/>
          </p:cNvSpPr>
          <p:nvPr/>
        </p:nvSpPr>
        <p:spPr>
          <a:xfrm xmlns:a="http://schemas.openxmlformats.org/drawingml/2006/main">
            <a:off x="8810625" y="1447800"/>
            <a:ext cx="285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0" b="1">
                <a:solidFill>
                  <a:srgbClr val="1E3345"/>
                </a:solidFill>
                <a:latin typeface="Segoe UI"/>
                <a:ea typeface="Segoe UI"/>
                <a:cs typeface="Segoe UI"/>
              </a:defRPr>
            </a:defPPr>
          </a:lstStyle>
          <a:p xmlns:a="http://schemas.openxmlformats.org/drawingml/2006/main">
            <a:pPr>
              <a:defRPr sz="12750" b="1">
                <a:solidFill>
                  <a:srgbClr val="1E3345"/>
                </a:solidFill>
                <a:latin typeface="Segoe UI"/>
                <a:ea typeface="Segoe UI"/>
                <a:cs typeface="Segoe UI"/>
              </a:defRPr>
            </a:pPr>
            <a:r>
              <a:rPr sz="12750" b="1">
                <a:solidFill>
                  <a:srgbClr val="1E3345"/>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418E8458-FFA4-4798-A8C2-1F0BA3DEEF8B}"/>
              </a:ext>
            </a:extLst>
          </p:cNvPr>
          <p:cNvSpPr>
            <a:spLocks xmlns:a="http://schemas.openxmlformats.org/drawingml/2006/main" noGrp="1"/>
          </p:cNvSpPr>
          <p:nvPr/>
        </p:nvSpPr>
        <p:spPr>
          <a:xfrm xmlns:a="http://schemas.openxmlformats.org/drawingml/2006/main">
            <a:off x="600075" y="212407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68B9E8"/>
                </a:solidFill>
                <a:latin typeface="Segoe UI"/>
                <a:ea typeface="Segoe UI"/>
                <a:cs typeface="Segoe UI"/>
              </a:defRPr>
            </a:defPPr>
          </a:lstStyle>
          <a:p xmlns:a="http://schemas.openxmlformats.org/drawingml/2006/main">
            <a:pPr>
              <a:defRPr sz="1575" b="1">
                <a:solidFill>
                  <a:srgbClr val="68B9E8"/>
                </a:solidFill>
                <a:latin typeface="Segoe UI"/>
                <a:ea typeface="Segoe UI"/>
                <a:cs typeface="Segoe UI"/>
              </a:defRPr>
            </a:pPr>
            <a:r>
              <a:rPr sz="1575" b="1">
                <a:solidFill>
                  <a:srgbClr val="68B9E8"/>
                </a:solidFill>
                <a:latin typeface="Segoe UI"/>
                <a:ea typeface="Segoe UI"/>
                <a:cs typeface="Segoe UI"/>
              </a:rPr>
              <a:t>UN ÉTAT CACHÉ</a:t>
            </a:r>
          </a:p>
        </p:txBody>
      </p:sp>
      <p:sp>
        <p:nvSpPr>
          <p:cNvPr id="6" name="">
            <a:extLst xmlns:a="http://schemas.openxmlformats.org/drawingml/2006/main">
              <a:ext uri="{FF2B5EF4-FFF2-40B4-BE49-F238E27FC236}">
                <a16:creationId xmlns:a16="http://schemas.microsoft.com/office/drawing/2014/main" id="{0E350634-CB00-4FCF-A1B9-8C5D3F60AB98}"/>
              </a:ext>
            </a:extLst>
          </p:cNvPr>
          <p:cNvSpPr>
            <a:spLocks xmlns:a="http://schemas.openxmlformats.org/drawingml/2006/main" noGrp="1"/>
          </p:cNvSpPr>
          <p:nvPr/>
        </p:nvSpPr>
        <p:spPr>
          <a:xfrm xmlns:a="http://schemas.openxmlformats.org/drawingml/2006/main">
            <a:off x="581025" y="2686050"/>
            <a:ext cx="857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3F5F3"/>
                </a:solidFill>
                <a:latin typeface="Segoe UI"/>
                <a:ea typeface="Segoe UI"/>
                <a:cs typeface="Segoe UI"/>
              </a:defRPr>
            </a:defPPr>
          </a:lstStyle>
          <a:p xmlns:a="http://schemas.openxmlformats.org/drawingml/2006/main">
            <a:pPr>
              <a:defRPr sz="4275" b="1">
                <a:solidFill>
                  <a:srgbClr val="F3F5F3"/>
                </a:solidFill>
                <a:latin typeface="Segoe UI"/>
                <a:ea typeface="Segoe UI"/>
                <a:cs typeface="Segoe UI"/>
              </a:defRPr>
            </a:pPr>
            <a:r>
              <a:rPr sz="4275" b="1">
                <a:solidFill>
                  <a:srgbClr val="F3F5F3"/>
                </a:solidFill>
                <a:latin typeface="Segoe UI"/>
                <a:ea typeface="Segoe UI"/>
                <a:cs typeface="Segoe UI"/>
              </a:rPr>
              <a:t>Une valeur arrive.</a:t>
            </a:r>
          </a:p>
          <a:p xmlns:a="http://schemas.openxmlformats.org/drawingml/2006/main">
            <a:pPr>
              <a:defRPr sz="4275" b="1">
                <a:solidFill>
                  <a:srgbClr val="F3F5F3"/>
                </a:solidFill>
                <a:latin typeface="Segoe UI"/>
                <a:ea typeface="Segoe UI"/>
                <a:cs typeface="Segoe UI"/>
              </a:defRPr>
            </a:pPr>
            <a:r>
              <a:rPr sz="4275" b="1">
                <a:solidFill>
                  <a:srgbClr val="F3F5F3"/>
                </a:solidFill>
                <a:latin typeface="Segoe UI"/>
                <a:ea typeface="Segoe UI"/>
                <a:cs typeface="Segoe UI"/>
              </a:rPr>
              <a:t>Le résumé évolue.</a:t>
            </a:r>
          </a:p>
        </p:txBody>
      </p:sp>
      <p:sp>
        <p:nvSpPr>
          <p:cNvPr id="7" name="">
            <a:extLst xmlns:a="http://schemas.openxmlformats.org/drawingml/2006/main">
              <a:ext uri="{FF2B5EF4-FFF2-40B4-BE49-F238E27FC236}">
                <a16:creationId xmlns:a16="http://schemas.microsoft.com/office/drawing/2014/main" id="{47567038-C008-44F4-AAF5-CA34B8726334}"/>
              </a:ext>
            </a:extLst>
          </p:cNvPr>
          <p:cNvSpPr>
            <a:spLocks xmlns:a="http://schemas.openxmlformats.org/drawingml/2006/main" noGrp="1"/>
          </p:cNvSpPr>
          <p:nvPr/>
        </p:nvSpPr>
        <p:spPr>
          <a:xfrm xmlns:a="http://schemas.openxmlformats.org/drawingml/2006/main">
            <a:off x="609600" y="45624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68B9E8"/>
                </a:solidFill>
                <a:latin typeface="Segoe UI"/>
                <a:ea typeface="Segoe UI"/>
                <a:cs typeface="Segoe UI"/>
              </a:defRPr>
            </a:defPPr>
          </a:lstStyle>
          <a:p xmlns:a="http://schemas.openxmlformats.org/drawingml/2006/main">
            <a:pPr>
              <a:defRPr sz="3150" b="1">
                <a:solidFill>
                  <a:srgbClr val="68B9E8"/>
                </a:solidFill>
                <a:latin typeface="Segoe UI"/>
                <a:ea typeface="Segoe UI"/>
                <a:cs typeface="Segoe UI"/>
              </a:defRPr>
            </a:pPr>
            <a:r>
              <a:rPr sz="3150" b="1">
                <a:solidFill>
                  <a:srgbClr val="68B9E8"/>
                </a:solidFill>
                <a:latin typeface="Segoe UI"/>
                <a:ea typeface="Segoe UI"/>
                <a:cs typeface="Segoe UI"/>
              </a:rPr>
              <a:t>hₜ = tanh(Wₓ xₜ + Wₕ hₜ₋₁ + b)</a:t>
            </a:r>
          </a:p>
        </p:txBody>
      </p:sp>
      <p:sp>
        <p:nvSpPr>
          <p:cNvPr id="8" name="">
            <a:extLst xmlns:a="http://schemas.openxmlformats.org/drawingml/2006/main">
              <a:ext uri="{FF2B5EF4-FFF2-40B4-BE49-F238E27FC236}">
                <a16:creationId xmlns:a16="http://schemas.microsoft.com/office/drawing/2014/main" id="{4504197C-4AD1-40EE-AE02-BFD9E17CB556}"/>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Les poids sont partagés dans le temps. Les relations lointaines peuvent être difficiles à apprendre.</a:t>
            </a:r>
          </a:p>
        </p:txBody>
      </p:sp>
    </p:spTree>
    <p:extLst>
      <p:ext uri="{BB962C8B-B14F-4D97-AF65-F5344CB8AC3E}">
        <p14:creationId xmlns:p14="http://schemas.microsoft.com/office/powerpoint/2010/main" val="1945472543"/>
      </p:ext>
    </p:extLst>
  </p:cSld>
</p:sld>
</file>

<file path=ppt/slides/slide6.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7B768EA-2B91-4826-99E9-298B504435E4}"/>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LES ARCHITECTURES</a:t>
            </a:r>
          </a:p>
        </p:txBody>
      </p:sp>
      <p:sp>
        <p:nvSpPr>
          <p:cNvPr id="2" name="">
            <a:extLst xmlns:a="http://schemas.openxmlformats.org/drawingml/2006/main">
              <a:ext uri="{FF2B5EF4-FFF2-40B4-BE49-F238E27FC236}">
                <a16:creationId xmlns:a16="http://schemas.microsoft.com/office/drawing/2014/main" id="{577F92FE-7F52-48C3-BBD8-8B1D6FD76820}"/>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06</a:t>
            </a:r>
          </a:p>
        </p:txBody>
      </p:sp>
      <p:sp>
        <p:nvSpPr>
          <p:cNvPr id="3" name="">
            <a:extLst xmlns:a="http://schemas.openxmlformats.org/drawingml/2006/main">
              <a:ext uri="{FF2B5EF4-FFF2-40B4-BE49-F238E27FC236}">
                <a16:creationId xmlns:a16="http://schemas.microsoft.com/office/drawing/2014/main" id="{0FA4ADB0-5982-43B8-8B0F-13DF8103E084}"/>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LSTM</a:t>
            </a:r>
          </a:p>
        </p:txBody>
      </p:sp>
      <p:sp>
        <p:nvSpPr>
          <p:cNvPr id="4" name="">
            <a:extLst xmlns:a="http://schemas.openxmlformats.org/drawingml/2006/main">
              <a:ext uri="{FF2B5EF4-FFF2-40B4-BE49-F238E27FC236}">
                <a16:creationId xmlns:a16="http://schemas.microsoft.com/office/drawing/2014/main" id="{A649C504-5CA2-47D6-AF74-4F598CA1C377}"/>
              </a:ext>
            </a:extLst>
          </p:cNvPr>
          <p:cNvSpPr>
            <a:spLocks xmlns:a="http://schemas.openxmlformats.org/drawingml/2006/main" noGrp="1"/>
          </p:cNvSpPr>
          <p:nvPr/>
        </p:nvSpPr>
        <p:spPr>
          <a:xfrm xmlns:a="http://schemas.openxmlformats.org/drawingml/2006/main">
            <a:off x="590550" y="19716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EBA36D"/>
                </a:solidFill>
                <a:latin typeface="Segoe UI"/>
                <a:ea typeface="Segoe UI"/>
                <a:cs typeface="Segoe UI"/>
              </a:defRPr>
            </a:defPPr>
          </a:lstStyle>
          <a:p xmlns:a="http://schemas.openxmlformats.org/drawingml/2006/main">
            <a:pPr>
              <a:defRPr sz="1575" b="1">
                <a:solidFill>
                  <a:srgbClr val="EBA36D"/>
                </a:solidFill>
                <a:latin typeface="Segoe UI"/>
                <a:ea typeface="Segoe UI"/>
                <a:cs typeface="Segoe UI"/>
              </a:defRPr>
            </a:pPr>
            <a:r>
              <a:rPr sz="1575" b="1">
                <a:solidFill>
                  <a:srgbClr val="EBA36D"/>
                </a:solidFill>
                <a:latin typeface="Segoe UI"/>
                <a:ea typeface="Segoe UI"/>
                <a:cs typeface="Segoe UI"/>
              </a:rPr>
              <a:t>ÉTAT CACHÉ h  +  ÉTAT DE CELLULE c</a:t>
            </a:r>
          </a:p>
        </p:txBody>
      </p:sp>
      <p:sp>
        <p:nvSpPr>
          <p:cNvPr id="5" name="">
            <a:extLst xmlns:a="http://schemas.openxmlformats.org/drawingml/2006/main">
              <a:ext uri="{FF2B5EF4-FFF2-40B4-BE49-F238E27FC236}">
                <a16:creationId xmlns:a16="http://schemas.microsoft.com/office/drawing/2014/main" id="{57AB85FF-C713-4B39-9C7F-66F599FD0A66}"/>
              </a:ext>
            </a:extLst>
          </p:cNvPr>
          <p:cNvSpPr>
            <a:spLocks xmlns:a="http://schemas.openxmlformats.org/drawingml/2006/main" noGrp="1"/>
          </p:cNvSpPr>
          <p:nvPr/>
        </p:nvSpPr>
        <p:spPr>
          <a:xfrm xmlns:a="http://schemas.openxmlformats.org/drawingml/2006/main">
            <a:off x="590550" y="25241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1">
                <a:solidFill>
                  <a:srgbClr val="EBA36D"/>
                </a:solidFill>
                <a:latin typeface="Segoe UI"/>
                <a:ea typeface="Segoe UI"/>
                <a:cs typeface="Segoe UI"/>
              </a:defRPr>
            </a:defPPr>
          </a:lstStyle>
          <a:p xmlns:a="http://schemas.openxmlformats.org/drawingml/2006/main">
            <a:pPr>
              <a:defRPr sz="5625" b="1">
                <a:solidFill>
                  <a:srgbClr val="EBA36D"/>
                </a:solidFill>
                <a:latin typeface="Segoe UI"/>
                <a:ea typeface="Segoe UI"/>
                <a:cs typeface="Segoe UI"/>
              </a:defRPr>
            </a:pPr>
            <a:r>
              <a:rPr sz="5625" b="1">
                <a:solidFill>
                  <a:srgbClr val="EBA36D"/>
                </a:solidFill>
                <a:latin typeface="Segoe UI"/>
                <a:ea typeface="Segoe UI"/>
                <a:cs typeface="Segoe UI"/>
              </a:rPr>
              <a:t>fₜ</a:t>
            </a:r>
          </a:p>
        </p:txBody>
      </p:sp>
      <p:sp>
        <p:nvSpPr>
          <p:cNvPr id="6" name="">
            <a:extLst xmlns:a="http://schemas.openxmlformats.org/drawingml/2006/main">
              <a:ext uri="{FF2B5EF4-FFF2-40B4-BE49-F238E27FC236}">
                <a16:creationId xmlns:a16="http://schemas.microsoft.com/office/drawing/2014/main" id="{69C6DE4A-3538-4918-B9EE-11D62B838B54}"/>
              </a:ext>
            </a:extLst>
          </p:cNvPr>
          <p:cNvSpPr>
            <a:spLocks xmlns:a="http://schemas.openxmlformats.org/drawingml/2006/main" noGrp="1"/>
          </p:cNvSpPr>
          <p:nvPr/>
        </p:nvSpPr>
        <p:spPr>
          <a:xfrm xmlns:a="http://schemas.openxmlformats.org/drawingml/2006/main">
            <a:off x="59055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3F5F3"/>
                </a:solidFill>
                <a:latin typeface="Segoe UI"/>
                <a:ea typeface="Segoe UI"/>
                <a:cs typeface="Segoe UI"/>
              </a:defRPr>
            </a:defPPr>
          </a:lstStyle>
          <a:p xmlns:a="http://schemas.openxmlformats.org/drawingml/2006/main">
            <a:pPr>
              <a:defRPr sz="2475" b="1">
                <a:solidFill>
                  <a:srgbClr val="F3F5F3"/>
                </a:solidFill>
                <a:latin typeface="Segoe UI"/>
                <a:ea typeface="Segoe UI"/>
                <a:cs typeface="Segoe UI"/>
              </a:defRPr>
            </a:pPr>
            <a:r>
              <a:rPr sz="2475" b="1">
                <a:solidFill>
                  <a:srgbClr val="F3F5F3"/>
                </a:solidFill>
                <a:latin typeface="Segoe UI"/>
                <a:ea typeface="Segoe UI"/>
                <a:cs typeface="Segoe UI"/>
              </a:rPr>
              <a:t>Oubli</a:t>
            </a:r>
          </a:p>
        </p:txBody>
      </p:sp>
      <p:sp>
        <p:nvSpPr>
          <p:cNvPr id="7" name="">
            <a:extLst xmlns:a="http://schemas.openxmlformats.org/drawingml/2006/main">
              <a:ext uri="{FF2B5EF4-FFF2-40B4-BE49-F238E27FC236}">
                <a16:creationId xmlns:a16="http://schemas.microsoft.com/office/drawing/2014/main" id="{5AFBCEEE-DDBF-4542-802D-83D41159EEF3}"/>
              </a:ext>
            </a:extLst>
          </p:cNvPr>
          <p:cNvSpPr>
            <a:spLocks xmlns:a="http://schemas.openxmlformats.org/drawingml/2006/main" noGrp="1"/>
          </p:cNvSpPr>
          <p:nvPr/>
        </p:nvSpPr>
        <p:spPr>
          <a:xfrm xmlns:a="http://schemas.openxmlformats.org/drawingml/2006/main">
            <a:off x="590550" y="43529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5F3"/>
                </a:solidFill>
                <a:latin typeface="Segoe UI"/>
                <a:ea typeface="Segoe UI"/>
                <a:cs typeface="Segoe UI"/>
              </a:defRPr>
            </a:defPPr>
          </a:lstStyle>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Conserver une partie</a:t>
            </a:r>
          </a:p>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de la mémoire précédente.</a:t>
            </a:r>
          </a:p>
        </p:txBody>
      </p:sp>
      <p:sp>
        <p:nvSpPr>
          <p:cNvPr id="8" name="">
            <a:extLst xmlns:a="http://schemas.openxmlformats.org/drawingml/2006/main">
              <a:ext uri="{FF2B5EF4-FFF2-40B4-BE49-F238E27FC236}">
                <a16:creationId xmlns:a16="http://schemas.microsoft.com/office/drawing/2014/main" id="{2ED3E779-22D6-47A2-83A1-65EBB152401F}"/>
              </a:ext>
            </a:extLst>
          </p:cNvPr>
          <p:cNvSpPr>
            <a:spLocks xmlns:a="http://schemas.openxmlformats.org/drawingml/2006/main" noGrp="1"/>
          </p:cNvSpPr>
          <p:nvPr/>
        </p:nvSpPr>
        <p:spPr>
          <a:xfrm xmlns:a="http://schemas.openxmlformats.org/drawingml/2006/main">
            <a:off x="4400550" y="25241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1">
                <a:solidFill>
                  <a:srgbClr val="EBA36D"/>
                </a:solidFill>
                <a:latin typeface="Segoe UI"/>
                <a:ea typeface="Segoe UI"/>
                <a:cs typeface="Segoe UI"/>
              </a:defRPr>
            </a:defPPr>
          </a:lstStyle>
          <a:p xmlns:a="http://schemas.openxmlformats.org/drawingml/2006/main">
            <a:pPr>
              <a:defRPr sz="5625" b="1">
                <a:solidFill>
                  <a:srgbClr val="EBA36D"/>
                </a:solidFill>
                <a:latin typeface="Segoe UI"/>
                <a:ea typeface="Segoe UI"/>
                <a:cs typeface="Segoe UI"/>
              </a:defRPr>
            </a:pPr>
            <a:r>
              <a:rPr sz="5625" b="1">
                <a:solidFill>
                  <a:srgbClr val="EBA36D"/>
                </a:solidFill>
                <a:latin typeface="Segoe UI"/>
                <a:ea typeface="Segoe UI"/>
                <a:cs typeface="Segoe UI"/>
              </a:rPr>
              <a:t>iₜ</a:t>
            </a:r>
          </a:p>
        </p:txBody>
      </p:sp>
      <p:sp>
        <p:nvSpPr>
          <p:cNvPr id="9" name="">
            <a:extLst xmlns:a="http://schemas.openxmlformats.org/drawingml/2006/main">
              <a:ext uri="{FF2B5EF4-FFF2-40B4-BE49-F238E27FC236}">
                <a16:creationId xmlns:a16="http://schemas.microsoft.com/office/drawing/2014/main" id="{258A57C8-D928-4DEB-A1C6-6EB1821EF011}"/>
              </a:ext>
            </a:extLst>
          </p:cNvPr>
          <p:cNvSpPr>
            <a:spLocks xmlns:a="http://schemas.openxmlformats.org/drawingml/2006/main" noGrp="1"/>
          </p:cNvSpPr>
          <p:nvPr/>
        </p:nvSpPr>
        <p:spPr>
          <a:xfrm xmlns:a="http://schemas.openxmlformats.org/drawingml/2006/main">
            <a:off x="440055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3F5F3"/>
                </a:solidFill>
                <a:latin typeface="Segoe UI"/>
                <a:ea typeface="Segoe UI"/>
                <a:cs typeface="Segoe UI"/>
              </a:defRPr>
            </a:defPPr>
          </a:lstStyle>
          <a:p xmlns:a="http://schemas.openxmlformats.org/drawingml/2006/main">
            <a:pPr>
              <a:defRPr sz="2475" b="1">
                <a:solidFill>
                  <a:srgbClr val="F3F5F3"/>
                </a:solidFill>
                <a:latin typeface="Segoe UI"/>
                <a:ea typeface="Segoe UI"/>
                <a:cs typeface="Segoe UI"/>
              </a:defRPr>
            </a:pPr>
            <a:r>
              <a:rPr sz="2475" b="1">
                <a:solidFill>
                  <a:srgbClr val="F3F5F3"/>
                </a:solidFill>
                <a:latin typeface="Segoe UI"/>
                <a:ea typeface="Segoe UI"/>
                <a:cs typeface="Segoe UI"/>
              </a:rPr>
              <a:t>Entrée</a:t>
            </a:r>
          </a:p>
        </p:txBody>
      </p:sp>
      <p:sp>
        <p:nvSpPr>
          <p:cNvPr id="10" name="">
            <a:extLst xmlns:a="http://schemas.openxmlformats.org/drawingml/2006/main">
              <a:ext uri="{FF2B5EF4-FFF2-40B4-BE49-F238E27FC236}">
                <a16:creationId xmlns:a16="http://schemas.microsoft.com/office/drawing/2014/main" id="{76A0D003-663C-49FA-B490-82202BFF1D22}"/>
              </a:ext>
            </a:extLst>
          </p:cNvPr>
          <p:cNvSpPr>
            <a:spLocks xmlns:a="http://schemas.openxmlformats.org/drawingml/2006/main" noGrp="1"/>
          </p:cNvSpPr>
          <p:nvPr/>
        </p:nvSpPr>
        <p:spPr>
          <a:xfrm xmlns:a="http://schemas.openxmlformats.org/drawingml/2006/main">
            <a:off x="4400550" y="43529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5F3"/>
                </a:solidFill>
                <a:latin typeface="Segoe UI"/>
                <a:ea typeface="Segoe UI"/>
                <a:cs typeface="Segoe UI"/>
              </a:defRPr>
            </a:defPPr>
          </a:lstStyle>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Ajouter une partie</a:t>
            </a:r>
          </a:p>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de l’information candidate.</a:t>
            </a:r>
          </a:p>
        </p:txBody>
      </p:sp>
      <p:sp>
        <p:nvSpPr>
          <p:cNvPr id="11" name="">
            <a:extLst xmlns:a="http://schemas.openxmlformats.org/drawingml/2006/main">
              <a:ext uri="{FF2B5EF4-FFF2-40B4-BE49-F238E27FC236}">
                <a16:creationId xmlns:a16="http://schemas.microsoft.com/office/drawing/2014/main" id="{AB4DE0DD-61A9-4844-BF86-FB7C2F2116B6}"/>
              </a:ext>
            </a:extLst>
          </p:cNvPr>
          <p:cNvSpPr>
            <a:spLocks xmlns:a="http://schemas.openxmlformats.org/drawingml/2006/main" noGrp="1"/>
          </p:cNvSpPr>
          <p:nvPr/>
        </p:nvSpPr>
        <p:spPr>
          <a:xfrm xmlns:a="http://schemas.openxmlformats.org/drawingml/2006/main">
            <a:off x="8210550" y="252412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625" b="1">
                <a:solidFill>
                  <a:srgbClr val="EBA36D"/>
                </a:solidFill>
                <a:latin typeface="Segoe UI"/>
                <a:ea typeface="Segoe UI"/>
                <a:cs typeface="Segoe UI"/>
              </a:defRPr>
            </a:defPPr>
          </a:lstStyle>
          <a:p xmlns:a="http://schemas.openxmlformats.org/drawingml/2006/main">
            <a:pPr>
              <a:defRPr sz="5625" b="1">
                <a:solidFill>
                  <a:srgbClr val="EBA36D"/>
                </a:solidFill>
                <a:latin typeface="Segoe UI"/>
                <a:ea typeface="Segoe UI"/>
                <a:cs typeface="Segoe UI"/>
              </a:defRPr>
            </a:pPr>
            <a:r>
              <a:rPr sz="5625" b="1">
                <a:solidFill>
                  <a:srgbClr val="EBA36D"/>
                </a:solidFill>
                <a:latin typeface="Segoe UI"/>
                <a:ea typeface="Segoe UI"/>
                <a:cs typeface="Segoe UI"/>
              </a:rPr>
              <a:t>oₜ</a:t>
            </a:r>
          </a:p>
        </p:txBody>
      </p:sp>
      <p:sp>
        <p:nvSpPr>
          <p:cNvPr id="12" name="">
            <a:extLst xmlns:a="http://schemas.openxmlformats.org/drawingml/2006/main">
              <a:ext uri="{FF2B5EF4-FFF2-40B4-BE49-F238E27FC236}">
                <a16:creationId xmlns:a16="http://schemas.microsoft.com/office/drawing/2014/main" id="{B7090D59-08FD-4110-9220-FFA382953193}"/>
              </a:ext>
            </a:extLst>
          </p:cNvPr>
          <p:cNvSpPr>
            <a:spLocks xmlns:a="http://schemas.openxmlformats.org/drawingml/2006/main" noGrp="1"/>
          </p:cNvSpPr>
          <p:nvPr/>
        </p:nvSpPr>
        <p:spPr>
          <a:xfrm xmlns:a="http://schemas.openxmlformats.org/drawingml/2006/main">
            <a:off x="821055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3F5F3"/>
                </a:solidFill>
                <a:latin typeface="Segoe UI"/>
                <a:ea typeface="Segoe UI"/>
                <a:cs typeface="Segoe UI"/>
              </a:defRPr>
            </a:defPPr>
          </a:lstStyle>
          <a:p xmlns:a="http://schemas.openxmlformats.org/drawingml/2006/main">
            <a:pPr>
              <a:defRPr sz="2475" b="1">
                <a:solidFill>
                  <a:srgbClr val="F3F5F3"/>
                </a:solidFill>
                <a:latin typeface="Segoe UI"/>
                <a:ea typeface="Segoe UI"/>
                <a:cs typeface="Segoe UI"/>
              </a:defRPr>
            </a:pPr>
            <a:r>
              <a:rPr sz="2475" b="1">
                <a:solidFill>
                  <a:srgbClr val="F3F5F3"/>
                </a:solidFill>
                <a:latin typeface="Segoe UI"/>
                <a:ea typeface="Segoe UI"/>
                <a:cs typeface="Segoe UI"/>
              </a:rPr>
              <a:t>Sortie</a:t>
            </a:r>
          </a:p>
        </p:txBody>
      </p:sp>
      <p:sp>
        <p:nvSpPr>
          <p:cNvPr id="13" name="">
            <a:extLst xmlns:a="http://schemas.openxmlformats.org/drawingml/2006/main">
              <a:ext uri="{FF2B5EF4-FFF2-40B4-BE49-F238E27FC236}">
                <a16:creationId xmlns:a16="http://schemas.microsoft.com/office/drawing/2014/main" id="{C1FB4771-3A8C-4F7F-855A-9FE6C62E5A01}"/>
              </a:ext>
            </a:extLst>
          </p:cNvPr>
          <p:cNvSpPr>
            <a:spLocks xmlns:a="http://schemas.openxmlformats.org/drawingml/2006/main" noGrp="1"/>
          </p:cNvSpPr>
          <p:nvPr/>
        </p:nvSpPr>
        <p:spPr>
          <a:xfrm xmlns:a="http://schemas.openxmlformats.org/drawingml/2006/main">
            <a:off x="8210550" y="43529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5F3"/>
                </a:solidFill>
                <a:latin typeface="Segoe UI"/>
                <a:ea typeface="Segoe UI"/>
                <a:cs typeface="Segoe UI"/>
              </a:defRPr>
            </a:defPPr>
          </a:lstStyle>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Transmettre une partie</a:t>
            </a:r>
          </a:p>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de la mémoire dans h.</a:t>
            </a:r>
          </a:p>
        </p:txBody>
      </p:sp>
      <p:sp>
        <p:nvSpPr>
          <p:cNvPr id="14" name="">
            <a:extLst xmlns:a="http://schemas.openxmlformats.org/drawingml/2006/main">
              <a:ext uri="{FF2B5EF4-FFF2-40B4-BE49-F238E27FC236}">
                <a16:creationId xmlns:a16="http://schemas.microsoft.com/office/drawing/2014/main" id="{21117D3B-470D-4B3C-88AD-71C62293A3B4}"/>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Les portes apprennent à doser l’information. Elles ne garantissent pas un meilleur score.</a:t>
            </a:r>
          </a:p>
        </p:txBody>
      </p:sp>
    </p:spTree>
    <p:extLst>
      <p:ext uri="{BB962C8B-B14F-4D97-AF65-F5344CB8AC3E}">
        <p14:creationId xmlns:p14="http://schemas.microsoft.com/office/powerpoint/2010/main" val="874923013"/>
      </p:ext>
    </p:extLst>
  </p:cSld>
</p:sld>
</file>

<file path=ppt/slides/slide7.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8F5A16-6B37-4C84-B0BF-A786C6661A13}"/>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LES ARCHITECTURES</a:t>
            </a:r>
          </a:p>
        </p:txBody>
      </p:sp>
      <p:sp>
        <p:nvSpPr>
          <p:cNvPr id="2" name="">
            <a:extLst xmlns:a="http://schemas.openxmlformats.org/drawingml/2006/main">
              <a:ext uri="{FF2B5EF4-FFF2-40B4-BE49-F238E27FC236}">
                <a16:creationId xmlns:a16="http://schemas.microsoft.com/office/drawing/2014/main" id="{A8F13EFE-1012-4CBA-86F6-9940C3A19D9C}"/>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07</a:t>
            </a:r>
          </a:p>
        </p:txBody>
      </p:sp>
      <p:sp>
        <p:nvSpPr>
          <p:cNvPr id="3" name="">
            <a:extLst xmlns:a="http://schemas.openxmlformats.org/drawingml/2006/main">
              <a:ext uri="{FF2B5EF4-FFF2-40B4-BE49-F238E27FC236}">
                <a16:creationId xmlns:a16="http://schemas.microsoft.com/office/drawing/2014/main" id="{5EEDEF88-6382-4B1E-B670-03CDE71C58D5}"/>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GRU</a:t>
            </a:r>
          </a:p>
        </p:txBody>
      </p:sp>
      <p:sp>
        <p:nvSpPr>
          <p:cNvPr id="4" name="">
            <a:extLst xmlns:a="http://schemas.openxmlformats.org/drawingml/2006/main">
              <a:ext uri="{FF2B5EF4-FFF2-40B4-BE49-F238E27FC236}">
                <a16:creationId xmlns:a16="http://schemas.microsoft.com/office/drawing/2014/main" id="{B91C3E18-A1C4-415C-8E5B-8DBEE3CD38E3}"/>
              </a:ext>
            </a:extLst>
          </p:cNvPr>
          <p:cNvSpPr>
            <a:spLocks xmlns:a="http://schemas.openxmlformats.org/drawingml/2006/main" noGrp="1"/>
          </p:cNvSpPr>
          <p:nvPr/>
        </p:nvSpPr>
        <p:spPr>
          <a:xfrm xmlns:a="http://schemas.openxmlformats.org/drawingml/2006/main">
            <a:off x="590550" y="19716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D0DF8E"/>
                </a:solidFill>
                <a:latin typeface="Segoe UI"/>
                <a:ea typeface="Segoe UI"/>
                <a:cs typeface="Segoe UI"/>
              </a:defRPr>
            </a:defPPr>
          </a:lstStyle>
          <a:p xmlns:a="http://schemas.openxmlformats.org/drawingml/2006/main">
            <a:pPr>
              <a:defRPr sz="1575" b="1">
                <a:solidFill>
                  <a:srgbClr val="D0DF8E"/>
                </a:solidFill>
                <a:latin typeface="Segoe UI"/>
                <a:ea typeface="Segoe UI"/>
                <a:cs typeface="Segoe UI"/>
              </a:defRPr>
            </a:pPr>
            <a:r>
              <a:rPr sz="1575" b="1">
                <a:solidFill>
                  <a:srgbClr val="D0DF8E"/>
                </a:solidFill>
                <a:latin typeface="Segoe UI"/>
                <a:ea typeface="Segoe UI"/>
                <a:cs typeface="Segoe UI"/>
              </a:rPr>
              <a:t>UN ÉTAT CACHÉ, DEUX PORTES</a:t>
            </a:r>
          </a:p>
        </p:txBody>
      </p:sp>
      <p:sp>
        <p:nvSpPr>
          <p:cNvPr id="5" name="">
            <a:extLst xmlns:a="http://schemas.openxmlformats.org/drawingml/2006/main">
              <a:ext uri="{FF2B5EF4-FFF2-40B4-BE49-F238E27FC236}">
                <a16:creationId xmlns:a16="http://schemas.microsoft.com/office/drawing/2014/main" id="{EF7F6857-E4BB-4EEE-A789-E389642762EE}"/>
              </a:ext>
            </a:extLst>
          </p:cNvPr>
          <p:cNvSpPr>
            <a:spLocks xmlns:a="http://schemas.openxmlformats.org/drawingml/2006/main" noGrp="1"/>
          </p:cNvSpPr>
          <p:nvPr/>
        </p:nvSpPr>
        <p:spPr>
          <a:xfrm xmlns:a="http://schemas.openxmlformats.org/drawingml/2006/main">
            <a:off x="600075" y="251460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225" b="1">
                <a:solidFill>
                  <a:srgbClr val="D0DF8E"/>
                </a:solidFill>
                <a:latin typeface="Segoe UI"/>
                <a:ea typeface="Segoe UI"/>
                <a:cs typeface="Segoe UI"/>
              </a:defRPr>
            </a:defPPr>
          </a:lstStyle>
          <a:p xmlns:a="http://schemas.openxmlformats.org/drawingml/2006/main">
            <a:pPr>
              <a:defRPr sz="6225" b="1">
                <a:solidFill>
                  <a:srgbClr val="D0DF8E"/>
                </a:solidFill>
                <a:latin typeface="Segoe UI"/>
                <a:ea typeface="Segoe UI"/>
                <a:cs typeface="Segoe UI"/>
              </a:defRPr>
            </a:pPr>
            <a:r>
              <a:rPr sz="6225" b="1">
                <a:solidFill>
                  <a:srgbClr val="D0DF8E"/>
                </a:solidFill>
                <a:latin typeface="Segoe UI"/>
                <a:ea typeface="Segoe UI"/>
                <a:cs typeface="Segoe UI"/>
              </a:rPr>
              <a:t>rₜ</a:t>
            </a:r>
          </a:p>
        </p:txBody>
      </p:sp>
      <p:sp>
        <p:nvSpPr>
          <p:cNvPr id="6" name="">
            <a:extLst xmlns:a="http://schemas.openxmlformats.org/drawingml/2006/main">
              <a:ext uri="{FF2B5EF4-FFF2-40B4-BE49-F238E27FC236}">
                <a16:creationId xmlns:a16="http://schemas.microsoft.com/office/drawing/2014/main" id="{3387D7C4-1BE7-4FEE-AF7E-329B3DA348F7}"/>
              </a:ext>
            </a:extLst>
          </p:cNvPr>
          <p:cNvSpPr>
            <a:spLocks xmlns:a="http://schemas.openxmlformats.org/drawingml/2006/main" noGrp="1"/>
          </p:cNvSpPr>
          <p:nvPr/>
        </p:nvSpPr>
        <p:spPr>
          <a:xfrm xmlns:a="http://schemas.openxmlformats.org/drawingml/2006/main">
            <a:off x="6572250" y="2514600"/>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225" b="1">
                <a:solidFill>
                  <a:srgbClr val="D0DF8E"/>
                </a:solidFill>
                <a:latin typeface="Segoe UI"/>
                <a:ea typeface="Segoe UI"/>
                <a:cs typeface="Segoe UI"/>
              </a:defRPr>
            </a:defPPr>
          </a:lstStyle>
          <a:p xmlns:a="http://schemas.openxmlformats.org/drawingml/2006/main">
            <a:pPr>
              <a:defRPr sz="6225" b="1">
                <a:solidFill>
                  <a:srgbClr val="D0DF8E"/>
                </a:solidFill>
                <a:latin typeface="Segoe UI"/>
                <a:ea typeface="Segoe UI"/>
                <a:cs typeface="Segoe UI"/>
              </a:defRPr>
            </a:pPr>
            <a:r>
              <a:rPr sz="6225" b="1">
                <a:solidFill>
                  <a:srgbClr val="D0DF8E"/>
                </a:solidFill>
                <a:latin typeface="Segoe UI"/>
                <a:ea typeface="Segoe UI"/>
                <a:cs typeface="Segoe UI"/>
              </a:rPr>
              <a:t>zₜ</a:t>
            </a:r>
          </a:p>
        </p:txBody>
      </p:sp>
      <p:sp>
        <p:nvSpPr>
          <p:cNvPr id="7" name="">
            <a:extLst xmlns:a="http://schemas.openxmlformats.org/drawingml/2006/main">
              <a:ext uri="{FF2B5EF4-FFF2-40B4-BE49-F238E27FC236}">
                <a16:creationId xmlns:a16="http://schemas.microsoft.com/office/drawing/2014/main" id="{3FCC6B32-F486-46C4-AEA4-5B283997788C}"/>
              </a:ext>
            </a:extLst>
          </p:cNvPr>
          <p:cNvSpPr>
            <a:spLocks xmlns:a="http://schemas.openxmlformats.org/drawingml/2006/main" noGrp="1"/>
          </p:cNvSpPr>
          <p:nvPr/>
        </p:nvSpPr>
        <p:spPr>
          <a:xfrm xmlns:a="http://schemas.openxmlformats.org/drawingml/2006/main">
            <a:off x="609600" y="37147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3F5F3"/>
                </a:solidFill>
                <a:latin typeface="Segoe UI"/>
                <a:ea typeface="Segoe UI"/>
                <a:cs typeface="Segoe UI"/>
              </a:defRPr>
            </a:defPPr>
          </a:lstStyle>
          <a:p xmlns:a="http://schemas.openxmlformats.org/drawingml/2006/main">
            <a:pPr>
              <a:defRPr sz="2700" b="1">
                <a:solidFill>
                  <a:srgbClr val="F3F5F3"/>
                </a:solidFill>
                <a:latin typeface="Segoe UI"/>
                <a:ea typeface="Segoe UI"/>
                <a:cs typeface="Segoe UI"/>
              </a:defRPr>
            </a:pPr>
            <a:r>
              <a:rPr sz="2700" b="1">
                <a:solidFill>
                  <a:srgbClr val="F3F5F3"/>
                </a:solidFill>
                <a:latin typeface="Segoe UI"/>
                <a:ea typeface="Segoe UI"/>
                <a:cs typeface="Segoe UI"/>
              </a:rPr>
              <a:t>Réinitialisation</a:t>
            </a:r>
          </a:p>
        </p:txBody>
      </p:sp>
      <p:sp>
        <p:nvSpPr>
          <p:cNvPr id="8" name="">
            <a:extLst xmlns:a="http://schemas.openxmlformats.org/drawingml/2006/main">
              <a:ext uri="{FF2B5EF4-FFF2-40B4-BE49-F238E27FC236}">
                <a16:creationId xmlns:a16="http://schemas.microsoft.com/office/drawing/2014/main" id="{04A6244B-8588-4009-BEE3-2EB2EA314121}"/>
              </a:ext>
            </a:extLst>
          </p:cNvPr>
          <p:cNvSpPr>
            <a:spLocks xmlns:a="http://schemas.openxmlformats.org/drawingml/2006/main" noGrp="1"/>
          </p:cNvSpPr>
          <p:nvPr/>
        </p:nvSpPr>
        <p:spPr>
          <a:xfrm xmlns:a="http://schemas.openxmlformats.org/drawingml/2006/main">
            <a:off x="6572250" y="3714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3F5F3"/>
                </a:solidFill>
                <a:latin typeface="Segoe UI"/>
                <a:ea typeface="Segoe UI"/>
                <a:cs typeface="Segoe UI"/>
              </a:defRPr>
            </a:defPPr>
          </a:lstStyle>
          <a:p xmlns:a="http://schemas.openxmlformats.org/drawingml/2006/main">
            <a:pPr>
              <a:defRPr sz="2700" b="1">
                <a:solidFill>
                  <a:srgbClr val="F3F5F3"/>
                </a:solidFill>
                <a:latin typeface="Segoe UI"/>
                <a:ea typeface="Segoe UI"/>
                <a:cs typeface="Segoe UI"/>
              </a:defRPr>
            </a:pPr>
            <a:r>
              <a:rPr sz="2700" b="1">
                <a:solidFill>
                  <a:srgbClr val="F3F5F3"/>
                </a:solidFill>
                <a:latin typeface="Segoe UI"/>
                <a:ea typeface="Segoe UI"/>
                <a:cs typeface="Segoe UI"/>
              </a:rPr>
              <a:t>Mise à jour</a:t>
            </a:r>
          </a:p>
        </p:txBody>
      </p:sp>
      <p:sp>
        <p:nvSpPr>
          <p:cNvPr id="9" name="">
            <a:extLst xmlns:a="http://schemas.openxmlformats.org/drawingml/2006/main">
              <a:ext uri="{FF2B5EF4-FFF2-40B4-BE49-F238E27FC236}">
                <a16:creationId xmlns:a16="http://schemas.microsoft.com/office/drawing/2014/main" id="{22C34B24-88C4-471F-A9C6-8B64428D37E7}"/>
              </a:ext>
            </a:extLst>
          </p:cNvPr>
          <p:cNvSpPr>
            <a:spLocks xmlns:a="http://schemas.openxmlformats.org/drawingml/2006/main" noGrp="1"/>
          </p:cNvSpPr>
          <p:nvPr/>
        </p:nvSpPr>
        <p:spPr>
          <a:xfrm xmlns:a="http://schemas.openxmlformats.org/drawingml/2006/main">
            <a:off x="619125" y="45243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3F5F3"/>
                </a:solidFill>
                <a:latin typeface="Segoe UI"/>
                <a:ea typeface="Segoe UI"/>
                <a:cs typeface="Segoe UI"/>
              </a:defRPr>
            </a:defPPr>
          </a:lstStyle>
          <a:p xmlns:a="http://schemas.openxmlformats.org/drawingml/2006/main">
            <a:pPr>
              <a:defRPr sz="2175" b="0">
                <a:solidFill>
                  <a:srgbClr val="F3F5F3"/>
                </a:solidFill>
                <a:latin typeface="Segoe UI"/>
                <a:ea typeface="Segoe UI"/>
                <a:cs typeface="Segoe UI"/>
              </a:defRPr>
            </a:pPr>
            <a:r>
              <a:rPr sz="2175" b="0">
                <a:solidFill>
                  <a:srgbClr val="F3F5F3"/>
                </a:solidFill>
                <a:latin typeface="Segoe UI"/>
                <a:ea typeface="Segoe UI"/>
                <a:cs typeface="Segoe UI"/>
              </a:rPr>
              <a:t>Doser le passé dans le calcul</a:t>
            </a:r>
          </a:p>
          <a:p xmlns:a="http://schemas.openxmlformats.org/drawingml/2006/main">
            <a:pPr>
              <a:defRPr sz="2175" b="0">
                <a:solidFill>
                  <a:srgbClr val="F3F5F3"/>
                </a:solidFill>
                <a:latin typeface="Segoe UI"/>
                <a:ea typeface="Segoe UI"/>
                <a:cs typeface="Segoe UI"/>
              </a:defRPr>
            </a:pPr>
            <a:r>
              <a:rPr sz="2175" b="0">
                <a:solidFill>
                  <a:srgbClr val="F3F5F3"/>
                </a:solidFill>
                <a:latin typeface="Segoe UI"/>
                <a:ea typeface="Segoe UI"/>
                <a:cs typeface="Segoe UI"/>
              </a:rPr>
              <a:t>de l’état candidat.</a:t>
            </a:r>
          </a:p>
        </p:txBody>
      </p:sp>
      <p:sp>
        <p:nvSpPr>
          <p:cNvPr id="10" name="">
            <a:extLst xmlns:a="http://schemas.openxmlformats.org/drawingml/2006/main">
              <a:ext uri="{FF2B5EF4-FFF2-40B4-BE49-F238E27FC236}">
                <a16:creationId xmlns:a16="http://schemas.microsoft.com/office/drawing/2014/main" id="{D063C714-7038-4AF6-A8C0-00F88E55FCB5}"/>
              </a:ext>
            </a:extLst>
          </p:cNvPr>
          <p:cNvSpPr>
            <a:spLocks xmlns:a="http://schemas.openxmlformats.org/drawingml/2006/main" noGrp="1"/>
          </p:cNvSpPr>
          <p:nvPr/>
        </p:nvSpPr>
        <p:spPr>
          <a:xfrm xmlns:a="http://schemas.openxmlformats.org/drawingml/2006/main">
            <a:off x="6572250" y="45243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3F5F3"/>
                </a:solidFill>
                <a:latin typeface="Segoe UI"/>
                <a:ea typeface="Segoe UI"/>
                <a:cs typeface="Segoe UI"/>
              </a:defRPr>
            </a:defPPr>
          </a:lstStyle>
          <a:p xmlns:a="http://schemas.openxmlformats.org/drawingml/2006/main">
            <a:pPr>
              <a:defRPr sz="2175" b="0">
                <a:solidFill>
                  <a:srgbClr val="F3F5F3"/>
                </a:solidFill>
                <a:latin typeface="Segoe UI"/>
                <a:ea typeface="Segoe UI"/>
                <a:cs typeface="Segoe UI"/>
              </a:defRPr>
            </a:pPr>
            <a:r>
              <a:rPr sz="2175" b="0">
                <a:solidFill>
                  <a:srgbClr val="F3F5F3"/>
                </a:solidFill>
                <a:latin typeface="Segoe UI"/>
                <a:ea typeface="Segoe UI"/>
                <a:cs typeface="Segoe UI"/>
              </a:rPr>
              <a:t>Combiner l’ancien état</a:t>
            </a:r>
          </a:p>
          <a:p xmlns:a="http://schemas.openxmlformats.org/drawingml/2006/main">
            <a:pPr>
              <a:defRPr sz="2175" b="0">
                <a:solidFill>
                  <a:srgbClr val="F3F5F3"/>
                </a:solidFill>
                <a:latin typeface="Segoe UI"/>
                <a:ea typeface="Segoe UI"/>
                <a:cs typeface="Segoe UI"/>
              </a:defRPr>
            </a:pPr>
            <a:r>
              <a:rPr sz="2175" b="0">
                <a:solidFill>
                  <a:srgbClr val="F3F5F3"/>
                </a:solidFill>
                <a:latin typeface="Segoe UI"/>
                <a:ea typeface="Segoe UI"/>
                <a:cs typeface="Segoe UI"/>
              </a:rPr>
              <a:t>et l’information candidate.</a:t>
            </a:r>
          </a:p>
        </p:txBody>
      </p:sp>
      <p:sp>
        <p:nvSpPr>
          <p:cNvPr id="11" name="">
            <a:extLst xmlns:a="http://schemas.openxmlformats.org/drawingml/2006/main">
              <a:ext uri="{FF2B5EF4-FFF2-40B4-BE49-F238E27FC236}">
                <a16:creationId xmlns:a16="http://schemas.microsoft.com/office/drawing/2014/main" id="{E2BC50FB-B81D-4F2C-A249-5A115F73F7B8}"/>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Pas d’état de cellule séparé. Dans notre modèle, h contient 32 composantes.</a:t>
            </a:r>
          </a:p>
        </p:txBody>
      </p:sp>
    </p:spTree>
    <p:extLst>
      <p:ext uri="{BB962C8B-B14F-4D97-AF65-F5344CB8AC3E}">
        <p14:creationId xmlns:p14="http://schemas.microsoft.com/office/powerpoint/2010/main" val="418329022"/>
      </p:ext>
    </p:extLst>
  </p:cSld>
</p:sld>
</file>

<file path=ppt/slides/slide8.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1F678C-027D-414F-BBD7-B6C476429BFC}"/>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ARCHITECTURE COMMUNE</a:t>
            </a:r>
          </a:p>
        </p:txBody>
      </p:sp>
      <p:sp>
        <p:nvSpPr>
          <p:cNvPr id="2" name="">
            <a:extLst xmlns:a="http://schemas.openxmlformats.org/drawingml/2006/main">
              <a:ext uri="{FF2B5EF4-FFF2-40B4-BE49-F238E27FC236}">
                <a16:creationId xmlns:a16="http://schemas.microsoft.com/office/drawing/2014/main" id="{4A1E8212-3686-48FB-8394-ED0885305ED4}"/>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08</a:t>
            </a:r>
          </a:p>
        </p:txBody>
      </p:sp>
      <p:sp>
        <p:nvSpPr>
          <p:cNvPr id="3" name="">
            <a:extLst xmlns:a="http://schemas.openxmlformats.org/drawingml/2006/main">
              <a:ext uri="{FF2B5EF4-FFF2-40B4-BE49-F238E27FC236}">
                <a16:creationId xmlns:a16="http://schemas.microsoft.com/office/drawing/2014/main" id="{E38D1225-3C4E-436E-9E0D-E8DA00EC0D03}"/>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32 unités. Trois tailles de modèles.</a:t>
            </a:r>
          </a:p>
        </p:txBody>
      </p:sp>
      <p:sp>
        <p:nvSpPr>
          <p:cNvPr id="4" name="">
            <a:extLst xmlns:a="http://schemas.openxmlformats.org/drawingml/2006/main">
              <a:ext uri="{FF2B5EF4-FFF2-40B4-BE49-F238E27FC236}">
                <a16:creationId xmlns:a16="http://schemas.microsoft.com/office/drawing/2014/main" id="{7C811E75-008D-4E6F-86B9-24C85B415070}"/>
              </a:ext>
            </a:extLst>
          </p:cNvPr>
          <p:cNvSpPr>
            <a:spLocks xmlns:a="http://schemas.openxmlformats.org/drawingml/2006/main" noGrp="1"/>
          </p:cNvSpPr>
          <p:nvPr/>
        </p:nvSpPr>
        <p:spPr>
          <a:xfrm xmlns:a="http://schemas.openxmlformats.org/drawingml/2006/main">
            <a:off x="609600" y="2095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9EAFBF"/>
                </a:solidFill>
                <a:latin typeface="Segoe UI"/>
                <a:ea typeface="Segoe UI"/>
                <a:cs typeface="Segoe UI"/>
              </a:defRPr>
            </a:defPPr>
          </a:lstStyle>
          <a:p xmlns:a="http://schemas.openxmlformats.org/drawingml/2006/main">
            <a:pPr>
              <a:defRPr sz="2325" b="0">
                <a:solidFill>
                  <a:srgbClr val="9EAFBF"/>
                </a:solidFill>
                <a:latin typeface="Segoe UI"/>
                <a:ea typeface="Segoe UI"/>
                <a:cs typeface="Segoe UI"/>
              </a:defRPr>
            </a:pPr>
            <a:r>
              <a:rPr sz="2325" b="0">
                <a:solidFill>
                  <a:srgbClr val="9EAFBF"/>
                </a:solidFill>
                <a:latin typeface="Segoe UI"/>
                <a:ea typeface="Segoe UI"/>
                <a:cs typeface="Segoe UI"/>
              </a:rPr>
              <a:t>Entrée (72, 1)     Couche récurrente (32)     Dense(1)</a:t>
            </a:r>
          </a:p>
        </p:txBody>
      </p:sp>
      <p:sp>
        <p:nvSpPr>
          <p:cNvPr id="5" name="">
            <a:extLst xmlns:a="http://schemas.openxmlformats.org/drawingml/2006/main">
              <a:ext uri="{FF2B5EF4-FFF2-40B4-BE49-F238E27FC236}">
                <a16:creationId xmlns:a16="http://schemas.microsoft.com/office/drawing/2014/main" id="{1E0D51C6-EB66-4183-900C-9143F4BD8095}"/>
              </a:ext>
            </a:extLst>
          </p:cNvPr>
          <p:cNvSpPr>
            <a:spLocks xmlns:a="http://schemas.openxmlformats.org/drawingml/2006/main" noGrp="1"/>
          </p:cNvSpPr>
          <p:nvPr/>
        </p:nvSpPr>
        <p:spPr>
          <a:xfrm xmlns:a="http://schemas.openxmlformats.org/drawingml/2006/main">
            <a:off x="609600" y="33337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68B9E8"/>
                </a:solidFill>
                <a:latin typeface="Segoe UI"/>
                <a:ea typeface="Segoe UI"/>
                <a:cs typeface="Segoe UI"/>
              </a:defRPr>
            </a:defPPr>
          </a:lstStyle>
          <a:p xmlns:a="http://schemas.openxmlformats.org/drawingml/2006/main">
            <a:pPr>
              <a:defRPr sz="1575" b="1">
                <a:solidFill>
                  <a:srgbClr val="68B9E8"/>
                </a:solidFill>
                <a:latin typeface="Segoe UI"/>
                <a:ea typeface="Segoe UI"/>
                <a:cs typeface="Segoe UI"/>
              </a:defRPr>
            </a:pPr>
            <a:r>
              <a:rPr sz="1575" b="1">
                <a:solidFill>
                  <a:srgbClr val="68B9E8"/>
                </a:solidFill>
                <a:latin typeface="Segoe UI"/>
                <a:ea typeface="Segoe UI"/>
                <a:cs typeface="Segoe UI"/>
              </a:rPr>
              <a:t>SimpleRNN</a:t>
            </a:r>
          </a:p>
        </p:txBody>
      </p:sp>
      <p:sp>
        <p:nvSpPr>
          <p:cNvPr id="6" name="">
            <a:extLst xmlns:a="http://schemas.openxmlformats.org/drawingml/2006/main">
              <a:ext uri="{FF2B5EF4-FFF2-40B4-BE49-F238E27FC236}">
                <a16:creationId xmlns:a16="http://schemas.microsoft.com/office/drawing/2014/main" id="{AE049052-ACEE-4F98-8015-F45B4286AE71}"/>
              </a:ext>
            </a:extLst>
          </p:cNvPr>
          <p:cNvSpPr>
            <a:spLocks xmlns:a="http://schemas.openxmlformats.org/drawingml/2006/main" noGrp="1"/>
          </p:cNvSpPr>
          <p:nvPr/>
        </p:nvSpPr>
        <p:spPr>
          <a:xfrm xmlns:a="http://schemas.openxmlformats.org/drawingml/2006/main">
            <a:off x="609600" y="3876675"/>
            <a:ext cx="352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68B9E8"/>
                </a:solidFill>
                <a:latin typeface="Segoe UI"/>
                <a:ea typeface="Segoe UI"/>
                <a:cs typeface="Segoe UI"/>
              </a:defRPr>
            </a:defPPr>
          </a:lstStyle>
          <a:p xmlns:a="http://schemas.openxmlformats.org/drawingml/2006/main">
            <a:pPr>
              <a:defRPr sz="6000" b="1">
                <a:solidFill>
                  <a:srgbClr val="68B9E8"/>
                </a:solidFill>
                <a:latin typeface="Segoe UI"/>
                <a:ea typeface="Segoe UI"/>
                <a:cs typeface="Segoe UI"/>
              </a:defRPr>
            </a:pPr>
            <a:r>
              <a:rPr sz="6000" b="1">
                <a:solidFill>
                  <a:srgbClr val="68B9E8"/>
                </a:solidFill>
                <a:latin typeface="Segoe UI"/>
                <a:ea typeface="Segoe UI"/>
                <a:cs typeface="Segoe UI"/>
              </a:rPr>
              <a:t>1 121</a:t>
            </a:r>
          </a:p>
        </p:txBody>
      </p:sp>
      <p:sp>
        <p:nvSpPr>
          <p:cNvPr id="7" name="">
            <a:extLst xmlns:a="http://schemas.openxmlformats.org/drawingml/2006/main">
              <a:ext uri="{FF2B5EF4-FFF2-40B4-BE49-F238E27FC236}">
                <a16:creationId xmlns:a16="http://schemas.microsoft.com/office/drawing/2014/main" id="{55E3C790-A9BB-461A-951E-07992D37C861}"/>
              </a:ext>
            </a:extLst>
          </p:cNvPr>
          <p:cNvSpPr>
            <a:spLocks xmlns:a="http://schemas.openxmlformats.org/drawingml/2006/main" noGrp="1"/>
          </p:cNvSpPr>
          <p:nvPr/>
        </p:nvSpPr>
        <p:spPr>
          <a:xfrm xmlns:a="http://schemas.openxmlformats.org/drawingml/2006/main">
            <a:off x="609600" y="50482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paramètres entraînables</a:t>
            </a:r>
          </a:p>
        </p:txBody>
      </p:sp>
      <p:sp>
        <p:nvSpPr>
          <p:cNvPr id="8" name="">
            <a:extLst xmlns:a="http://schemas.openxmlformats.org/drawingml/2006/main">
              <a:ext uri="{FF2B5EF4-FFF2-40B4-BE49-F238E27FC236}">
                <a16:creationId xmlns:a16="http://schemas.microsoft.com/office/drawing/2014/main" id="{BA979CAE-65A2-4F45-ABDF-4D34C2F449BC}"/>
              </a:ext>
            </a:extLst>
          </p:cNvPr>
          <p:cNvSpPr>
            <a:spLocks xmlns:a="http://schemas.openxmlformats.org/drawingml/2006/main" noGrp="1"/>
          </p:cNvSpPr>
          <p:nvPr/>
        </p:nvSpPr>
        <p:spPr>
          <a:xfrm xmlns:a="http://schemas.openxmlformats.org/drawingml/2006/main">
            <a:off x="4419600" y="33337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EBA36D"/>
                </a:solidFill>
                <a:latin typeface="Segoe UI"/>
                <a:ea typeface="Segoe UI"/>
                <a:cs typeface="Segoe UI"/>
              </a:defRPr>
            </a:defPPr>
          </a:lstStyle>
          <a:p xmlns:a="http://schemas.openxmlformats.org/drawingml/2006/main">
            <a:pPr>
              <a:defRPr sz="1575" b="1">
                <a:solidFill>
                  <a:srgbClr val="EBA36D"/>
                </a:solidFill>
                <a:latin typeface="Segoe UI"/>
                <a:ea typeface="Segoe UI"/>
                <a:cs typeface="Segoe UI"/>
              </a:defRPr>
            </a:pPr>
            <a:r>
              <a:rPr sz="1575" b="1">
                <a:solidFill>
                  <a:srgbClr val="EBA36D"/>
                </a:solidFill>
                <a:latin typeface="Segoe UI"/>
                <a:ea typeface="Segoe UI"/>
                <a:cs typeface="Segoe UI"/>
              </a:rPr>
              <a:t>LSTM</a:t>
            </a:r>
          </a:p>
        </p:txBody>
      </p:sp>
      <p:sp>
        <p:nvSpPr>
          <p:cNvPr id="9" name="">
            <a:extLst xmlns:a="http://schemas.openxmlformats.org/drawingml/2006/main">
              <a:ext uri="{FF2B5EF4-FFF2-40B4-BE49-F238E27FC236}">
                <a16:creationId xmlns:a16="http://schemas.microsoft.com/office/drawing/2014/main" id="{F585FA24-99AA-46BA-A3E4-EEB721835FA9}"/>
              </a:ext>
            </a:extLst>
          </p:cNvPr>
          <p:cNvSpPr>
            <a:spLocks xmlns:a="http://schemas.openxmlformats.org/drawingml/2006/main" noGrp="1"/>
          </p:cNvSpPr>
          <p:nvPr/>
        </p:nvSpPr>
        <p:spPr>
          <a:xfrm xmlns:a="http://schemas.openxmlformats.org/drawingml/2006/main">
            <a:off x="4419600" y="3876675"/>
            <a:ext cx="352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EBA36D"/>
                </a:solidFill>
                <a:latin typeface="Segoe UI"/>
                <a:ea typeface="Segoe UI"/>
                <a:cs typeface="Segoe UI"/>
              </a:defRPr>
            </a:defPPr>
          </a:lstStyle>
          <a:p xmlns:a="http://schemas.openxmlformats.org/drawingml/2006/main">
            <a:pPr>
              <a:defRPr sz="6000" b="1">
                <a:solidFill>
                  <a:srgbClr val="EBA36D"/>
                </a:solidFill>
                <a:latin typeface="Segoe UI"/>
                <a:ea typeface="Segoe UI"/>
                <a:cs typeface="Segoe UI"/>
              </a:defRPr>
            </a:pPr>
            <a:r>
              <a:rPr sz="6000" b="1">
                <a:solidFill>
                  <a:srgbClr val="EBA36D"/>
                </a:solidFill>
                <a:latin typeface="Segoe UI"/>
                <a:ea typeface="Segoe UI"/>
                <a:cs typeface="Segoe UI"/>
              </a:rPr>
              <a:t>4 385</a:t>
            </a:r>
          </a:p>
        </p:txBody>
      </p:sp>
      <p:sp>
        <p:nvSpPr>
          <p:cNvPr id="10" name="">
            <a:extLst xmlns:a="http://schemas.openxmlformats.org/drawingml/2006/main">
              <a:ext uri="{FF2B5EF4-FFF2-40B4-BE49-F238E27FC236}">
                <a16:creationId xmlns:a16="http://schemas.microsoft.com/office/drawing/2014/main" id="{1E5B18BA-BD40-4C27-AB79-D9DC7C6FBADE}"/>
              </a:ext>
            </a:extLst>
          </p:cNvPr>
          <p:cNvSpPr>
            <a:spLocks xmlns:a="http://schemas.openxmlformats.org/drawingml/2006/main" noGrp="1"/>
          </p:cNvSpPr>
          <p:nvPr/>
        </p:nvSpPr>
        <p:spPr>
          <a:xfrm xmlns:a="http://schemas.openxmlformats.org/drawingml/2006/main">
            <a:off x="4419600" y="50482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paramètres entraînables</a:t>
            </a:r>
          </a:p>
        </p:txBody>
      </p:sp>
      <p:sp>
        <p:nvSpPr>
          <p:cNvPr id="11" name="">
            <a:extLst xmlns:a="http://schemas.openxmlformats.org/drawingml/2006/main">
              <a:ext uri="{FF2B5EF4-FFF2-40B4-BE49-F238E27FC236}">
                <a16:creationId xmlns:a16="http://schemas.microsoft.com/office/drawing/2014/main" id="{5888CCF9-8590-43B8-80EA-39D70F85FC51}"/>
              </a:ext>
            </a:extLst>
          </p:cNvPr>
          <p:cNvSpPr>
            <a:spLocks xmlns:a="http://schemas.openxmlformats.org/drawingml/2006/main" noGrp="1"/>
          </p:cNvSpPr>
          <p:nvPr/>
        </p:nvSpPr>
        <p:spPr>
          <a:xfrm xmlns:a="http://schemas.openxmlformats.org/drawingml/2006/main">
            <a:off x="8229600" y="33337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D0DF8E"/>
                </a:solidFill>
                <a:latin typeface="Segoe UI"/>
                <a:ea typeface="Segoe UI"/>
                <a:cs typeface="Segoe UI"/>
              </a:defRPr>
            </a:defPPr>
          </a:lstStyle>
          <a:p xmlns:a="http://schemas.openxmlformats.org/drawingml/2006/main">
            <a:pPr>
              <a:defRPr sz="1575" b="1">
                <a:solidFill>
                  <a:srgbClr val="D0DF8E"/>
                </a:solidFill>
                <a:latin typeface="Segoe UI"/>
                <a:ea typeface="Segoe UI"/>
                <a:cs typeface="Segoe UI"/>
              </a:defRPr>
            </a:pPr>
            <a:r>
              <a:rPr sz="1575" b="1">
                <a:solidFill>
                  <a:srgbClr val="D0DF8E"/>
                </a:solidFill>
                <a:latin typeface="Segoe UI"/>
                <a:ea typeface="Segoe UI"/>
                <a:cs typeface="Segoe UI"/>
              </a:rPr>
              <a:t>GRU</a:t>
            </a:r>
          </a:p>
        </p:txBody>
      </p:sp>
      <p:sp>
        <p:nvSpPr>
          <p:cNvPr id="12" name="">
            <a:extLst xmlns:a="http://schemas.openxmlformats.org/drawingml/2006/main">
              <a:ext uri="{FF2B5EF4-FFF2-40B4-BE49-F238E27FC236}">
                <a16:creationId xmlns:a16="http://schemas.microsoft.com/office/drawing/2014/main" id="{4AE78D94-5A9A-4F5D-91E2-C8EC3A769DF4}"/>
              </a:ext>
            </a:extLst>
          </p:cNvPr>
          <p:cNvSpPr>
            <a:spLocks xmlns:a="http://schemas.openxmlformats.org/drawingml/2006/main" noGrp="1"/>
          </p:cNvSpPr>
          <p:nvPr/>
        </p:nvSpPr>
        <p:spPr>
          <a:xfrm xmlns:a="http://schemas.openxmlformats.org/drawingml/2006/main">
            <a:off x="8229600" y="3876675"/>
            <a:ext cx="352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00" b="1">
                <a:solidFill>
                  <a:srgbClr val="D0DF8E"/>
                </a:solidFill>
                <a:latin typeface="Segoe UI"/>
                <a:ea typeface="Segoe UI"/>
                <a:cs typeface="Segoe UI"/>
              </a:defRPr>
            </a:defPPr>
          </a:lstStyle>
          <a:p xmlns:a="http://schemas.openxmlformats.org/drawingml/2006/main">
            <a:pPr>
              <a:defRPr sz="6000" b="1">
                <a:solidFill>
                  <a:srgbClr val="D0DF8E"/>
                </a:solidFill>
                <a:latin typeface="Segoe UI"/>
                <a:ea typeface="Segoe UI"/>
                <a:cs typeface="Segoe UI"/>
              </a:defRPr>
            </a:pPr>
            <a:r>
              <a:rPr sz="6000" b="1">
                <a:solidFill>
                  <a:srgbClr val="D0DF8E"/>
                </a:solidFill>
                <a:latin typeface="Segoe UI"/>
                <a:ea typeface="Segoe UI"/>
                <a:cs typeface="Segoe UI"/>
              </a:rPr>
              <a:t>3 393</a:t>
            </a:r>
          </a:p>
        </p:txBody>
      </p:sp>
      <p:sp>
        <p:nvSpPr>
          <p:cNvPr id="13" name="">
            <a:extLst xmlns:a="http://schemas.openxmlformats.org/drawingml/2006/main">
              <a:ext uri="{FF2B5EF4-FFF2-40B4-BE49-F238E27FC236}">
                <a16:creationId xmlns:a16="http://schemas.microsoft.com/office/drawing/2014/main" id="{AF21A320-56D7-4CB4-9847-713ABB3FFBB3}"/>
              </a:ext>
            </a:extLst>
          </p:cNvPr>
          <p:cNvSpPr>
            <a:spLocks xmlns:a="http://schemas.openxmlformats.org/drawingml/2006/main" noGrp="1"/>
          </p:cNvSpPr>
          <p:nvPr/>
        </p:nvSpPr>
        <p:spPr>
          <a:xfrm xmlns:a="http://schemas.openxmlformats.org/drawingml/2006/main">
            <a:off x="8229600" y="50482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paramètres entraînables</a:t>
            </a:r>
          </a:p>
        </p:txBody>
      </p:sp>
      <p:sp>
        <p:nvSpPr>
          <p:cNvPr id="14" name="">
            <a:extLst xmlns:a="http://schemas.openxmlformats.org/drawingml/2006/main">
              <a:ext uri="{FF2B5EF4-FFF2-40B4-BE49-F238E27FC236}">
                <a16:creationId xmlns:a16="http://schemas.microsoft.com/office/drawing/2014/main" id="{4B9A2DB3-2846-4869-A834-B900DBB96F70}"/>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La comparaison fixe le nombre d’unités, pas le nombre de paramètres.</a:t>
            </a:r>
          </a:p>
        </p:txBody>
      </p:sp>
    </p:spTree>
    <p:extLst>
      <p:ext uri="{BB962C8B-B14F-4D97-AF65-F5344CB8AC3E}">
        <p14:creationId xmlns:p14="http://schemas.microsoft.com/office/powerpoint/2010/main" val="915399732"/>
      </p:ext>
    </p:extLst>
  </p:cSld>
</p:sld>
</file>

<file path=ppt/slides/slide9.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42DAC7-A303-40C8-8C00-8C64A1F9D201}"/>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EXPÉRIENCE 02</a:t>
            </a:r>
          </a:p>
        </p:txBody>
      </p:sp>
      <p:sp>
        <p:nvSpPr>
          <p:cNvPr id="2" name="">
            <a:extLst xmlns:a="http://schemas.openxmlformats.org/drawingml/2006/main">
              <a:ext uri="{FF2B5EF4-FFF2-40B4-BE49-F238E27FC236}">
                <a16:creationId xmlns:a16="http://schemas.microsoft.com/office/drawing/2014/main" id="{46A755CF-4350-4413-A0EE-F69000DBAD81}"/>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09</a:t>
            </a:r>
          </a:p>
        </p:txBody>
      </p:sp>
      <p:sp>
        <p:nvSpPr>
          <p:cNvPr id="3" name="">
            <a:extLst xmlns:a="http://schemas.openxmlformats.org/drawingml/2006/main">
              <a:ext uri="{FF2B5EF4-FFF2-40B4-BE49-F238E27FC236}">
                <a16:creationId xmlns:a16="http://schemas.microsoft.com/office/drawing/2014/main" id="{1DF8036A-62C7-43C1-B5E1-A1902A1AB373}"/>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Jena : des années de températures</a:t>
            </a:r>
          </a:p>
        </p:txBody>
      </p:sp>
      <p:sp>
        <p:nvSpPr>
          <p:cNvPr id="4" name="">
            <a:extLst xmlns:a="http://schemas.openxmlformats.org/drawingml/2006/main">
              <a:ext uri="{FF2B5EF4-FFF2-40B4-BE49-F238E27FC236}">
                <a16:creationId xmlns:a16="http://schemas.microsoft.com/office/drawing/2014/main" id="{C3A83D75-0622-4DF9-BE93-9252408D766E}"/>
              </a:ext>
            </a:extLst>
          </p:cNvPr>
          <p:cNvSpPr>
            <a:spLocks xmlns:a="http://schemas.openxmlformats.org/drawingml/2006/main" noGrp="1"/>
          </p:cNvSpPr>
          <p:nvPr/>
        </p:nvSpPr>
        <p:spPr>
          <a:xfrm xmlns:a="http://schemas.openxmlformats.org/drawingml/2006/main">
            <a:off x="600075" y="19621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28749E"/>
                </a:solidFill>
                <a:latin typeface="Segoe UI"/>
                <a:ea typeface="Segoe UI"/>
                <a:cs typeface="Segoe UI"/>
              </a:defRPr>
            </a:defPPr>
          </a:lstStyle>
          <a:p xmlns:a="http://schemas.openxmlformats.org/drawingml/2006/main">
            <a:pPr>
              <a:defRPr sz="6450" b="1">
                <a:solidFill>
                  <a:srgbClr val="28749E"/>
                </a:solidFill>
                <a:latin typeface="Segoe UI"/>
                <a:ea typeface="Segoe UI"/>
                <a:cs typeface="Segoe UI"/>
              </a:defRPr>
            </a:pPr>
            <a:r>
              <a:rPr sz="6450" b="1">
                <a:solidFill>
                  <a:srgbClr val="28749E"/>
                </a:solidFill>
                <a:latin typeface="Segoe UI"/>
                <a:ea typeface="Segoe UI"/>
                <a:cs typeface="Segoe UI"/>
              </a:rPr>
              <a:t>70 129</a:t>
            </a:r>
          </a:p>
        </p:txBody>
      </p:sp>
      <p:sp>
        <p:nvSpPr>
          <p:cNvPr id="5" name="">
            <a:extLst xmlns:a="http://schemas.openxmlformats.org/drawingml/2006/main">
              <a:ext uri="{FF2B5EF4-FFF2-40B4-BE49-F238E27FC236}">
                <a16:creationId xmlns:a16="http://schemas.microsoft.com/office/drawing/2014/main" id="{F43FB541-74CB-44C1-916F-F9CF0779F5F9}"/>
              </a:ext>
            </a:extLst>
          </p:cNvPr>
          <p:cNvSpPr>
            <a:spLocks xmlns:a="http://schemas.openxmlformats.org/drawingml/2006/main" noGrp="1"/>
          </p:cNvSpPr>
          <p:nvPr/>
        </p:nvSpPr>
        <p:spPr>
          <a:xfrm xmlns:a="http://schemas.openxmlformats.org/drawingml/2006/main">
            <a:off x="600075" y="313372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66775"/>
                </a:solidFill>
                <a:latin typeface="Segoe UI"/>
                <a:ea typeface="Segoe UI"/>
                <a:cs typeface="Segoe UI"/>
              </a:defRPr>
            </a:defPPr>
          </a:lstStyle>
          <a:p xmlns:a="http://schemas.openxmlformats.org/drawingml/2006/main">
            <a:pPr>
              <a:defRPr sz="1800" b="0">
                <a:solidFill>
                  <a:srgbClr val="566775"/>
                </a:solidFill>
                <a:latin typeface="Segoe UI"/>
                <a:ea typeface="Segoe UI"/>
                <a:cs typeface="Segoe UI"/>
              </a:defRPr>
            </a:pPr>
            <a:r>
              <a:rPr sz="1800" b="0">
                <a:solidFill>
                  <a:srgbClr val="566775"/>
                </a:solidFill>
                <a:latin typeface="Segoe UI"/>
                <a:ea typeface="Segoe UI"/>
                <a:cs typeface="Segoe UI"/>
              </a:rPr>
              <a:t>positions horaires</a:t>
            </a:r>
          </a:p>
        </p:txBody>
      </p:sp>
      <p:sp>
        <p:nvSpPr>
          <p:cNvPr id="6" name="">
            <a:extLst xmlns:a="http://schemas.openxmlformats.org/drawingml/2006/main">
              <a:ext uri="{FF2B5EF4-FFF2-40B4-BE49-F238E27FC236}">
                <a16:creationId xmlns:a16="http://schemas.microsoft.com/office/drawing/2014/main" id="{6C046B7A-C6D6-4C76-8ABC-8D475E393E9A}"/>
              </a:ext>
            </a:extLst>
          </p:cNvPr>
          <p:cNvSpPr>
            <a:spLocks xmlns:a="http://schemas.openxmlformats.org/drawingml/2006/main" noGrp="1"/>
          </p:cNvSpPr>
          <p:nvPr/>
        </p:nvSpPr>
        <p:spPr>
          <a:xfrm xmlns:a="http://schemas.openxmlformats.org/drawingml/2006/main">
            <a:off x="628650" y="42862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35"/>
                </a:solidFill>
                <a:latin typeface="Segoe UI"/>
                <a:ea typeface="Segoe UI"/>
                <a:cs typeface="Segoe UI"/>
              </a:defRPr>
            </a:defPPr>
          </a:lstStyle>
          <a:p xmlns:a="http://schemas.openxmlformats.org/drawingml/2006/main">
            <a:pPr>
              <a:defRPr sz="2325" b="0">
                <a:solidFill>
                  <a:srgbClr val="142335"/>
                </a:solidFill>
                <a:latin typeface="Segoe UI"/>
                <a:ea typeface="Segoe UI"/>
                <a:cs typeface="Segoe UI"/>
              </a:defRPr>
            </a:pPr>
            <a:r>
              <a:rPr sz="2325" b="0">
                <a:solidFill>
                  <a:srgbClr val="142335"/>
                </a:solidFill>
                <a:latin typeface="Segoe UI"/>
                <a:ea typeface="Segoe UI"/>
                <a:cs typeface="Segoe UI"/>
              </a:rPr>
              <a:t>Une variable :</a:t>
            </a:r>
          </a:p>
          <a:p xmlns:a="http://schemas.openxmlformats.org/drawingml/2006/main">
            <a:pPr>
              <a:defRPr sz="2325" b="0">
                <a:solidFill>
                  <a:srgbClr val="142335"/>
                </a:solidFill>
                <a:latin typeface="Segoe UI"/>
                <a:ea typeface="Segoe UI"/>
                <a:cs typeface="Segoe UI"/>
              </a:defRPr>
            </a:pPr>
            <a:r>
              <a:rPr sz="2325" b="0">
                <a:solidFill>
                  <a:srgbClr val="142335"/>
                </a:solidFill>
                <a:latin typeface="Segoe UI"/>
                <a:ea typeface="Segoe UI"/>
                <a:cs typeface="Segoe UI"/>
              </a:rPr>
              <a:t>la température.</a:t>
            </a:r>
          </a:p>
        </p:txBody>
      </p:sp>
      <p:graphicFrame>
        <p:nvGraphicFramePr>
          <p:cNvPr id="7" name="Chart">
            <a:extLst xmlns:a="http://schemas.openxmlformats.org/drawingml/2006/main">
              <a:ext uri="{FF2B5EF4-FFF2-40B4-BE49-F238E27FC236}">
                <a16:creationId xmlns:a16="http://schemas.microsoft.com/office/drawing/2014/main" id="{D0646E9D-6D91-4F77-A066-E1F672B5AE3E}"/>
              </a:ext>
            </a:extLst>
          </p:cNvPr>
          <p:cNvGraphicFramePr/>
          <p:nvPr/>
        </p:nvGraphicFramePr>
        <p:xfrm>
          <a:off xmlns:a="http://schemas.openxmlformats.org/drawingml/2006/main" x="4381500" y="2000250"/>
          <a:ext xmlns:a="http://schemas.openxmlformats.org/drawingml/2006/main" cx="7143750" cy="3476625"/>
        </p:xfrm>
        <a:graphic xmlns:a="http://schemas.openxmlformats.org/drawingml/2006/main">
          <a:graphicData uri="http://schemas.openxmlformats.org/drawingml/2006/chart">
            <c:chart xmlns:r="http://schemas.openxmlformats.org/officeDocument/2006/relationships" xmlns:c="http://schemas.openxmlformats.org/drawingml/2006/chart" r:id="R30fe9f55adc64beb"/>
          </a:graphicData>
        </a:graphic>
      </p:graphicFrame>
      <p:sp>
        <p:nvSpPr>
          <p:cNvPr id="8" name="">
            <a:extLst xmlns:a="http://schemas.openxmlformats.org/drawingml/2006/main">
              <a:ext uri="{FF2B5EF4-FFF2-40B4-BE49-F238E27FC236}">
                <a16:creationId xmlns:a16="http://schemas.microsoft.com/office/drawing/2014/main" id="{3D93DE2B-0764-4437-9ED5-9D532BF7CAB7}"/>
              </a:ext>
            </a:extLst>
          </p:cNvPr>
          <p:cNvSpPr>
            <a:spLocks xmlns:a="http://schemas.openxmlformats.org/drawingml/2006/main" noGrp="1"/>
          </p:cNvSpPr>
          <p:nvPr/>
        </p:nvSpPr>
        <p:spPr>
          <a:xfrm xmlns:a="http://schemas.openxmlformats.org/drawingml/2006/main">
            <a:off x="4667250" y="5476875"/>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66775"/>
                </a:solidFill>
                <a:latin typeface="Segoe UI"/>
                <a:ea typeface="Segoe UI"/>
                <a:cs typeface="Segoe UI"/>
              </a:defRPr>
            </a:defPPr>
          </a:lstStyle>
          <a:p xmlns:a="http://schemas.openxmlformats.org/drawingml/2006/main">
            <a:pPr>
              <a:defRPr sz="1650" b="0">
                <a:solidFill>
                  <a:srgbClr val="566775"/>
                </a:solidFill>
                <a:latin typeface="Segoe UI"/>
                <a:ea typeface="Segoe UI"/>
                <a:cs typeface="Segoe UI"/>
              </a:defRPr>
            </a:pPr>
            <a:r>
              <a:rPr sz="1650" b="0">
                <a:solidFill>
                  <a:srgbClr val="566775"/>
                </a:solidFill>
                <a:latin typeface="Segoe UI"/>
                <a:ea typeface="Segoe UI"/>
                <a:cs typeface="Segoe UI"/>
              </a:rPr>
              <a:t>2009</a:t>
            </a:r>
          </a:p>
        </p:txBody>
      </p:sp>
      <p:sp>
        <p:nvSpPr>
          <p:cNvPr id="9" name="">
            <a:extLst xmlns:a="http://schemas.openxmlformats.org/drawingml/2006/main">
              <a:ext uri="{FF2B5EF4-FFF2-40B4-BE49-F238E27FC236}">
                <a16:creationId xmlns:a16="http://schemas.microsoft.com/office/drawing/2014/main" id="{108B2862-6D24-4997-96CF-83D4F21CA409}"/>
              </a:ext>
            </a:extLst>
          </p:cNvPr>
          <p:cNvSpPr>
            <a:spLocks xmlns:a="http://schemas.openxmlformats.org/drawingml/2006/main" noGrp="1"/>
          </p:cNvSpPr>
          <p:nvPr/>
        </p:nvSpPr>
        <p:spPr>
          <a:xfrm xmlns:a="http://schemas.openxmlformats.org/drawingml/2006/main">
            <a:off x="10572750" y="5476875"/>
            <a:ext cx="104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66775"/>
                </a:solidFill>
                <a:latin typeface="Segoe UI"/>
                <a:ea typeface="Segoe UI"/>
                <a:cs typeface="Segoe UI"/>
              </a:defRPr>
            </a:defPPr>
          </a:lstStyle>
          <a:p xmlns:a="http://schemas.openxmlformats.org/drawingml/2006/main">
            <a:pPr>
              <a:defRPr sz="1650" b="0">
                <a:solidFill>
                  <a:srgbClr val="566775"/>
                </a:solidFill>
                <a:latin typeface="Segoe UI"/>
                <a:ea typeface="Segoe UI"/>
                <a:cs typeface="Segoe UI"/>
              </a:defRPr>
            </a:pPr>
            <a:r>
              <a:rPr sz="1650" b="0">
                <a:solidFill>
                  <a:srgbClr val="566775"/>
                </a:solidFill>
                <a:latin typeface="Segoe UI"/>
                <a:ea typeface="Segoe UI"/>
                <a:cs typeface="Segoe UI"/>
              </a:rPr>
              <a:t>2015</a:t>
            </a:r>
          </a:p>
        </p:txBody>
      </p:sp>
      <p:sp>
        <p:nvSpPr>
          <p:cNvPr id="10" name="">
            <a:extLst xmlns:a="http://schemas.openxmlformats.org/drawingml/2006/main">
              <a:ext uri="{FF2B5EF4-FFF2-40B4-BE49-F238E27FC236}">
                <a16:creationId xmlns:a16="http://schemas.microsoft.com/office/drawing/2014/main" id="{7897E9CA-9CF6-44B0-9EAC-F68FA8A9C051}"/>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66775"/>
                </a:solidFill>
                <a:latin typeface="Segoe UI"/>
                <a:ea typeface="Segoe UI"/>
                <a:cs typeface="Segoe UI"/>
              </a:defRPr>
            </a:defPPr>
          </a:lstStyle>
          <a:p xmlns:a="http://schemas.openxmlformats.org/drawingml/2006/main">
            <a:pPr>
              <a:defRPr sz="1575" b="0">
                <a:solidFill>
                  <a:srgbClr val="566775"/>
                </a:solidFill>
                <a:latin typeface="Segoe UI"/>
                <a:ea typeface="Segoe UI"/>
                <a:cs typeface="Segoe UI"/>
              </a:defRPr>
            </a:pPr>
            <a:r>
              <a:rPr sz="1575" b="0">
                <a:solidFill>
                  <a:srgbClr val="566775"/>
                </a:solidFill>
                <a:latin typeface="Segoe UI"/>
                <a:ea typeface="Segoe UI"/>
                <a:cs typeface="Segoe UI"/>
              </a:rPr>
              <a:t>Vue mensuelle pour la lecture. Les modèles utilisent les températures horaires.</a:t>
            </a:r>
          </a:p>
        </p:txBody>
      </p:sp>
    </p:spTree>
    <p:extLst>
      <p:ext uri="{BB962C8B-B14F-4D97-AF65-F5344CB8AC3E}">
        <p14:creationId xmlns:p14="http://schemas.microsoft.com/office/powerpoint/2010/main" val="423627886"/>
      </p:ext>
    </p:extLst>
  </p:cSld>
</p:sld>
</file>

<file path=ppt/slides/slide10.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C74454-322E-4AC9-B333-2A5618A528FF}"/>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PRÉPARATION</a:t>
            </a:r>
          </a:p>
        </p:txBody>
      </p:sp>
      <p:sp>
        <p:nvSpPr>
          <p:cNvPr id="2" name="">
            <a:extLst xmlns:a="http://schemas.openxmlformats.org/drawingml/2006/main">
              <a:ext uri="{FF2B5EF4-FFF2-40B4-BE49-F238E27FC236}">
                <a16:creationId xmlns:a16="http://schemas.microsoft.com/office/drawing/2014/main" id="{770F48BF-4031-4F47-B615-D2C59EDA3E3F}"/>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10</a:t>
            </a:r>
          </a:p>
        </p:txBody>
      </p:sp>
      <p:sp>
        <p:nvSpPr>
          <p:cNvPr id="3" name="">
            <a:extLst xmlns:a="http://schemas.openxmlformats.org/drawingml/2006/main">
              <a:ext uri="{FF2B5EF4-FFF2-40B4-BE49-F238E27FC236}">
                <a16:creationId xmlns:a16="http://schemas.microsoft.com/office/drawing/2014/main" id="{95C27568-2AC2-40AD-B333-3E39CB78C7EF}"/>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Les lacunes font partie des données réelles</a:t>
            </a:r>
          </a:p>
        </p:txBody>
      </p:sp>
      <p:sp>
        <p:nvSpPr>
          <p:cNvPr id="4" name="">
            <a:extLst xmlns:a="http://schemas.openxmlformats.org/drawingml/2006/main">
              <a:ext uri="{FF2B5EF4-FFF2-40B4-BE49-F238E27FC236}">
                <a16:creationId xmlns:a16="http://schemas.microsoft.com/office/drawing/2014/main" id="{75191A64-A8E6-4EB4-9CF1-3AD931F4C9D0}"/>
              </a:ext>
            </a:extLst>
          </p:cNvPr>
          <p:cNvSpPr>
            <a:spLocks xmlns:a="http://schemas.openxmlformats.org/drawingml/2006/main" noGrp="1"/>
          </p:cNvSpPr>
          <p:nvPr/>
        </p:nvSpPr>
        <p:spPr>
          <a:xfrm xmlns:a="http://schemas.openxmlformats.org/drawingml/2006/main">
            <a:off x="609600" y="2190750"/>
            <a:ext cx="3429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0" b="1">
                <a:solidFill>
                  <a:srgbClr val="F3F5F3"/>
                </a:solidFill>
                <a:latin typeface="Segoe UI"/>
                <a:ea typeface="Segoe UI"/>
                <a:cs typeface="Segoe UI"/>
              </a:defRPr>
            </a:defPPr>
          </a:lstStyle>
          <a:p xmlns:a="http://schemas.openxmlformats.org/drawingml/2006/main">
            <a:pPr>
              <a:defRPr sz="8250" b="1">
                <a:solidFill>
                  <a:srgbClr val="F3F5F3"/>
                </a:solidFill>
                <a:latin typeface="Segoe UI"/>
                <a:ea typeface="Segoe UI"/>
                <a:cs typeface="Segoe UI"/>
              </a:defRPr>
            </a:pPr>
            <a:r>
              <a:rPr sz="8250" b="1">
                <a:solidFill>
                  <a:srgbClr val="F3F5F3"/>
                </a:solidFill>
                <a:latin typeface="Segoe UI"/>
                <a:ea typeface="Segoe UI"/>
                <a:cs typeface="Segoe UI"/>
              </a:rPr>
              <a:t>88</a:t>
            </a:r>
          </a:p>
        </p:txBody>
      </p:sp>
      <p:sp>
        <p:nvSpPr>
          <p:cNvPr id="5" name="">
            <a:extLst xmlns:a="http://schemas.openxmlformats.org/drawingml/2006/main">
              <a:ext uri="{FF2B5EF4-FFF2-40B4-BE49-F238E27FC236}">
                <a16:creationId xmlns:a16="http://schemas.microsoft.com/office/drawing/2014/main" id="{FD94AB86-9391-4411-8221-FCAD54D5A920}"/>
              </a:ext>
            </a:extLst>
          </p:cNvPr>
          <p:cNvSpPr>
            <a:spLocks xmlns:a="http://schemas.openxmlformats.org/drawingml/2006/main" noGrp="1"/>
          </p:cNvSpPr>
          <p:nvPr/>
        </p:nvSpPr>
        <p:spPr>
          <a:xfrm xmlns:a="http://schemas.openxmlformats.org/drawingml/2006/main">
            <a:off x="609600" y="33623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heures sans observation</a:t>
            </a:r>
          </a:p>
        </p:txBody>
      </p:sp>
      <p:sp>
        <p:nvSpPr>
          <p:cNvPr id="6" name="">
            <a:extLst xmlns:a="http://schemas.openxmlformats.org/drawingml/2006/main">
              <a:ext uri="{FF2B5EF4-FFF2-40B4-BE49-F238E27FC236}">
                <a16:creationId xmlns:a16="http://schemas.microsoft.com/office/drawing/2014/main" id="{3C7CF8CF-DF95-4464-8C49-A38E4D1108CA}"/>
              </a:ext>
            </a:extLst>
          </p:cNvPr>
          <p:cNvSpPr>
            <a:spLocks xmlns:a="http://schemas.openxmlformats.org/drawingml/2006/main" noGrp="1"/>
          </p:cNvSpPr>
          <p:nvPr/>
        </p:nvSpPr>
        <p:spPr>
          <a:xfrm xmlns:a="http://schemas.openxmlformats.org/drawingml/2006/main">
            <a:off x="4448175" y="2190750"/>
            <a:ext cx="352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0" b="1">
                <a:solidFill>
                  <a:srgbClr val="68B9E8"/>
                </a:solidFill>
                <a:latin typeface="Segoe UI"/>
                <a:ea typeface="Segoe UI"/>
                <a:cs typeface="Segoe UI"/>
              </a:defRPr>
            </a:defPPr>
          </a:lstStyle>
          <a:p xmlns:a="http://schemas.openxmlformats.org/drawingml/2006/main">
            <a:pPr>
              <a:defRPr sz="8250" b="1">
                <a:solidFill>
                  <a:srgbClr val="68B9E8"/>
                </a:solidFill>
                <a:latin typeface="Segoe UI"/>
                <a:ea typeface="Segoe UI"/>
                <a:cs typeface="Segoe UI"/>
              </a:defRPr>
            </a:pPr>
            <a:r>
              <a:rPr sz="8250" b="1">
                <a:solidFill>
                  <a:srgbClr val="68B9E8"/>
                </a:solidFill>
                <a:latin typeface="Segoe UI"/>
                <a:ea typeface="Segoe UI"/>
                <a:cs typeface="Segoe UI"/>
              </a:rPr>
              <a:t>6</a:t>
            </a:r>
          </a:p>
        </p:txBody>
      </p:sp>
      <p:sp>
        <p:nvSpPr>
          <p:cNvPr id="7" name="">
            <a:extLst xmlns:a="http://schemas.openxmlformats.org/drawingml/2006/main">
              <a:ext uri="{FF2B5EF4-FFF2-40B4-BE49-F238E27FC236}">
                <a16:creationId xmlns:a16="http://schemas.microsoft.com/office/drawing/2014/main" id="{2DABF920-5E4C-4F91-A040-6612A94765F1}"/>
              </a:ext>
            </a:extLst>
          </p:cNvPr>
          <p:cNvSpPr>
            <a:spLocks xmlns:a="http://schemas.openxmlformats.org/drawingml/2006/main" noGrp="1"/>
          </p:cNvSpPr>
          <p:nvPr/>
        </p:nvSpPr>
        <p:spPr>
          <a:xfrm xmlns:a="http://schemas.openxmlformats.org/drawingml/2006/main">
            <a:off x="4448175" y="33623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heures comblées depuis le passé</a:t>
            </a:r>
          </a:p>
        </p:txBody>
      </p:sp>
      <p:sp>
        <p:nvSpPr>
          <p:cNvPr id="8" name="">
            <a:extLst xmlns:a="http://schemas.openxmlformats.org/drawingml/2006/main">
              <a:ext uri="{FF2B5EF4-FFF2-40B4-BE49-F238E27FC236}">
                <a16:creationId xmlns:a16="http://schemas.microsoft.com/office/drawing/2014/main" id="{AB346C40-9A96-4906-AB3B-E17E20A941E2}"/>
              </a:ext>
            </a:extLst>
          </p:cNvPr>
          <p:cNvSpPr>
            <a:spLocks xmlns:a="http://schemas.openxmlformats.org/drawingml/2006/main" noGrp="1"/>
          </p:cNvSpPr>
          <p:nvPr/>
        </p:nvSpPr>
        <p:spPr>
          <a:xfrm xmlns:a="http://schemas.openxmlformats.org/drawingml/2006/main">
            <a:off x="8296275" y="2190750"/>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0" b="1">
                <a:solidFill>
                  <a:srgbClr val="EBA36D"/>
                </a:solidFill>
                <a:latin typeface="Segoe UI"/>
                <a:ea typeface="Segoe UI"/>
                <a:cs typeface="Segoe UI"/>
              </a:defRPr>
            </a:defPPr>
          </a:lstStyle>
          <a:p xmlns:a="http://schemas.openxmlformats.org/drawingml/2006/main">
            <a:pPr>
              <a:defRPr sz="8250" b="1">
                <a:solidFill>
                  <a:srgbClr val="EBA36D"/>
                </a:solidFill>
                <a:latin typeface="Segoe UI"/>
                <a:ea typeface="Segoe UI"/>
                <a:cs typeface="Segoe UI"/>
              </a:defRPr>
            </a:pPr>
            <a:r>
              <a:rPr sz="8250" b="1">
                <a:solidFill>
                  <a:srgbClr val="EBA36D"/>
                </a:solidFill>
                <a:latin typeface="Segoe UI"/>
                <a:ea typeface="Segoe UI"/>
                <a:cs typeface="Segoe UI"/>
              </a:rPr>
              <a:t>82</a:t>
            </a:r>
          </a:p>
        </p:txBody>
      </p:sp>
      <p:sp>
        <p:nvSpPr>
          <p:cNvPr id="9" name="">
            <a:extLst xmlns:a="http://schemas.openxmlformats.org/drawingml/2006/main">
              <a:ext uri="{FF2B5EF4-FFF2-40B4-BE49-F238E27FC236}">
                <a16:creationId xmlns:a16="http://schemas.microsoft.com/office/drawing/2014/main" id="{1994E0F8-F809-4CDA-B9A9-707BFDF1BD8D}"/>
              </a:ext>
            </a:extLst>
          </p:cNvPr>
          <p:cNvSpPr>
            <a:spLocks xmlns:a="http://schemas.openxmlformats.org/drawingml/2006/main" noGrp="1"/>
          </p:cNvSpPr>
          <p:nvPr/>
        </p:nvSpPr>
        <p:spPr>
          <a:xfrm xmlns:a="http://schemas.openxmlformats.org/drawingml/2006/main">
            <a:off x="8296275" y="33623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heures laissées absentes</a:t>
            </a:r>
          </a:p>
        </p:txBody>
      </p:sp>
      <p:sp>
        <p:nvSpPr>
          <p:cNvPr id="10" name="">
            <a:extLst xmlns:a="http://schemas.openxmlformats.org/drawingml/2006/main">
              <a:ext uri="{FF2B5EF4-FFF2-40B4-BE49-F238E27FC236}">
                <a16:creationId xmlns:a16="http://schemas.microsoft.com/office/drawing/2014/main" id="{6D9517D8-BB7D-4E23-A552-65CF84E8FD57}"/>
              </a:ext>
            </a:extLst>
          </p:cNvPr>
          <p:cNvSpPr>
            <a:spLocks xmlns:a="http://schemas.openxmlformats.org/drawingml/2006/main" noGrp="1"/>
          </p:cNvSpPr>
          <p:nvPr/>
        </p:nvSpPr>
        <p:spPr>
          <a:xfrm xmlns:a="http://schemas.openxmlformats.org/drawingml/2006/main">
            <a:off x="628650" y="4600575"/>
            <a:ext cx="238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D0DF8E"/>
                </a:solidFill>
                <a:latin typeface="Segoe UI"/>
                <a:ea typeface="Segoe UI"/>
                <a:cs typeface="Segoe UI"/>
              </a:defRPr>
            </a:defPPr>
          </a:lstStyle>
          <a:p xmlns:a="http://schemas.openxmlformats.org/drawingml/2006/main">
            <a:pPr>
              <a:defRPr sz="5550" b="1">
                <a:solidFill>
                  <a:srgbClr val="D0DF8E"/>
                </a:solidFill>
                <a:latin typeface="Segoe UI"/>
                <a:ea typeface="Segoe UI"/>
                <a:cs typeface="Segoe UI"/>
              </a:defRPr>
            </a:pPr>
            <a:r>
              <a:rPr sz="5550" b="1">
                <a:solidFill>
                  <a:srgbClr val="D0DF8E"/>
                </a:solidFill>
                <a:latin typeface="Segoe UI"/>
                <a:ea typeface="Segoe UI"/>
                <a:cs typeface="Segoe UI"/>
              </a:rPr>
              <a:t>348</a:t>
            </a:r>
          </a:p>
        </p:txBody>
      </p:sp>
      <p:sp>
        <p:nvSpPr>
          <p:cNvPr id="11" name="">
            <a:extLst xmlns:a="http://schemas.openxmlformats.org/drawingml/2006/main">
              <a:ext uri="{FF2B5EF4-FFF2-40B4-BE49-F238E27FC236}">
                <a16:creationId xmlns:a16="http://schemas.microsoft.com/office/drawing/2014/main" id="{C8998B82-58D6-4257-BB3E-21E0988F28EB}"/>
              </a:ext>
            </a:extLst>
          </p:cNvPr>
          <p:cNvSpPr>
            <a:spLocks xmlns:a="http://schemas.openxmlformats.org/drawingml/2006/main" noGrp="1"/>
          </p:cNvSpPr>
          <p:nvPr/>
        </p:nvSpPr>
        <p:spPr>
          <a:xfrm xmlns:a="http://schemas.openxmlformats.org/drawingml/2006/main">
            <a:off x="3381375" y="4762500"/>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3F5F3"/>
                </a:solidFill>
                <a:latin typeface="Segoe UI"/>
                <a:ea typeface="Segoe UI"/>
                <a:cs typeface="Segoe UI"/>
              </a:defRPr>
            </a:defPPr>
          </a:lstStyle>
          <a:p xmlns:a="http://schemas.openxmlformats.org/drawingml/2006/main">
            <a:pPr>
              <a:defRPr sz="2100" b="0">
                <a:solidFill>
                  <a:srgbClr val="F3F5F3"/>
                </a:solidFill>
                <a:latin typeface="Segoe UI"/>
                <a:ea typeface="Segoe UI"/>
                <a:cs typeface="Segoe UI"/>
              </a:defRPr>
            </a:pPr>
            <a:r>
              <a:rPr sz="2100" b="0">
                <a:solidFill>
                  <a:srgbClr val="F3F5F3"/>
                </a:solidFill>
                <a:latin typeface="Segoe UI"/>
                <a:ea typeface="Segoe UI"/>
                <a:cs typeface="Segoe UI"/>
              </a:rPr>
              <a:t>candidats exclus pour garder des fenêtres complètes</a:t>
            </a:r>
          </a:p>
          <a:p xmlns:a="http://schemas.openxmlformats.org/drawingml/2006/main">
            <a:pPr>
              <a:defRPr sz="2100" b="0">
                <a:solidFill>
                  <a:srgbClr val="F3F5F3"/>
                </a:solidFill>
                <a:latin typeface="Segoe UI"/>
                <a:ea typeface="Segoe UI"/>
                <a:cs typeface="Segoe UI"/>
              </a:defRPr>
            </a:pPr>
            <a:r>
              <a:rPr sz="2100" b="0">
                <a:solidFill>
                  <a:srgbClr val="F3F5F3"/>
                </a:solidFill>
                <a:latin typeface="Segoe UI"/>
                <a:ea typeface="Segoe UI"/>
                <a:cs typeface="Segoe UI"/>
              </a:rPr>
              <a:t>et des cibles réellement observées.</a:t>
            </a:r>
          </a:p>
        </p:txBody>
      </p:sp>
      <p:sp>
        <p:nvSpPr>
          <p:cNvPr id="12" name="">
            <a:extLst xmlns:a="http://schemas.openxmlformats.org/drawingml/2006/main">
              <a:ext uri="{FF2B5EF4-FFF2-40B4-BE49-F238E27FC236}">
                <a16:creationId xmlns:a16="http://schemas.microsoft.com/office/drawing/2014/main" id="{22B1BACA-00B1-4C8D-85D6-7908B93CEF92}"/>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Remplissage limité à 3 h par lacune. La grille reste horaire, même pendant les trous.</a:t>
            </a:r>
          </a:p>
        </p:txBody>
      </p:sp>
    </p:spTree>
    <p:extLst>
      <p:ext uri="{BB962C8B-B14F-4D97-AF65-F5344CB8AC3E}">
        <p14:creationId xmlns:p14="http://schemas.microsoft.com/office/powerpoint/2010/main" val="1116576217"/>
      </p:ext>
    </p:extLst>
  </p:cSld>
</p:sld>
</file>

<file path=ppt/slides/slide11.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034FD6-4B12-44BE-B11A-19F94713A2A4}"/>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LA FENÊTRE TEMPORELLE</a:t>
            </a:r>
          </a:p>
        </p:txBody>
      </p:sp>
      <p:sp>
        <p:nvSpPr>
          <p:cNvPr id="2" name="">
            <a:extLst xmlns:a="http://schemas.openxmlformats.org/drawingml/2006/main">
              <a:ext uri="{FF2B5EF4-FFF2-40B4-BE49-F238E27FC236}">
                <a16:creationId xmlns:a16="http://schemas.microsoft.com/office/drawing/2014/main" id="{05C392CA-201A-41A8-95BE-8F76EDB58DD5}"/>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11</a:t>
            </a:r>
          </a:p>
        </p:txBody>
      </p:sp>
      <p:sp>
        <p:nvSpPr>
          <p:cNvPr id="3" name="">
            <a:extLst xmlns:a="http://schemas.openxmlformats.org/drawingml/2006/main">
              <a:ext uri="{FF2B5EF4-FFF2-40B4-BE49-F238E27FC236}">
                <a16:creationId xmlns:a16="http://schemas.microsoft.com/office/drawing/2014/main" id="{FCA015DC-6B72-4C9A-AB1E-8E28250E1FC1}"/>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72 heures pour prévoir à +24 h</a:t>
            </a:r>
          </a:p>
        </p:txBody>
      </p:sp>
      <p:pic>
        <p:nvPicPr>
          <p:cNvPr id="4" name="">
            <a:extLst xmlns:a="http://schemas.openxmlformats.org/drawingml/2006/main">
              <a:ext uri="{FF2B5EF4-FFF2-40B4-BE49-F238E27FC236}">
                <a16:creationId xmlns:a16="http://schemas.microsoft.com/office/drawing/2014/main" id="{C826B890-51CB-465F-A3BF-4CA0FE8450A9}"/>
              </a:ext>
            </a:extLst>
          </p:cNvPr>
          <p:cNvPicPr>
            <a:picLocks xmlns:a="http://schemas.openxmlformats.org/drawingml/2006/main" noChangeAspect="1"/>
          </p:cNvPicPr>
          <p:nvPr/>
        </p:nvPicPr>
        <p:blipFill>
          <a:blip xmlns:r="http://schemas.openxmlformats.org/officeDocument/2006/relationships" xmlns:a="http://schemas.openxmlformats.org/drawingml/2006/main" r:embed="R3a4463d63d9c4f38"/>
          <a:stretch xmlns:a="http://schemas.openxmlformats.org/drawingml/2006/main"/>
        </p:blipFill>
        <p:spPr>
          <a:xfrm xmlns:a="http://schemas.openxmlformats.org/drawingml/2006/main">
            <a:off x="618035" y="1762125"/>
            <a:ext cx="10955930"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A5A25F-B46A-4368-97CF-640A50272609}"/>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66775"/>
                </a:solidFill>
                <a:latin typeface="Segoe UI"/>
                <a:ea typeface="Segoe UI"/>
                <a:cs typeface="Segoe UI"/>
              </a:defRPr>
            </a:defPPr>
          </a:lstStyle>
          <a:p xmlns:a="http://schemas.openxmlformats.org/drawingml/2006/main">
            <a:pPr>
              <a:defRPr sz="1575" b="0">
                <a:solidFill>
                  <a:srgbClr val="566775"/>
                </a:solidFill>
                <a:latin typeface="Segoe UI"/>
                <a:ea typeface="Segoe UI"/>
                <a:cs typeface="Segoe UI"/>
              </a:defRPr>
            </a:pPr>
            <a:r>
              <a:rPr sz="1575" b="0">
                <a:solidFill>
                  <a:srgbClr val="566775"/>
                </a:solidFill>
                <a:latin typeface="Segoe UI"/>
                <a:ea typeface="Segoe UI"/>
                <a:cs typeface="Segoe UI"/>
              </a:rPr>
              <a:t>La cible rouge reste hors de l’entrée. Les températures intermédiaires ne sont pas connues.</a:t>
            </a:r>
          </a:p>
        </p:txBody>
      </p:sp>
    </p:spTree>
    <p:extLst>
      <p:ext uri="{BB962C8B-B14F-4D97-AF65-F5344CB8AC3E}">
        <p14:creationId xmlns:p14="http://schemas.microsoft.com/office/powerpoint/2010/main" val="1815229295"/>
      </p:ext>
    </p:extLst>
  </p:cSld>
</p:sld>
</file>

<file path=ppt/slides/slide12.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B840DF-F71F-46F3-8FA0-12672B5DB27F}"/>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SÉPARATION CHRONOLOGIQUE</a:t>
            </a:r>
          </a:p>
        </p:txBody>
      </p:sp>
      <p:sp>
        <p:nvSpPr>
          <p:cNvPr id="2" name="">
            <a:extLst xmlns:a="http://schemas.openxmlformats.org/drawingml/2006/main">
              <a:ext uri="{FF2B5EF4-FFF2-40B4-BE49-F238E27FC236}">
                <a16:creationId xmlns:a16="http://schemas.microsoft.com/office/drawing/2014/main" id="{DC9F7526-8B42-4FC3-9A98-9E82C4F2E784}"/>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12</a:t>
            </a:r>
          </a:p>
        </p:txBody>
      </p:sp>
      <p:sp>
        <p:nvSpPr>
          <p:cNvPr id="3" name="">
            <a:extLst xmlns:a="http://schemas.openxmlformats.org/drawingml/2006/main">
              <a:ext uri="{FF2B5EF4-FFF2-40B4-BE49-F238E27FC236}">
                <a16:creationId xmlns:a16="http://schemas.microsoft.com/office/drawing/2014/main" id="{98666602-0E1B-408D-AC9E-B80B488FDD5B}"/>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Le passé entraîne. Le futur évalue.</a:t>
            </a:r>
          </a:p>
        </p:txBody>
      </p:sp>
      <p:graphicFrame>
        <p:nvGraphicFramePr>
          <p:cNvPr id="4" name="">
            <a:extLst xmlns:a="http://schemas.openxmlformats.org/drawingml/2006/main">
              <a:ext uri="{FF2B5EF4-FFF2-40B4-BE49-F238E27FC236}">
                <a16:creationId xmlns:a16="http://schemas.microsoft.com/office/drawing/2014/main" id="{6EF193E0-2135-4D55-AC0C-AE57E26220D5}"/>
              </a:ext>
            </a:extLst>
          </p:cNvPr>
          <p:cNvGraphicFramePr/>
          <p:nvPr/>
        </p:nvGraphicFramePr>
        <p:xfrm>
          <a:off xmlns:a="http://schemas.openxmlformats.org/drawingml/2006/main" x="571500" y="2000250"/>
          <a:ext xmlns:a="http://schemas.openxmlformats.org/drawingml/2006/main" cx="11049000" cy="2714625"/>
        </p:xfrm>
        <a:graphic xmlns:a="http://schemas.openxmlformats.org/drawingml/2006/main">
          <a:graphicData uri="http://schemas.openxmlformats.org/drawingml/2006/table">
            <a:tbl>
              <a:tblPr/>
              <a:tblGrid>
                <a:gridCol w="3524250"/>
                <a:gridCol w="2571750"/>
                <a:gridCol w="4953000"/>
              </a:tblGrid>
              <a:tr h="678656">
                <a:tc>
                  <a:txBody>
                    <a:bodyPr lIns="123825" tIns="123825" rIns="123825" bIns="123825"/>
                    <a:lstStyle/>
                    <a:p>
                      <a:r>
                        <a:rPr sz="2100" b="1">
                          <a:solidFill>
                            <a:srgbClr val="F3F5F3"/>
                          </a:solidFill>
                          <a:latin typeface="Segoe UI"/>
                          <a:ea typeface="Segoe UI"/>
                          <a:cs typeface="Segoe UI"/>
                        </a:rPr>
                        <a:t>Jeu</a:t>
                      </a:r>
                    </a:p>
                  </a:txBody>
                  <a:tcPr marL="91440" marR="91440" marT="45720" marB="45720" anchor="ctr">
                    <a:lnL w="6668">
                      <a:solidFill>
                        <a:srgbClr val="D4DAD8"/>
                      </a:solidFill>
                    </a:lnL>
                    <a:lnR w="6668">
                      <a:solidFill>
                        <a:srgbClr val="D4DAD8"/>
                      </a:solidFill>
                    </a:lnR>
                    <a:lnT w="6668">
                      <a:solidFill>
                        <a:srgbClr val="D4DAD8"/>
                      </a:solidFill>
                    </a:lnT>
                    <a:lnB w="6668">
                      <a:solidFill>
                        <a:srgbClr val="D4DAD8"/>
                      </a:solidFill>
                    </a:lnB>
                    <a:solidFill>
                      <a:srgbClr val="142335"/>
                    </a:solidFill>
                  </a:tcPr>
                </a:tc>
                <a:tc>
                  <a:txBody>
                    <a:bodyPr lIns="123825" tIns="123825" rIns="123825" bIns="123825"/>
                    <a:lstStyle/>
                    <a:p>
                      <a:r>
                        <a:rPr sz="2100" b="1">
                          <a:solidFill>
                            <a:srgbClr val="F3F5F3"/>
                          </a:solidFill>
                          <a:latin typeface="Segoe UI"/>
                          <a:ea typeface="Segoe UI"/>
                          <a:cs typeface="Segoe UI"/>
                        </a:rPr>
                        <a:t>Exemples</a:t>
                      </a:r>
                    </a:p>
                  </a:txBody>
                  <a:tcPr marL="91440" marR="91440" marT="45720" marB="45720" anchor="ctr">
                    <a:lnR w="6668">
                      <a:solidFill>
                        <a:srgbClr val="D4DAD8"/>
                      </a:solidFill>
                    </a:lnR>
                    <a:lnT w="6668">
                      <a:solidFill>
                        <a:srgbClr val="D4DAD8"/>
                      </a:solidFill>
                    </a:lnT>
                    <a:lnB w="6668">
                      <a:solidFill>
                        <a:srgbClr val="D4DAD8"/>
                      </a:solidFill>
                    </a:lnB>
                    <a:solidFill>
                      <a:srgbClr val="142335"/>
                    </a:solidFill>
                  </a:tcPr>
                </a:tc>
                <a:tc>
                  <a:txBody>
                    <a:bodyPr lIns="123825" tIns="123825" rIns="123825" bIns="123825"/>
                    <a:lstStyle/>
                    <a:p>
                      <a:r>
                        <a:rPr sz="2100" b="1">
                          <a:solidFill>
                            <a:srgbClr val="F3F5F3"/>
                          </a:solidFill>
                          <a:latin typeface="Segoe UI"/>
                          <a:ea typeface="Segoe UI"/>
                          <a:cs typeface="Segoe UI"/>
                        </a:rPr>
                        <a:t>Période des cibles</a:t>
                      </a:r>
                    </a:p>
                  </a:txBody>
                  <a:tcPr marL="91440" marR="91440" marT="45720" marB="45720" anchor="ctr">
                    <a:lnR w="6668">
                      <a:solidFill>
                        <a:srgbClr val="D4DAD8"/>
                      </a:solidFill>
                    </a:lnR>
                    <a:lnT w="6668">
                      <a:solidFill>
                        <a:srgbClr val="D4DAD8"/>
                      </a:solidFill>
                    </a:lnT>
                    <a:lnB w="6668">
                      <a:solidFill>
                        <a:srgbClr val="D4DAD8"/>
                      </a:solidFill>
                    </a:lnB>
                    <a:solidFill>
                      <a:srgbClr val="142335"/>
                    </a:solidFill>
                  </a:tcPr>
                </a:tc>
              </a:tr>
              <a:tr h="678656">
                <a:tc>
                  <a:txBody>
                    <a:bodyPr lIns="123825" tIns="123825" rIns="123825" bIns="123825"/>
                    <a:lstStyle/>
                    <a:p>
                      <a:r>
                        <a:rPr sz="2100" b="0">
                          <a:solidFill>
                            <a:srgbClr val="142335"/>
                          </a:solidFill>
                          <a:latin typeface="Segoe UI"/>
                          <a:ea typeface="Segoe UI"/>
                          <a:cs typeface="Segoe UI"/>
                        </a:rPr>
                        <a:t>Entraînement</a:t>
                      </a:r>
                    </a:p>
                  </a:txBody>
                  <a:tcPr marL="91440" marR="91440" marT="45720" marB="45720" anchor="ctr">
                    <a:lnL w="6668">
                      <a:solidFill>
                        <a:srgbClr val="D4DAD8"/>
                      </a:solidFill>
                    </a:lnL>
                    <a:lnR w="6668">
                      <a:solidFill>
                        <a:srgbClr val="D4DAD8"/>
                      </a:solidFill>
                    </a:lnR>
                    <a:lnB w="6668">
                      <a:solidFill>
                        <a:srgbClr val="D4DAD8"/>
                      </a:solidFill>
                    </a:lnB>
                    <a:solidFill>
                      <a:srgbClr val="FFFFFF"/>
                    </a:solidFill>
                  </a:tcPr>
                </a:tc>
                <a:tc>
                  <a:txBody>
                    <a:bodyPr lIns="123825" tIns="123825" rIns="123825" bIns="123825"/>
                    <a:lstStyle/>
                    <a:p>
                      <a:r>
                        <a:rPr sz="2100" b="0">
                          <a:solidFill>
                            <a:srgbClr val="142335"/>
                          </a:solidFill>
                          <a:latin typeface="Segoe UI"/>
                          <a:ea typeface="Segoe UI"/>
                          <a:cs typeface="Segoe UI"/>
                        </a:rPr>
                        <a:t>48 922</a:t>
                      </a:r>
                    </a:p>
                  </a:txBody>
                  <a:tcPr marL="91440" marR="91440" marT="45720" marB="45720" anchor="ctr">
                    <a:lnR w="6668">
                      <a:solidFill>
                        <a:srgbClr val="D4DAD8"/>
                      </a:solidFill>
                    </a:lnR>
                    <a:lnB w="6668">
                      <a:solidFill>
                        <a:srgbClr val="D4DAD8"/>
                      </a:solidFill>
                    </a:lnB>
                    <a:solidFill>
                      <a:srgbClr val="FFFFFF"/>
                    </a:solidFill>
                  </a:tcPr>
                </a:tc>
                <a:tc>
                  <a:txBody>
                    <a:bodyPr lIns="123825" tIns="123825" rIns="123825" bIns="123825"/>
                    <a:lstStyle/>
                    <a:p>
                      <a:r>
                        <a:rPr sz="2100" b="0">
                          <a:solidFill>
                            <a:srgbClr val="142335"/>
                          </a:solidFill>
                          <a:latin typeface="Segoe UI"/>
                          <a:ea typeface="Segoe UI"/>
                          <a:cs typeface="Segoe UI"/>
                        </a:rPr>
                        <a:t>2009 – août 2014</a:t>
                      </a:r>
                    </a:p>
                  </a:txBody>
                  <a:tcPr marL="91440" marR="91440" marT="45720" marB="45720" anchor="ctr">
                    <a:lnR w="6668">
                      <a:solidFill>
                        <a:srgbClr val="D4DAD8"/>
                      </a:solidFill>
                    </a:lnR>
                    <a:lnB w="6668">
                      <a:solidFill>
                        <a:srgbClr val="D4DAD8"/>
                      </a:solidFill>
                    </a:lnB>
                    <a:solidFill>
                      <a:srgbClr val="FFFFFF"/>
                    </a:solidFill>
                  </a:tcPr>
                </a:tc>
              </a:tr>
              <a:tr h="678656">
                <a:tc>
                  <a:txBody>
                    <a:bodyPr lIns="123825" tIns="123825" rIns="123825" bIns="123825"/>
                    <a:lstStyle/>
                    <a:p>
                      <a:r>
                        <a:rPr sz="2100" b="0">
                          <a:solidFill>
                            <a:srgbClr val="142335"/>
                          </a:solidFill>
                          <a:latin typeface="Segoe UI"/>
                          <a:ea typeface="Segoe UI"/>
                          <a:cs typeface="Segoe UI"/>
                        </a:rPr>
                        <a:t>Validation</a:t>
                      </a:r>
                    </a:p>
                  </a:txBody>
                  <a:tcPr marL="91440" marR="91440" marT="45720" marB="45720" anchor="ctr">
                    <a:lnL w="6668">
                      <a:solidFill>
                        <a:srgbClr val="D4DAD8"/>
                      </a:solidFill>
                    </a:lnL>
                    <a:lnR w="6668">
                      <a:solidFill>
                        <a:srgbClr val="D4DAD8"/>
                      </a:solidFill>
                    </a:lnR>
                    <a:lnB w="6668">
                      <a:solidFill>
                        <a:srgbClr val="D4DAD8"/>
                      </a:solidFill>
                    </a:lnB>
                    <a:solidFill>
                      <a:srgbClr val="ECEDE7"/>
                    </a:solidFill>
                  </a:tcPr>
                </a:tc>
                <a:tc>
                  <a:txBody>
                    <a:bodyPr lIns="123825" tIns="123825" rIns="123825" bIns="123825"/>
                    <a:lstStyle/>
                    <a:p>
                      <a:r>
                        <a:rPr sz="2100" b="0">
                          <a:solidFill>
                            <a:srgbClr val="142335"/>
                          </a:solidFill>
                          <a:latin typeface="Segoe UI"/>
                          <a:ea typeface="Segoe UI"/>
                          <a:cs typeface="Segoe UI"/>
                        </a:rPr>
                        <a:t>10 385</a:t>
                      </a:r>
                    </a:p>
                  </a:txBody>
                  <a:tcPr marL="91440" marR="91440" marT="45720" marB="45720" anchor="ctr">
                    <a:lnR w="6668">
                      <a:solidFill>
                        <a:srgbClr val="D4DAD8"/>
                      </a:solidFill>
                    </a:lnR>
                    <a:lnB w="6668">
                      <a:solidFill>
                        <a:srgbClr val="D4DAD8"/>
                      </a:solidFill>
                    </a:lnB>
                    <a:solidFill>
                      <a:srgbClr val="ECEDE7"/>
                    </a:solidFill>
                  </a:tcPr>
                </a:tc>
                <a:tc>
                  <a:txBody>
                    <a:bodyPr lIns="123825" tIns="123825" rIns="123825" bIns="123825"/>
                    <a:lstStyle/>
                    <a:p>
                      <a:r>
                        <a:rPr sz="2100" b="0">
                          <a:solidFill>
                            <a:srgbClr val="142335"/>
                          </a:solidFill>
                          <a:latin typeface="Segoe UI"/>
                          <a:ea typeface="Segoe UI"/>
                          <a:cs typeface="Segoe UI"/>
                        </a:rPr>
                        <a:t>Août 2014 – oct. 2015</a:t>
                      </a:r>
                    </a:p>
                  </a:txBody>
                  <a:tcPr marL="91440" marR="91440" marT="45720" marB="45720" anchor="ctr">
                    <a:lnR w="6668">
                      <a:solidFill>
                        <a:srgbClr val="D4DAD8"/>
                      </a:solidFill>
                    </a:lnR>
                    <a:lnB w="6668">
                      <a:solidFill>
                        <a:srgbClr val="D4DAD8"/>
                      </a:solidFill>
                    </a:lnB>
                    <a:solidFill>
                      <a:srgbClr val="ECEDE7"/>
                    </a:solidFill>
                  </a:tcPr>
                </a:tc>
              </a:tr>
              <a:tr h="678656">
                <a:tc>
                  <a:txBody>
                    <a:bodyPr lIns="123825" tIns="123825" rIns="123825" bIns="123825"/>
                    <a:lstStyle/>
                    <a:p>
                      <a:r>
                        <a:rPr sz="2100" b="0">
                          <a:solidFill>
                            <a:srgbClr val="142335"/>
                          </a:solidFill>
                          <a:latin typeface="Segoe UI"/>
                          <a:ea typeface="Segoe UI"/>
                          <a:cs typeface="Segoe UI"/>
                        </a:rPr>
                        <a:t>Test</a:t>
                      </a:r>
                    </a:p>
                  </a:txBody>
                  <a:tcPr marL="91440" marR="91440" marT="45720" marB="45720" anchor="ctr">
                    <a:lnL w="6668">
                      <a:solidFill>
                        <a:srgbClr val="D4DAD8"/>
                      </a:solidFill>
                    </a:lnL>
                    <a:lnR w="6668">
                      <a:solidFill>
                        <a:srgbClr val="D4DAD8"/>
                      </a:solidFill>
                    </a:lnR>
                    <a:lnB w="6668">
                      <a:solidFill>
                        <a:srgbClr val="D4DAD8"/>
                      </a:solidFill>
                    </a:lnB>
                    <a:solidFill>
                      <a:srgbClr val="FFFFFF"/>
                    </a:solidFill>
                  </a:tcPr>
                </a:tc>
                <a:tc>
                  <a:txBody>
                    <a:bodyPr lIns="123825" tIns="123825" rIns="123825" bIns="123825"/>
                    <a:lstStyle/>
                    <a:p>
                      <a:r>
                        <a:rPr sz="2100" b="0">
                          <a:solidFill>
                            <a:srgbClr val="142335"/>
                          </a:solidFill>
                          <a:latin typeface="Segoe UI"/>
                          <a:ea typeface="Segoe UI"/>
                          <a:cs typeface="Segoe UI"/>
                        </a:rPr>
                        <a:t>10 258</a:t>
                      </a:r>
                    </a:p>
                  </a:txBody>
                  <a:tcPr marL="91440" marR="91440" marT="45720" marB="45720" anchor="ctr">
                    <a:lnR w="6668">
                      <a:solidFill>
                        <a:srgbClr val="D4DAD8"/>
                      </a:solidFill>
                    </a:lnR>
                    <a:lnB w="6668">
                      <a:solidFill>
                        <a:srgbClr val="D4DAD8"/>
                      </a:solidFill>
                    </a:lnB>
                    <a:solidFill>
                      <a:srgbClr val="FFFFFF"/>
                    </a:solidFill>
                  </a:tcPr>
                </a:tc>
                <a:tc>
                  <a:txBody>
                    <a:bodyPr lIns="123825" tIns="123825" rIns="123825" bIns="123825"/>
                    <a:lstStyle/>
                    <a:p>
                      <a:r>
                        <a:rPr sz="2100" b="0">
                          <a:solidFill>
                            <a:srgbClr val="142335"/>
                          </a:solidFill>
                          <a:latin typeface="Segoe UI"/>
                          <a:ea typeface="Segoe UI"/>
                          <a:cs typeface="Segoe UI"/>
                        </a:rPr>
                        <a:t>Oct. 2015 – jan. 2017</a:t>
                      </a:r>
                    </a:p>
                  </a:txBody>
                  <a:tcPr marL="91440" marR="91440" marT="45720" marB="45720" anchor="ctr">
                    <a:lnR w="6668">
                      <a:solidFill>
                        <a:srgbClr val="D4DAD8"/>
                      </a:solidFill>
                    </a:lnR>
                    <a:lnB w="6668">
                      <a:solidFill>
                        <a:srgbClr val="D4DAD8"/>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938BBE5-15C5-4545-8A60-6576E861FE5D}"/>
              </a:ext>
            </a:extLst>
          </p:cNvPr>
          <p:cNvSpPr>
            <a:spLocks xmlns:a="http://schemas.openxmlformats.org/drawingml/2006/main" noGrp="1"/>
          </p:cNvSpPr>
          <p:nvPr/>
        </p:nvSpPr>
        <p:spPr>
          <a:xfrm xmlns:a="http://schemas.openxmlformats.org/drawingml/2006/main">
            <a:off x="619125" y="5143500"/>
            <a:ext cx="762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28749E"/>
                </a:solidFill>
                <a:latin typeface="Segoe UI"/>
                <a:ea typeface="Segoe UI"/>
                <a:cs typeface="Segoe UI"/>
              </a:defRPr>
            </a:defPPr>
          </a:lstStyle>
          <a:p xmlns:a="http://schemas.openxmlformats.org/drawingml/2006/main">
            <a:pPr>
              <a:defRPr sz="2700" b="0">
                <a:solidFill>
                  <a:srgbClr val="28749E"/>
                </a:solidFill>
                <a:latin typeface="Segoe UI"/>
                <a:ea typeface="Segoe UI"/>
                <a:cs typeface="Segoe UI"/>
              </a:defRPr>
            </a:pPr>
            <a:r>
              <a:rPr sz="2700" b="0">
                <a:solidFill>
                  <a:srgbClr val="28749E"/>
                </a:solidFill>
                <a:latin typeface="Segoe UI"/>
                <a:ea typeface="Segoe UI"/>
                <a:cs typeface="Segoe UI"/>
              </a:rPr>
              <a:t>X = (exemples, 72, 1)</a:t>
            </a:r>
          </a:p>
        </p:txBody>
      </p:sp>
      <p:sp>
        <p:nvSpPr>
          <p:cNvPr id="6" name="">
            <a:extLst xmlns:a="http://schemas.openxmlformats.org/drawingml/2006/main">
              <a:ext uri="{FF2B5EF4-FFF2-40B4-BE49-F238E27FC236}">
                <a16:creationId xmlns:a16="http://schemas.microsoft.com/office/drawing/2014/main" id="{CF4B4440-3B46-4FC0-BC0C-069AB53ADAA6}"/>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66775"/>
                </a:solidFill>
                <a:latin typeface="Segoe UI"/>
                <a:ea typeface="Segoe UI"/>
                <a:cs typeface="Segoe UI"/>
              </a:defRPr>
            </a:defPPr>
          </a:lstStyle>
          <a:p xmlns:a="http://schemas.openxmlformats.org/drawingml/2006/main">
            <a:pPr>
              <a:defRPr sz="1575" b="0">
                <a:solidFill>
                  <a:srgbClr val="566775"/>
                </a:solidFill>
                <a:latin typeface="Segoe UI"/>
                <a:ea typeface="Segoe UI"/>
                <a:cs typeface="Segoe UI"/>
              </a:defRPr>
            </a:pPr>
            <a:r>
              <a:rPr sz="1575" b="0">
                <a:solidFill>
                  <a:srgbClr val="566775"/>
                </a:solidFill>
                <a:latin typeface="Segoe UI"/>
                <a:ea typeface="Segoe UI"/>
                <a:cs typeface="Segoe UI"/>
              </a:rPr>
              <a:t>Standardisation sur l’entraînement uniquement. Délais de frontière adaptés à l’horizon de 24 h.</a:t>
            </a:r>
          </a:p>
        </p:txBody>
      </p:sp>
    </p:spTree>
    <p:extLst>
      <p:ext uri="{BB962C8B-B14F-4D97-AF65-F5344CB8AC3E}">
        <p14:creationId xmlns:p14="http://schemas.microsoft.com/office/powerpoint/2010/main" val="1945111225"/>
      </p:ext>
    </p:extLst>
  </p:cSld>
</p:sld>
</file>

<file path=ppt/slides/slide13.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DE2458-92E7-4C8B-825C-2847C49566E6}"/>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COMPARAISON</a:t>
            </a:r>
          </a:p>
        </p:txBody>
      </p:sp>
      <p:sp>
        <p:nvSpPr>
          <p:cNvPr id="2" name="">
            <a:extLst xmlns:a="http://schemas.openxmlformats.org/drawingml/2006/main">
              <a:ext uri="{FF2B5EF4-FFF2-40B4-BE49-F238E27FC236}">
                <a16:creationId xmlns:a16="http://schemas.microsoft.com/office/drawing/2014/main" id="{1F0707BF-D5E3-4A4C-8413-6E3C8975F015}"/>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13</a:t>
            </a:r>
          </a:p>
        </p:txBody>
      </p:sp>
      <p:sp>
        <p:nvSpPr>
          <p:cNvPr id="3" name="">
            <a:extLst xmlns:a="http://schemas.openxmlformats.org/drawingml/2006/main">
              <a:ext uri="{FF2B5EF4-FFF2-40B4-BE49-F238E27FC236}">
                <a16:creationId xmlns:a16="http://schemas.microsoft.com/office/drawing/2014/main" id="{0856AAAD-4039-4C3A-8B36-AC7A7BD95F80}"/>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Un protocole commun avant de voir les scores</a:t>
            </a:r>
          </a:p>
        </p:txBody>
      </p:sp>
      <p:sp>
        <p:nvSpPr>
          <p:cNvPr id="4" name="">
            <a:extLst xmlns:a="http://schemas.openxmlformats.org/drawingml/2006/main">
              <a:ext uri="{FF2B5EF4-FFF2-40B4-BE49-F238E27FC236}">
                <a16:creationId xmlns:a16="http://schemas.microsoft.com/office/drawing/2014/main" id="{AA3EBAF9-CE91-4F5B-AB81-391D5AE7FA6B}"/>
              </a:ext>
            </a:extLst>
          </p:cNvPr>
          <p:cNvSpPr>
            <a:spLocks xmlns:a="http://schemas.openxmlformats.org/drawingml/2006/main" noGrp="1"/>
          </p:cNvSpPr>
          <p:nvPr/>
        </p:nvSpPr>
        <p:spPr>
          <a:xfrm xmlns:a="http://schemas.openxmlformats.org/drawingml/2006/main">
            <a:off x="609600" y="214312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100" b="1">
                <a:solidFill>
                  <a:srgbClr val="68B9E8"/>
                </a:solidFill>
                <a:latin typeface="Segoe UI"/>
                <a:ea typeface="Segoe UI"/>
                <a:cs typeface="Segoe UI"/>
              </a:defRPr>
            </a:defPPr>
          </a:lstStyle>
          <a:p xmlns:a="http://schemas.openxmlformats.org/drawingml/2006/main">
            <a:pPr>
              <a:defRPr sz="8100" b="1">
                <a:solidFill>
                  <a:srgbClr val="68B9E8"/>
                </a:solidFill>
                <a:latin typeface="Segoe UI"/>
                <a:ea typeface="Segoe UI"/>
                <a:cs typeface="Segoe UI"/>
              </a:defRPr>
            </a:pPr>
            <a:r>
              <a:rPr sz="8100" b="1">
                <a:solidFill>
                  <a:srgbClr val="68B9E8"/>
                </a:solidFill>
                <a:latin typeface="Segoe UI"/>
                <a:ea typeface="Segoe UI"/>
                <a:cs typeface="Segoe UI"/>
              </a:rPr>
              <a:t>32</a:t>
            </a:r>
          </a:p>
        </p:txBody>
      </p:sp>
      <p:sp>
        <p:nvSpPr>
          <p:cNvPr id="5" name="">
            <a:extLst xmlns:a="http://schemas.openxmlformats.org/drawingml/2006/main">
              <a:ext uri="{FF2B5EF4-FFF2-40B4-BE49-F238E27FC236}">
                <a16:creationId xmlns:a16="http://schemas.microsoft.com/office/drawing/2014/main" id="{C1020EA8-8EC6-4EAE-A4EA-08507EE153EB}"/>
              </a:ext>
            </a:extLst>
          </p:cNvPr>
          <p:cNvSpPr>
            <a:spLocks xmlns:a="http://schemas.openxmlformats.org/drawingml/2006/main" noGrp="1"/>
          </p:cNvSpPr>
          <p:nvPr/>
        </p:nvSpPr>
        <p:spPr>
          <a:xfrm xmlns:a="http://schemas.openxmlformats.org/drawingml/2006/main">
            <a:off x="609600" y="3314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unités récurrentes</a:t>
            </a:r>
          </a:p>
        </p:txBody>
      </p:sp>
      <p:sp>
        <p:nvSpPr>
          <p:cNvPr id="6" name="">
            <a:extLst xmlns:a="http://schemas.openxmlformats.org/drawingml/2006/main">
              <a:ext uri="{FF2B5EF4-FFF2-40B4-BE49-F238E27FC236}">
                <a16:creationId xmlns:a16="http://schemas.microsoft.com/office/drawing/2014/main" id="{87B7AF88-9555-469B-AFCB-6D08A0BCF1FC}"/>
              </a:ext>
            </a:extLst>
          </p:cNvPr>
          <p:cNvSpPr>
            <a:spLocks xmlns:a="http://schemas.openxmlformats.org/drawingml/2006/main" noGrp="1"/>
          </p:cNvSpPr>
          <p:nvPr/>
        </p:nvSpPr>
        <p:spPr>
          <a:xfrm xmlns:a="http://schemas.openxmlformats.org/drawingml/2006/main">
            <a:off x="4448175" y="214312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100" b="1">
                <a:solidFill>
                  <a:srgbClr val="EBA36D"/>
                </a:solidFill>
                <a:latin typeface="Segoe UI"/>
                <a:ea typeface="Segoe UI"/>
                <a:cs typeface="Segoe UI"/>
              </a:defRPr>
            </a:defPPr>
          </a:lstStyle>
          <a:p xmlns:a="http://schemas.openxmlformats.org/drawingml/2006/main">
            <a:pPr>
              <a:defRPr sz="8100" b="1">
                <a:solidFill>
                  <a:srgbClr val="EBA36D"/>
                </a:solidFill>
                <a:latin typeface="Segoe UI"/>
                <a:ea typeface="Segoe UI"/>
                <a:cs typeface="Segoe UI"/>
              </a:defRPr>
            </a:pPr>
            <a:r>
              <a:rPr sz="8100" b="1">
                <a:solidFill>
                  <a:srgbClr val="EBA36D"/>
                </a:solidFill>
                <a:latin typeface="Segoe UI"/>
                <a:ea typeface="Segoe UI"/>
                <a:cs typeface="Segoe UI"/>
              </a:rPr>
              <a:t>20</a:t>
            </a:r>
          </a:p>
        </p:txBody>
      </p:sp>
      <p:sp>
        <p:nvSpPr>
          <p:cNvPr id="7" name="">
            <a:extLst xmlns:a="http://schemas.openxmlformats.org/drawingml/2006/main">
              <a:ext uri="{FF2B5EF4-FFF2-40B4-BE49-F238E27FC236}">
                <a16:creationId xmlns:a16="http://schemas.microsoft.com/office/drawing/2014/main" id="{F08D9704-150C-4C2E-BEF0-1D73EFF92CBA}"/>
              </a:ext>
            </a:extLst>
          </p:cNvPr>
          <p:cNvSpPr>
            <a:spLocks xmlns:a="http://schemas.openxmlformats.org/drawingml/2006/main" noGrp="1"/>
          </p:cNvSpPr>
          <p:nvPr/>
        </p:nvSpPr>
        <p:spPr>
          <a:xfrm xmlns:a="http://schemas.openxmlformats.org/drawingml/2006/main">
            <a:off x="4448175" y="3314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époques fixes</a:t>
            </a:r>
          </a:p>
        </p:txBody>
      </p:sp>
      <p:sp>
        <p:nvSpPr>
          <p:cNvPr id="8" name="">
            <a:extLst xmlns:a="http://schemas.openxmlformats.org/drawingml/2006/main">
              <a:ext uri="{FF2B5EF4-FFF2-40B4-BE49-F238E27FC236}">
                <a16:creationId xmlns:a16="http://schemas.microsoft.com/office/drawing/2014/main" id="{F1B39DA2-8563-4195-94AA-810FA8C0820D}"/>
              </a:ext>
            </a:extLst>
          </p:cNvPr>
          <p:cNvSpPr>
            <a:spLocks xmlns:a="http://schemas.openxmlformats.org/drawingml/2006/main" noGrp="1"/>
          </p:cNvSpPr>
          <p:nvPr/>
        </p:nvSpPr>
        <p:spPr>
          <a:xfrm xmlns:a="http://schemas.openxmlformats.org/drawingml/2006/main">
            <a:off x="8286750" y="214312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100" b="1">
                <a:solidFill>
                  <a:srgbClr val="D0DF8E"/>
                </a:solidFill>
                <a:latin typeface="Segoe UI"/>
                <a:ea typeface="Segoe UI"/>
                <a:cs typeface="Segoe UI"/>
              </a:defRPr>
            </a:defPPr>
          </a:lstStyle>
          <a:p xmlns:a="http://schemas.openxmlformats.org/drawingml/2006/main">
            <a:pPr>
              <a:defRPr sz="8100" b="1">
                <a:solidFill>
                  <a:srgbClr val="D0DF8E"/>
                </a:solidFill>
                <a:latin typeface="Segoe UI"/>
                <a:ea typeface="Segoe UI"/>
                <a:cs typeface="Segoe UI"/>
              </a:defRPr>
            </a:pPr>
            <a:r>
              <a:rPr sz="8100" b="1">
                <a:solidFill>
                  <a:srgbClr val="D0DF8E"/>
                </a:solidFill>
                <a:latin typeface="Segoe UI"/>
                <a:ea typeface="Segoe UI"/>
                <a:cs typeface="Segoe UI"/>
              </a:rPr>
              <a:t>128</a:t>
            </a:r>
          </a:p>
        </p:txBody>
      </p:sp>
      <p:sp>
        <p:nvSpPr>
          <p:cNvPr id="9" name="">
            <a:extLst xmlns:a="http://schemas.openxmlformats.org/drawingml/2006/main">
              <a:ext uri="{FF2B5EF4-FFF2-40B4-BE49-F238E27FC236}">
                <a16:creationId xmlns:a16="http://schemas.microsoft.com/office/drawing/2014/main" id="{411782E3-3166-4233-AFF0-9454BE2FBD4F}"/>
              </a:ext>
            </a:extLst>
          </p:cNvPr>
          <p:cNvSpPr>
            <a:spLocks xmlns:a="http://schemas.openxmlformats.org/drawingml/2006/main" noGrp="1"/>
          </p:cNvSpPr>
          <p:nvPr/>
        </p:nvSpPr>
        <p:spPr>
          <a:xfrm xmlns:a="http://schemas.openxmlformats.org/drawingml/2006/main">
            <a:off x="8286750" y="3314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exemples par lot</a:t>
            </a:r>
          </a:p>
        </p:txBody>
      </p:sp>
      <p:sp>
        <p:nvSpPr>
          <p:cNvPr id="10" name="">
            <a:extLst xmlns:a="http://schemas.openxmlformats.org/drawingml/2006/main">
              <a:ext uri="{FF2B5EF4-FFF2-40B4-BE49-F238E27FC236}">
                <a16:creationId xmlns:a16="http://schemas.microsoft.com/office/drawing/2014/main" id="{C9C19E0B-60AB-404B-92C2-029046D64A25}"/>
              </a:ext>
            </a:extLst>
          </p:cNvPr>
          <p:cNvSpPr>
            <a:spLocks xmlns:a="http://schemas.openxmlformats.org/drawingml/2006/main" noGrp="1"/>
          </p:cNvSpPr>
          <p:nvPr/>
        </p:nvSpPr>
        <p:spPr>
          <a:xfrm xmlns:a="http://schemas.openxmlformats.org/drawingml/2006/main">
            <a:off x="619125" y="461962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3"/>
                </a:solidFill>
                <a:latin typeface="Segoe UI"/>
                <a:ea typeface="Segoe UI"/>
                <a:cs typeface="Segoe UI"/>
              </a:defRPr>
            </a:defPPr>
          </a:lstStyle>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Adam : 0,001</a:t>
            </a:r>
          </a:p>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Limitation du gradient : clipnorm = 1</a:t>
            </a:r>
          </a:p>
        </p:txBody>
      </p:sp>
      <p:sp>
        <p:nvSpPr>
          <p:cNvPr id="11" name="">
            <a:extLst xmlns:a="http://schemas.openxmlformats.org/drawingml/2006/main">
              <a:ext uri="{FF2B5EF4-FFF2-40B4-BE49-F238E27FC236}">
                <a16:creationId xmlns:a16="http://schemas.microsoft.com/office/drawing/2014/main" id="{208CB216-6D05-4D0C-8C8C-5F213B2FC97C}"/>
              </a:ext>
            </a:extLst>
          </p:cNvPr>
          <p:cNvSpPr>
            <a:spLocks xmlns:a="http://schemas.openxmlformats.org/drawingml/2006/main" noGrp="1"/>
          </p:cNvSpPr>
          <p:nvPr/>
        </p:nvSpPr>
        <p:spPr>
          <a:xfrm xmlns:a="http://schemas.openxmlformats.org/drawingml/2006/main">
            <a:off x="6572250" y="4619625"/>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3"/>
                </a:solidFill>
                <a:latin typeface="Segoe UI"/>
                <a:ea typeface="Segoe UI"/>
                <a:cs typeface="Segoe UI"/>
              </a:defRPr>
            </a:defPPr>
          </a:lstStyle>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Poids finaux de la 20e époque</a:t>
            </a:r>
          </a:p>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Une graine, mêmes divisions</a:t>
            </a:r>
          </a:p>
        </p:txBody>
      </p:sp>
      <p:sp>
        <p:nvSpPr>
          <p:cNvPr id="12" name="">
            <a:extLst xmlns:a="http://schemas.openxmlformats.org/drawingml/2006/main">
              <a:ext uri="{FF2B5EF4-FFF2-40B4-BE49-F238E27FC236}">
                <a16:creationId xmlns:a16="http://schemas.microsoft.com/office/drawing/2014/main" id="{ABFFB5D9-8381-4B10-884E-723D61C59591}"/>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TensorFlow 2.21, Keras 3.15, NVIDIA RTX 5070. Aucun réglage après lecture du test.</a:t>
            </a:r>
          </a:p>
        </p:txBody>
      </p:sp>
    </p:spTree>
    <p:extLst>
      <p:ext uri="{BB962C8B-B14F-4D97-AF65-F5344CB8AC3E}">
        <p14:creationId xmlns:p14="http://schemas.microsoft.com/office/powerpoint/2010/main" val="66863416"/>
      </p:ext>
    </p:extLst>
  </p:cSld>
</p:sld>
</file>

<file path=ppt/slides/slide14.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4AD06F-EC33-478E-8EA6-B54E17D14AEA}"/>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MAE ET RMSE</a:t>
            </a:r>
          </a:p>
        </p:txBody>
      </p:sp>
      <p:sp>
        <p:nvSpPr>
          <p:cNvPr id="2" name="">
            <a:extLst xmlns:a="http://schemas.openxmlformats.org/drawingml/2006/main">
              <a:ext uri="{FF2B5EF4-FFF2-40B4-BE49-F238E27FC236}">
                <a16:creationId xmlns:a16="http://schemas.microsoft.com/office/drawing/2014/main" id="{FA7516FA-A1F7-4875-9863-DF2641333B63}"/>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14</a:t>
            </a:r>
          </a:p>
        </p:txBody>
      </p:sp>
      <p:sp>
        <p:nvSpPr>
          <p:cNvPr id="3" name="">
            <a:extLst xmlns:a="http://schemas.openxmlformats.org/drawingml/2006/main">
              <a:ext uri="{FF2B5EF4-FFF2-40B4-BE49-F238E27FC236}">
                <a16:creationId xmlns:a16="http://schemas.microsoft.com/office/drawing/2014/main" id="{30587F33-61BD-4B9F-9576-A330D13BC6BB}"/>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Mesurer l’écart en degrés Celsius</a:t>
            </a:r>
          </a:p>
        </p:txBody>
      </p:sp>
      <p:sp>
        <p:nvSpPr>
          <p:cNvPr id="4" name="">
            <a:extLst xmlns:a="http://schemas.openxmlformats.org/drawingml/2006/main">
              <a:ext uri="{FF2B5EF4-FFF2-40B4-BE49-F238E27FC236}">
                <a16:creationId xmlns:a16="http://schemas.microsoft.com/office/drawing/2014/main" id="{FC4781BA-629E-44D0-A95C-E6AE40F4ECA5}"/>
              </a:ext>
            </a:extLst>
          </p:cNvPr>
          <p:cNvSpPr>
            <a:spLocks xmlns:a="http://schemas.openxmlformats.org/drawingml/2006/main" noGrp="1"/>
          </p:cNvSpPr>
          <p:nvPr/>
        </p:nvSpPr>
        <p:spPr>
          <a:xfrm xmlns:a="http://schemas.openxmlformats.org/drawingml/2006/main">
            <a:off x="609600" y="20669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28749E"/>
                </a:solidFill>
                <a:latin typeface="Segoe UI"/>
                <a:ea typeface="Segoe UI"/>
                <a:cs typeface="Segoe UI"/>
              </a:defRPr>
            </a:defPPr>
          </a:lstStyle>
          <a:p xmlns:a="http://schemas.openxmlformats.org/drawingml/2006/main">
            <a:pPr>
              <a:defRPr sz="1575" b="1">
                <a:solidFill>
                  <a:srgbClr val="28749E"/>
                </a:solidFill>
                <a:latin typeface="Segoe UI"/>
                <a:ea typeface="Segoe UI"/>
                <a:cs typeface="Segoe UI"/>
              </a:defRPr>
            </a:pPr>
            <a:r>
              <a:rPr sz="1575" b="1">
                <a:solidFill>
                  <a:srgbClr val="28749E"/>
                </a:solidFill>
                <a:latin typeface="Segoe UI"/>
                <a:ea typeface="Segoe UI"/>
                <a:cs typeface="Segoe UI"/>
              </a:rPr>
              <a:t>MAE</a:t>
            </a:r>
          </a:p>
        </p:txBody>
      </p:sp>
      <p:sp>
        <p:nvSpPr>
          <p:cNvPr id="5" name="">
            <a:extLst xmlns:a="http://schemas.openxmlformats.org/drawingml/2006/main">
              <a:ext uri="{FF2B5EF4-FFF2-40B4-BE49-F238E27FC236}">
                <a16:creationId xmlns:a16="http://schemas.microsoft.com/office/drawing/2014/main" id="{338761B1-4D12-4263-9541-E4903F0C170B}"/>
              </a:ext>
            </a:extLst>
          </p:cNvPr>
          <p:cNvSpPr>
            <a:spLocks xmlns:a="http://schemas.openxmlformats.org/drawingml/2006/main" noGrp="1"/>
          </p:cNvSpPr>
          <p:nvPr/>
        </p:nvSpPr>
        <p:spPr>
          <a:xfrm xmlns:a="http://schemas.openxmlformats.org/drawingml/2006/main">
            <a:off x="6572250" y="20669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677B2E"/>
                </a:solidFill>
                <a:latin typeface="Segoe UI"/>
                <a:ea typeface="Segoe UI"/>
                <a:cs typeface="Segoe UI"/>
              </a:defRPr>
            </a:defPPr>
          </a:lstStyle>
          <a:p xmlns:a="http://schemas.openxmlformats.org/drawingml/2006/main">
            <a:pPr>
              <a:defRPr sz="1575" b="1">
                <a:solidFill>
                  <a:srgbClr val="677B2E"/>
                </a:solidFill>
                <a:latin typeface="Segoe UI"/>
                <a:ea typeface="Segoe UI"/>
                <a:cs typeface="Segoe UI"/>
              </a:defRPr>
            </a:pPr>
            <a:r>
              <a:rPr sz="1575" b="1">
                <a:solidFill>
                  <a:srgbClr val="677B2E"/>
                </a:solidFill>
                <a:latin typeface="Segoe UI"/>
                <a:ea typeface="Segoe UI"/>
                <a:cs typeface="Segoe UI"/>
              </a:rPr>
              <a:t>RMSE</a:t>
            </a:r>
          </a:p>
        </p:txBody>
      </p:sp>
      <p:sp>
        <p:nvSpPr>
          <p:cNvPr id="6" name="">
            <a:extLst xmlns:a="http://schemas.openxmlformats.org/drawingml/2006/main">
              <a:ext uri="{FF2B5EF4-FFF2-40B4-BE49-F238E27FC236}">
                <a16:creationId xmlns:a16="http://schemas.microsoft.com/office/drawing/2014/main" id="{9DD66DC8-F8FA-4C2C-9CF0-9F450F8D2059}"/>
              </a:ext>
            </a:extLst>
          </p:cNvPr>
          <p:cNvSpPr>
            <a:spLocks xmlns:a="http://schemas.openxmlformats.org/drawingml/2006/main" noGrp="1"/>
          </p:cNvSpPr>
          <p:nvPr/>
        </p:nvSpPr>
        <p:spPr>
          <a:xfrm xmlns:a="http://schemas.openxmlformats.org/drawingml/2006/main">
            <a:off x="600075" y="2619375"/>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28749E"/>
                </a:solidFill>
                <a:latin typeface="Segoe UI"/>
                <a:ea typeface="Segoe UI"/>
                <a:cs typeface="Segoe UI"/>
              </a:defRPr>
            </a:defPPr>
          </a:lstStyle>
          <a:p xmlns:a="http://schemas.openxmlformats.org/drawingml/2006/main">
            <a:pPr>
              <a:defRPr sz="4875" b="1">
                <a:solidFill>
                  <a:srgbClr val="28749E"/>
                </a:solidFill>
                <a:latin typeface="Segoe UI"/>
                <a:ea typeface="Segoe UI"/>
                <a:cs typeface="Segoe UI"/>
              </a:defRPr>
            </a:pPr>
            <a:r>
              <a:rPr sz="4875" b="1">
                <a:solidFill>
                  <a:srgbClr val="28749E"/>
                </a:solidFill>
                <a:latin typeface="Segoe UI"/>
                <a:ea typeface="Segoe UI"/>
                <a:cs typeface="Segoe UI"/>
              </a:rPr>
              <a:t>|erreur|</a:t>
            </a:r>
          </a:p>
        </p:txBody>
      </p:sp>
      <p:sp>
        <p:nvSpPr>
          <p:cNvPr id="7" name="">
            <a:extLst xmlns:a="http://schemas.openxmlformats.org/drawingml/2006/main">
              <a:ext uri="{FF2B5EF4-FFF2-40B4-BE49-F238E27FC236}">
                <a16:creationId xmlns:a16="http://schemas.microsoft.com/office/drawing/2014/main" id="{652A197C-4249-4674-9454-64DA89D1FE72}"/>
              </a:ext>
            </a:extLst>
          </p:cNvPr>
          <p:cNvSpPr>
            <a:spLocks xmlns:a="http://schemas.openxmlformats.org/drawingml/2006/main" noGrp="1"/>
          </p:cNvSpPr>
          <p:nvPr/>
        </p:nvSpPr>
        <p:spPr>
          <a:xfrm xmlns:a="http://schemas.openxmlformats.org/drawingml/2006/main">
            <a:off x="6543675" y="27622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677B2E"/>
                </a:solidFill>
                <a:latin typeface="Segoe UI"/>
                <a:ea typeface="Segoe UI"/>
                <a:cs typeface="Segoe UI"/>
              </a:defRPr>
            </a:defPPr>
          </a:lstStyle>
          <a:p xmlns:a="http://schemas.openxmlformats.org/drawingml/2006/main">
            <a:pPr>
              <a:defRPr sz="3150" b="1">
                <a:solidFill>
                  <a:srgbClr val="677B2E"/>
                </a:solidFill>
                <a:latin typeface="Segoe UI"/>
                <a:ea typeface="Segoe UI"/>
                <a:cs typeface="Segoe UI"/>
              </a:defRPr>
            </a:pPr>
            <a:r>
              <a:rPr sz="3150" b="1">
                <a:solidFill>
                  <a:srgbClr val="677B2E"/>
                </a:solidFill>
                <a:latin typeface="Segoe UI"/>
                <a:ea typeface="Segoe UI"/>
                <a:cs typeface="Segoe UI"/>
              </a:rPr>
              <a:t>√ moyenne erreur²</a:t>
            </a:r>
          </a:p>
        </p:txBody>
      </p:sp>
      <p:sp>
        <p:nvSpPr>
          <p:cNvPr id="8" name="">
            <a:extLst xmlns:a="http://schemas.openxmlformats.org/drawingml/2006/main">
              <a:ext uri="{FF2B5EF4-FFF2-40B4-BE49-F238E27FC236}">
                <a16:creationId xmlns:a16="http://schemas.microsoft.com/office/drawing/2014/main" id="{24D1ACAD-AD54-4B3B-9ECB-15B0A1392BB1}"/>
              </a:ext>
            </a:extLst>
          </p:cNvPr>
          <p:cNvSpPr>
            <a:spLocks xmlns:a="http://schemas.openxmlformats.org/drawingml/2006/main" noGrp="1"/>
          </p:cNvSpPr>
          <p:nvPr/>
        </p:nvSpPr>
        <p:spPr>
          <a:xfrm xmlns:a="http://schemas.openxmlformats.org/drawingml/2006/main">
            <a:off x="619125" y="3714750"/>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5"/>
                </a:solidFill>
                <a:latin typeface="Segoe UI"/>
                <a:ea typeface="Segoe UI"/>
                <a:cs typeface="Segoe UI"/>
              </a:defRPr>
            </a:defPPr>
          </a:lstStyle>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Moyenne de l’écart absolu.</a:t>
            </a:r>
          </a:p>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Lecture directe du niveau d’erreur.</a:t>
            </a:r>
          </a:p>
        </p:txBody>
      </p:sp>
      <p:sp>
        <p:nvSpPr>
          <p:cNvPr id="9" name="">
            <a:extLst xmlns:a="http://schemas.openxmlformats.org/drawingml/2006/main">
              <a:ext uri="{FF2B5EF4-FFF2-40B4-BE49-F238E27FC236}">
                <a16:creationId xmlns:a16="http://schemas.microsoft.com/office/drawing/2014/main" id="{DF0F0C79-D333-4439-9BC2-1BB3F0A40E2E}"/>
              </a:ext>
            </a:extLst>
          </p:cNvPr>
          <p:cNvSpPr>
            <a:spLocks xmlns:a="http://schemas.openxmlformats.org/drawingml/2006/main" noGrp="1"/>
          </p:cNvSpPr>
          <p:nvPr/>
        </p:nvSpPr>
        <p:spPr>
          <a:xfrm xmlns:a="http://schemas.openxmlformats.org/drawingml/2006/main">
            <a:off x="6572250" y="37147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5"/>
                </a:solidFill>
                <a:latin typeface="Segoe UI"/>
                <a:ea typeface="Segoe UI"/>
                <a:cs typeface="Segoe UI"/>
              </a:defRPr>
            </a:defPPr>
          </a:lstStyle>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Les grandes erreurs pèsent davantage.</a:t>
            </a:r>
          </a:p>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Retour à l’unité d’origine.</a:t>
            </a:r>
          </a:p>
        </p:txBody>
      </p:sp>
      <p:sp>
        <p:nvSpPr>
          <p:cNvPr id="10" name="">
            <a:extLst xmlns:a="http://schemas.openxmlformats.org/drawingml/2006/main">
              <a:ext uri="{FF2B5EF4-FFF2-40B4-BE49-F238E27FC236}">
                <a16:creationId xmlns:a16="http://schemas.microsoft.com/office/drawing/2014/main" id="{A7DDA104-ECB6-4BC8-84E1-5B7BE73C06ED}"/>
              </a:ext>
            </a:extLst>
          </p:cNvPr>
          <p:cNvSpPr>
            <a:spLocks xmlns:a="http://schemas.openxmlformats.org/drawingml/2006/main" noGrp="1"/>
          </p:cNvSpPr>
          <p:nvPr/>
        </p:nvSpPr>
        <p:spPr>
          <a:xfrm xmlns:a="http://schemas.openxmlformats.org/drawingml/2006/main">
            <a:off x="619125" y="5095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66775"/>
                </a:solidFill>
                <a:latin typeface="Segoe UI"/>
                <a:ea typeface="Segoe UI"/>
                <a:cs typeface="Segoe UI"/>
              </a:defRPr>
            </a:defPPr>
          </a:lstStyle>
          <a:p xmlns:a="http://schemas.openxmlformats.org/drawingml/2006/main">
            <a:pPr>
              <a:defRPr sz="1950" b="0">
                <a:solidFill>
                  <a:srgbClr val="566775"/>
                </a:solidFill>
                <a:latin typeface="Segoe UI"/>
                <a:ea typeface="Segoe UI"/>
                <a:cs typeface="Segoe UI"/>
              </a:defRPr>
            </a:pPr>
            <a:r>
              <a:rPr sz="1950" b="0">
                <a:solidFill>
                  <a:srgbClr val="566775"/>
                </a:solidFill>
                <a:latin typeface="Segoe UI"/>
                <a:ea typeface="Segoe UI"/>
                <a:cs typeface="Segoe UI"/>
              </a:rPr>
              <a:t>Exemple : erreurs de 2, 1 et 3 °C</a:t>
            </a:r>
          </a:p>
        </p:txBody>
      </p:sp>
      <p:sp>
        <p:nvSpPr>
          <p:cNvPr id="11" name="">
            <a:extLst xmlns:a="http://schemas.openxmlformats.org/drawingml/2006/main">
              <a:ext uri="{FF2B5EF4-FFF2-40B4-BE49-F238E27FC236}">
                <a16:creationId xmlns:a16="http://schemas.microsoft.com/office/drawing/2014/main" id="{6165A672-0498-46F9-9B82-184ACD7FF984}"/>
              </a:ext>
            </a:extLst>
          </p:cNvPr>
          <p:cNvSpPr>
            <a:spLocks xmlns:a="http://schemas.openxmlformats.org/drawingml/2006/main" noGrp="1"/>
          </p:cNvSpPr>
          <p:nvPr/>
        </p:nvSpPr>
        <p:spPr>
          <a:xfrm xmlns:a="http://schemas.openxmlformats.org/drawingml/2006/main">
            <a:off x="619125" y="55435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42335"/>
                </a:solidFill>
                <a:latin typeface="Segoe UI"/>
                <a:ea typeface="Segoe UI"/>
                <a:cs typeface="Segoe UI"/>
              </a:defRPr>
            </a:defPPr>
          </a:lstStyle>
          <a:p xmlns:a="http://schemas.openxmlformats.org/drawingml/2006/main">
            <a:pPr>
              <a:defRPr sz="2550" b="1">
                <a:solidFill>
                  <a:srgbClr val="142335"/>
                </a:solidFill>
                <a:latin typeface="Segoe UI"/>
                <a:ea typeface="Segoe UI"/>
                <a:cs typeface="Segoe UI"/>
              </a:defRPr>
            </a:pPr>
            <a:r>
              <a:rPr sz="2550" b="1">
                <a:solidFill>
                  <a:srgbClr val="142335"/>
                </a:solidFill>
                <a:latin typeface="Segoe UI"/>
                <a:ea typeface="Segoe UI"/>
                <a:cs typeface="Segoe UI"/>
              </a:rPr>
              <a:t>MAE = 2,00 °C       RMSE ≈ 2,16 °C</a:t>
            </a:r>
          </a:p>
        </p:txBody>
      </p:sp>
    </p:spTree>
    <p:extLst>
      <p:ext uri="{BB962C8B-B14F-4D97-AF65-F5344CB8AC3E}">
        <p14:creationId xmlns:p14="http://schemas.microsoft.com/office/powerpoint/2010/main" val="148241137"/>
      </p:ext>
    </p:extLst>
  </p:cSld>
</p:sld>
</file>

<file path=ppt/slides/slide15.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1353B2-4D4F-48A1-AEDC-0F5EA92EDA8A}"/>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SANS APPRENTISSAGE</a:t>
            </a:r>
          </a:p>
        </p:txBody>
      </p:sp>
      <p:sp>
        <p:nvSpPr>
          <p:cNvPr id="2" name="">
            <a:extLst xmlns:a="http://schemas.openxmlformats.org/drawingml/2006/main">
              <a:ext uri="{FF2B5EF4-FFF2-40B4-BE49-F238E27FC236}">
                <a16:creationId xmlns:a16="http://schemas.microsoft.com/office/drawing/2014/main" id="{FDA06FCC-7F03-40C9-BBED-6BEB8B1E2EE5}"/>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15</a:t>
            </a:r>
          </a:p>
        </p:txBody>
      </p:sp>
      <p:sp>
        <p:nvSpPr>
          <p:cNvPr id="3" name="">
            <a:extLst xmlns:a="http://schemas.openxmlformats.org/drawingml/2006/main">
              <a:ext uri="{FF2B5EF4-FFF2-40B4-BE49-F238E27FC236}">
                <a16:creationId xmlns:a16="http://schemas.microsoft.com/office/drawing/2014/main" id="{3310E663-FE4A-4947-B77E-293DE207DC50}"/>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La référence simple est un vrai concurrent</a:t>
            </a:r>
          </a:p>
        </p:txBody>
      </p:sp>
      <p:sp>
        <p:nvSpPr>
          <p:cNvPr id="4" name="">
            <a:extLst xmlns:a="http://schemas.openxmlformats.org/drawingml/2006/main">
              <a:ext uri="{FF2B5EF4-FFF2-40B4-BE49-F238E27FC236}">
                <a16:creationId xmlns:a16="http://schemas.microsoft.com/office/drawing/2014/main" id="{D800784B-9CC3-4D4D-A859-45AC57DFE051}"/>
              </a:ext>
            </a:extLst>
          </p:cNvPr>
          <p:cNvSpPr>
            <a:spLocks xmlns:a="http://schemas.openxmlformats.org/drawingml/2006/main" noGrp="1"/>
          </p:cNvSpPr>
          <p:nvPr/>
        </p:nvSpPr>
        <p:spPr>
          <a:xfrm xmlns:a="http://schemas.openxmlformats.org/drawingml/2006/main">
            <a:off x="609600" y="21145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68B9E8"/>
                </a:solidFill>
                <a:latin typeface="Segoe UI"/>
                <a:ea typeface="Segoe UI"/>
                <a:cs typeface="Segoe UI"/>
              </a:defRPr>
            </a:defPPr>
          </a:lstStyle>
          <a:p xmlns:a="http://schemas.openxmlformats.org/drawingml/2006/main">
            <a:pPr>
              <a:defRPr sz="1575" b="1">
                <a:solidFill>
                  <a:srgbClr val="68B9E8"/>
                </a:solidFill>
                <a:latin typeface="Segoe UI"/>
                <a:ea typeface="Segoe UI"/>
                <a:cs typeface="Segoe UI"/>
              </a:defRPr>
            </a:pPr>
            <a:r>
              <a:rPr sz="1575" b="1">
                <a:solidFill>
                  <a:srgbClr val="68B9E8"/>
                </a:solidFill>
                <a:latin typeface="Segoe UI"/>
                <a:ea typeface="Segoe UI"/>
                <a:cs typeface="Segoe UI"/>
              </a:rPr>
              <a:t>PERSISTANCE</a:t>
            </a:r>
          </a:p>
        </p:txBody>
      </p:sp>
      <p:sp>
        <p:nvSpPr>
          <p:cNvPr id="5" name="">
            <a:extLst xmlns:a="http://schemas.openxmlformats.org/drawingml/2006/main">
              <a:ext uri="{FF2B5EF4-FFF2-40B4-BE49-F238E27FC236}">
                <a16:creationId xmlns:a16="http://schemas.microsoft.com/office/drawing/2014/main" id="{5B16DAAD-7A4C-4903-BAAA-730E794D5AC9}"/>
              </a:ext>
            </a:extLst>
          </p:cNvPr>
          <p:cNvSpPr>
            <a:spLocks xmlns:a="http://schemas.openxmlformats.org/drawingml/2006/main" noGrp="1"/>
          </p:cNvSpPr>
          <p:nvPr/>
        </p:nvSpPr>
        <p:spPr>
          <a:xfrm xmlns:a="http://schemas.openxmlformats.org/drawingml/2006/main">
            <a:off x="6572250" y="21145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A95D7"/>
                </a:solidFill>
                <a:latin typeface="Segoe UI"/>
                <a:ea typeface="Segoe UI"/>
                <a:cs typeface="Segoe UI"/>
              </a:defRPr>
            </a:defPPr>
          </a:lstStyle>
          <a:p xmlns:a="http://schemas.openxmlformats.org/drawingml/2006/main">
            <a:pPr>
              <a:defRPr sz="1575" b="1">
                <a:solidFill>
                  <a:srgbClr val="AA95D7"/>
                </a:solidFill>
                <a:latin typeface="Segoe UI"/>
                <a:ea typeface="Segoe UI"/>
                <a:cs typeface="Segoe UI"/>
              </a:defRPr>
            </a:pPr>
            <a:r>
              <a:rPr sz="1575" b="1">
                <a:solidFill>
                  <a:srgbClr val="AA95D7"/>
                </a:solidFill>
                <a:latin typeface="Segoe UI"/>
                <a:ea typeface="Segoe UI"/>
                <a:cs typeface="Segoe UI"/>
              </a:rPr>
              <a:t>RÉFÉRENCE HEBDOMADAIRE</a:t>
            </a:r>
          </a:p>
        </p:txBody>
      </p:sp>
      <p:sp>
        <p:nvSpPr>
          <p:cNvPr id="6" name="">
            <a:extLst xmlns:a="http://schemas.openxmlformats.org/drawingml/2006/main">
              <a:ext uri="{FF2B5EF4-FFF2-40B4-BE49-F238E27FC236}">
                <a16:creationId xmlns:a16="http://schemas.microsoft.com/office/drawing/2014/main" id="{9E72535E-BD6A-45E9-8F5C-CBB62BAE7AE9}"/>
              </a:ext>
            </a:extLst>
          </p:cNvPr>
          <p:cNvSpPr>
            <a:spLocks xmlns:a="http://schemas.openxmlformats.org/drawingml/2006/main" noGrp="1"/>
          </p:cNvSpPr>
          <p:nvPr/>
        </p:nvSpPr>
        <p:spPr>
          <a:xfrm xmlns:a="http://schemas.openxmlformats.org/drawingml/2006/main">
            <a:off x="590550" y="26860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68B9E8"/>
                </a:solidFill>
                <a:latin typeface="Segoe UI"/>
                <a:ea typeface="Segoe UI"/>
                <a:cs typeface="Segoe UI"/>
              </a:defRPr>
            </a:defPPr>
          </a:lstStyle>
          <a:p xmlns:a="http://schemas.openxmlformats.org/drawingml/2006/main">
            <a:pPr>
              <a:defRPr sz="6600" b="1">
                <a:solidFill>
                  <a:srgbClr val="68B9E8"/>
                </a:solidFill>
                <a:latin typeface="Segoe UI"/>
                <a:ea typeface="Segoe UI"/>
                <a:cs typeface="Segoe UI"/>
              </a:defRPr>
            </a:pPr>
            <a:r>
              <a:rPr sz="6600" b="1">
                <a:solidFill>
                  <a:srgbClr val="68B9E8"/>
                </a:solidFill>
                <a:latin typeface="Segoe UI"/>
                <a:ea typeface="Segoe UI"/>
                <a:cs typeface="Segoe UI"/>
              </a:rPr>
              <a:t>T(t)</a:t>
            </a:r>
          </a:p>
        </p:txBody>
      </p:sp>
      <p:sp>
        <p:nvSpPr>
          <p:cNvPr id="7" name="">
            <a:extLst xmlns:a="http://schemas.openxmlformats.org/drawingml/2006/main">
              <a:ext uri="{FF2B5EF4-FFF2-40B4-BE49-F238E27FC236}">
                <a16:creationId xmlns:a16="http://schemas.microsoft.com/office/drawing/2014/main" id="{84ABB646-D532-4757-8C9B-64D6872C9095}"/>
              </a:ext>
            </a:extLst>
          </p:cNvPr>
          <p:cNvSpPr>
            <a:spLocks xmlns:a="http://schemas.openxmlformats.org/drawingml/2006/main" noGrp="1"/>
          </p:cNvSpPr>
          <p:nvPr/>
        </p:nvSpPr>
        <p:spPr>
          <a:xfrm xmlns:a="http://schemas.openxmlformats.org/drawingml/2006/main">
            <a:off x="6543675" y="28289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AA95D7"/>
                </a:solidFill>
                <a:latin typeface="Segoe UI"/>
                <a:ea typeface="Segoe UI"/>
                <a:cs typeface="Segoe UI"/>
              </a:defRPr>
            </a:defPPr>
          </a:lstStyle>
          <a:p xmlns:a="http://schemas.openxmlformats.org/drawingml/2006/main">
            <a:pPr>
              <a:defRPr sz="4275" b="1">
                <a:solidFill>
                  <a:srgbClr val="AA95D7"/>
                </a:solidFill>
                <a:latin typeface="Segoe UI"/>
                <a:ea typeface="Segoe UI"/>
                <a:cs typeface="Segoe UI"/>
              </a:defRPr>
            </a:pPr>
            <a:r>
              <a:rPr sz="4275" b="1">
                <a:solidFill>
                  <a:srgbClr val="AA95D7"/>
                </a:solidFill>
                <a:latin typeface="Segoe UI"/>
                <a:ea typeface="Segoe UI"/>
                <a:cs typeface="Segoe UI"/>
              </a:rPr>
              <a:t>T(t − 144 h)</a:t>
            </a:r>
          </a:p>
        </p:txBody>
      </p:sp>
      <p:sp>
        <p:nvSpPr>
          <p:cNvPr id="8" name="">
            <a:extLst xmlns:a="http://schemas.openxmlformats.org/drawingml/2006/main">
              <a:ext uri="{FF2B5EF4-FFF2-40B4-BE49-F238E27FC236}">
                <a16:creationId xmlns:a16="http://schemas.microsoft.com/office/drawing/2014/main" id="{74B2086B-6F92-4C52-B5AD-4A8B398ED96D}"/>
              </a:ext>
            </a:extLst>
          </p:cNvPr>
          <p:cNvSpPr>
            <a:spLocks xmlns:a="http://schemas.openxmlformats.org/drawingml/2006/main" noGrp="1"/>
          </p:cNvSpPr>
          <p:nvPr/>
        </p:nvSpPr>
        <p:spPr>
          <a:xfrm xmlns:a="http://schemas.openxmlformats.org/drawingml/2006/main">
            <a:off x="619125" y="428625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3"/>
                </a:solidFill>
                <a:latin typeface="Segoe UI"/>
                <a:ea typeface="Segoe UI"/>
                <a:cs typeface="Segoe UI"/>
              </a:defRPr>
            </a:defPPr>
          </a:lstStyle>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La dernière température connue</a:t>
            </a:r>
          </a:p>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pour prévoir la cible à t + 24 h.</a:t>
            </a:r>
          </a:p>
        </p:txBody>
      </p:sp>
      <p:sp>
        <p:nvSpPr>
          <p:cNvPr id="9" name="">
            <a:extLst xmlns:a="http://schemas.openxmlformats.org/drawingml/2006/main">
              <a:ext uri="{FF2B5EF4-FFF2-40B4-BE49-F238E27FC236}">
                <a16:creationId xmlns:a16="http://schemas.microsoft.com/office/drawing/2014/main" id="{486A906E-1F9D-46C1-A47B-03139790DF1C}"/>
              </a:ext>
            </a:extLst>
          </p:cNvPr>
          <p:cNvSpPr>
            <a:spLocks xmlns:a="http://schemas.openxmlformats.org/drawingml/2006/main" noGrp="1"/>
          </p:cNvSpPr>
          <p:nvPr/>
        </p:nvSpPr>
        <p:spPr>
          <a:xfrm xmlns:a="http://schemas.openxmlformats.org/drawingml/2006/main">
            <a:off x="6572250" y="4286250"/>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3"/>
                </a:solidFill>
                <a:latin typeface="Segoe UI"/>
                <a:ea typeface="Segoe UI"/>
                <a:cs typeface="Segoe UI"/>
              </a:defRPr>
            </a:defPPr>
          </a:lstStyle>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La température une semaine</a:t>
            </a:r>
          </a:p>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avant cette même cible.</a:t>
            </a:r>
          </a:p>
        </p:txBody>
      </p:sp>
      <p:sp>
        <p:nvSpPr>
          <p:cNvPr id="10" name="">
            <a:extLst xmlns:a="http://schemas.openxmlformats.org/drawingml/2006/main">
              <a:ext uri="{FF2B5EF4-FFF2-40B4-BE49-F238E27FC236}">
                <a16:creationId xmlns:a16="http://schemas.microsoft.com/office/drawing/2014/main" id="{7102DE58-D532-436D-982F-F03418E03C37}"/>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À cet horizon, la persistance correspond à la même heure la veille de la cible.</a:t>
            </a:r>
          </a:p>
        </p:txBody>
      </p:sp>
    </p:spTree>
    <p:extLst>
      <p:ext uri="{BB962C8B-B14F-4D97-AF65-F5344CB8AC3E}">
        <p14:creationId xmlns:p14="http://schemas.microsoft.com/office/powerpoint/2010/main" val="1570965676"/>
      </p:ext>
    </p:extLst>
  </p:cSld>
</p:sld>
</file>

<file path=ppt/slides/slide16.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F26303-A209-491D-94A6-FF9B3DB934D3}"/>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APPRENTISSAGE</a:t>
            </a:r>
          </a:p>
        </p:txBody>
      </p:sp>
      <p:sp>
        <p:nvSpPr>
          <p:cNvPr id="2" name="">
            <a:extLst xmlns:a="http://schemas.openxmlformats.org/drawingml/2006/main">
              <a:ext uri="{FF2B5EF4-FFF2-40B4-BE49-F238E27FC236}">
                <a16:creationId xmlns:a16="http://schemas.microsoft.com/office/drawing/2014/main" id="{38906B69-0280-4EA5-8C64-8F2AB2A3EAEF}"/>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16</a:t>
            </a:r>
          </a:p>
        </p:txBody>
      </p:sp>
      <p:sp>
        <p:nvSpPr>
          <p:cNvPr id="3" name="">
            <a:extLst xmlns:a="http://schemas.openxmlformats.org/drawingml/2006/main">
              <a:ext uri="{FF2B5EF4-FFF2-40B4-BE49-F238E27FC236}">
                <a16:creationId xmlns:a16="http://schemas.microsoft.com/office/drawing/2014/main" id="{FB96AE3F-3641-4D88-AE5E-590A133C3757}"/>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La validation distingue les comportements</a:t>
            </a:r>
          </a:p>
        </p:txBody>
      </p:sp>
      <p:graphicFrame>
        <p:nvGraphicFramePr>
          <p:cNvPr id="4" name="Chart">
            <a:extLst xmlns:a="http://schemas.openxmlformats.org/drawingml/2006/main">
              <a:ext uri="{FF2B5EF4-FFF2-40B4-BE49-F238E27FC236}">
                <a16:creationId xmlns:a16="http://schemas.microsoft.com/office/drawing/2014/main" id="{46829273-0477-4496-BFAF-E9AE014F00F2}"/>
              </a:ext>
            </a:extLst>
          </p:cNvPr>
          <p:cNvGraphicFramePr/>
          <p:nvPr/>
        </p:nvGraphicFramePr>
        <p:xfrm>
          <a:off xmlns:a="http://schemas.openxmlformats.org/drawingml/2006/main" x="571500" y="1857375"/>
          <a:ext xmlns:a="http://schemas.openxmlformats.org/drawingml/2006/main" cx="8096250" cy="3810000"/>
        </p:xfrm>
        <a:graphic xmlns:a="http://schemas.openxmlformats.org/drawingml/2006/main">
          <a:graphicData uri="http://schemas.openxmlformats.org/drawingml/2006/chart">
            <c:chart xmlns:r="http://schemas.openxmlformats.org/officeDocument/2006/relationships" xmlns:c="http://schemas.openxmlformats.org/drawingml/2006/chart" r:id="R8816f62f62d74a25"/>
          </a:graphicData>
        </a:graphic>
      </p:graphicFrame>
      <p:sp>
        <p:nvSpPr>
          <p:cNvPr id="5" name="">
            <a:extLst xmlns:a="http://schemas.openxmlformats.org/drawingml/2006/main">
              <a:ext uri="{FF2B5EF4-FFF2-40B4-BE49-F238E27FC236}">
                <a16:creationId xmlns:a16="http://schemas.microsoft.com/office/drawing/2014/main" id="{BA8467B7-F7B5-46D9-84EF-E8269A20AD0F}"/>
              </a:ext>
            </a:extLst>
          </p:cNvPr>
          <p:cNvSpPr>
            <a:spLocks xmlns:a="http://schemas.openxmlformats.org/drawingml/2006/main" noGrp="1"/>
          </p:cNvSpPr>
          <p:nvPr/>
        </p:nvSpPr>
        <p:spPr>
          <a:xfrm xmlns:a="http://schemas.openxmlformats.org/drawingml/2006/main">
            <a:off x="9144000" y="22860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68B9E8"/>
                </a:solidFill>
                <a:latin typeface="Segoe UI"/>
                <a:ea typeface="Segoe UI"/>
                <a:cs typeface="Segoe UI"/>
              </a:defRPr>
            </a:defPPr>
          </a:lstStyle>
          <a:p xmlns:a="http://schemas.openxmlformats.org/drawingml/2006/main">
            <a:pPr>
              <a:defRPr sz="2250" b="1">
                <a:solidFill>
                  <a:srgbClr val="68B9E8"/>
                </a:solidFill>
                <a:latin typeface="Segoe UI"/>
                <a:ea typeface="Segoe UI"/>
                <a:cs typeface="Segoe UI"/>
              </a:defRPr>
            </a:pPr>
            <a:r>
              <a:rPr sz="2250" b="1">
                <a:solidFill>
                  <a:srgbClr val="68B9E8"/>
                </a:solidFill>
                <a:latin typeface="Segoe UI"/>
                <a:ea typeface="Segoe UI"/>
                <a:cs typeface="Segoe UI"/>
              </a:rPr>
              <a:t>SimpleRNN</a:t>
            </a:r>
          </a:p>
        </p:txBody>
      </p:sp>
      <p:sp>
        <p:nvSpPr>
          <p:cNvPr id="6" name="">
            <a:extLst xmlns:a="http://schemas.openxmlformats.org/drawingml/2006/main">
              <a:ext uri="{FF2B5EF4-FFF2-40B4-BE49-F238E27FC236}">
                <a16:creationId xmlns:a16="http://schemas.microsoft.com/office/drawing/2014/main" id="{F5B02C79-D2EC-45D0-A3C6-35228F6A3EF4}"/>
              </a:ext>
            </a:extLst>
          </p:cNvPr>
          <p:cNvSpPr>
            <a:spLocks xmlns:a="http://schemas.openxmlformats.org/drawingml/2006/main" noGrp="1"/>
          </p:cNvSpPr>
          <p:nvPr/>
        </p:nvSpPr>
        <p:spPr>
          <a:xfrm xmlns:a="http://schemas.openxmlformats.org/drawingml/2006/main">
            <a:off x="9144000" y="29241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3"/>
                </a:solidFill>
                <a:latin typeface="Segoe UI"/>
                <a:ea typeface="Segoe UI"/>
                <a:cs typeface="Segoe UI"/>
              </a:defRPr>
            </a:defPPr>
          </a:lstStyle>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Une validation</a:t>
            </a:r>
          </a:p>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plus fluctuante.</a:t>
            </a:r>
          </a:p>
        </p:txBody>
      </p:sp>
      <p:sp>
        <p:nvSpPr>
          <p:cNvPr id="7" name="">
            <a:extLst xmlns:a="http://schemas.openxmlformats.org/drawingml/2006/main">
              <a:ext uri="{FF2B5EF4-FFF2-40B4-BE49-F238E27FC236}">
                <a16:creationId xmlns:a16="http://schemas.microsoft.com/office/drawing/2014/main" id="{0A588C5B-6D8A-42E1-850F-1AA8778B151B}"/>
              </a:ext>
            </a:extLst>
          </p:cNvPr>
          <p:cNvSpPr>
            <a:spLocks xmlns:a="http://schemas.openxmlformats.org/drawingml/2006/main" noGrp="1"/>
          </p:cNvSpPr>
          <p:nvPr/>
        </p:nvSpPr>
        <p:spPr>
          <a:xfrm xmlns:a="http://schemas.openxmlformats.org/drawingml/2006/main">
            <a:off x="9144000" y="4286250"/>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0DF8E"/>
                </a:solidFill>
                <a:latin typeface="Segoe UI"/>
                <a:ea typeface="Segoe UI"/>
                <a:cs typeface="Segoe UI"/>
              </a:defRPr>
            </a:defPPr>
          </a:lstStyle>
          <a:p xmlns:a="http://schemas.openxmlformats.org/drawingml/2006/main">
            <a:pPr>
              <a:defRPr sz="2175" b="1">
                <a:solidFill>
                  <a:srgbClr val="D0DF8E"/>
                </a:solidFill>
                <a:latin typeface="Segoe UI"/>
                <a:ea typeface="Segoe UI"/>
                <a:cs typeface="Segoe UI"/>
              </a:defRPr>
            </a:pPr>
            <a:r>
              <a:rPr sz="2175" b="1">
                <a:solidFill>
                  <a:srgbClr val="D0DF8E"/>
                </a:solidFill>
                <a:latin typeface="Segoe UI"/>
                <a:ea typeface="Segoe UI"/>
                <a:cs typeface="Segoe UI"/>
              </a:rPr>
              <a:t>LSTM / GRU</a:t>
            </a:r>
          </a:p>
        </p:txBody>
      </p:sp>
      <p:sp>
        <p:nvSpPr>
          <p:cNvPr id="8" name="">
            <a:extLst xmlns:a="http://schemas.openxmlformats.org/drawingml/2006/main">
              <a:ext uri="{FF2B5EF4-FFF2-40B4-BE49-F238E27FC236}">
                <a16:creationId xmlns:a16="http://schemas.microsoft.com/office/drawing/2014/main" id="{1DBC9048-4A18-43D0-98A4-A25225310E41}"/>
              </a:ext>
            </a:extLst>
          </p:cNvPr>
          <p:cNvSpPr>
            <a:spLocks xmlns:a="http://schemas.openxmlformats.org/drawingml/2006/main" noGrp="1"/>
          </p:cNvSpPr>
          <p:nvPr/>
        </p:nvSpPr>
        <p:spPr>
          <a:xfrm xmlns:a="http://schemas.openxmlformats.org/drawingml/2006/main">
            <a:off x="9144000" y="4895850"/>
            <a:ext cx="247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3F5F3"/>
                </a:solidFill>
                <a:latin typeface="Segoe UI"/>
                <a:ea typeface="Segoe UI"/>
                <a:cs typeface="Segoe UI"/>
              </a:defRPr>
            </a:defPPr>
          </a:lstStyle>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Des courbes</a:t>
            </a:r>
          </a:p>
          <a:p xmlns:a="http://schemas.openxmlformats.org/drawingml/2006/main">
            <a:pPr>
              <a:defRPr sz="2025" b="0">
                <a:solidFill>
                  <a:srgbClr val="F3F5F3"/>
                </a:solidFill>
                <a:latin typeface="Segoe UI"/>
                <a:ea typeface="Segoe UI"/>
                <a:cs typeface="Segoe UI"/>
              </a:defRPr>
            </a:pPr>
            <a:r>
              <a:rPr sz="2025" b="0">
                <a:solidFill>
                  <a:srgbClr val="F3F5F3"/>
                </a:solidFill>
                <a:latin typeface="Segoe UI"/>
                <a:ea typeface="Segoe UI"/>
                <a:cs typeface="Segoe UI"/>
              </a:rPr>
              <a:t>plus régulières.</a:t>
            </a:r>
          </a:p>
        </p:txBody>
      </p:sp>
      <p:sp>
        <p:nvSpPr>
          <p:cNvPr id="9" name="">
            <a:extLst xmlns:a="http://schemas.openxmlformats.org/drawingml/2006/main">
              <a:ext uri="{FF2B5EF4-FFF2-40B4-BE49-F238E27FC236}">
                <a16:creationId xmlns:a16="http://schemas.microsoft.com/office/drawing/2014/main" id="{06D9F3E3-24CC-42ED-B1D1-38462CC02347}"/>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Cette observation concerne notre réglage. Elle ne démontre pas la cause des oscillations.</a:t>
            </a:r>
          </a:p>
        </p:txBody>
      </p:sp>
    </p:spTree>
    <p:extLst>
      <p:ext uri="{BB962C8B-B14F-4D97-AF65-F5344CB8AC3E}">
        <p14:creationId xmlns:p14="http://schemas.microsoft.com/office/powerpoint/2010/main" val="59968182"/>
      </p:ext>
    </p:extLst>
  </p:cSld>
</p:sld>
</file>

<file path=ppt/slides/slide17.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2FE60D-75FA-481C-848C-1695FBECA61B}"/>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RÉSULTATS JENA</a:t>
            </a:r>
          </a:p>
        </p:txBody>
      </p:sp>
      <p:sp>
        <p:nvSpPr>
          <p:cNvPr id="2" name="">
            <a:extLst xmlns:a="http://schemas.openxmlformats.org/drawingml/2006/main">
              <a:ext uri="{FF2B5EF4-FFF2-40B4-BE49-F238E27FC236}">
                <a16:creationId xmlns:a16="http://schemas.microsoft.com/office/drawing/2014/main" id="{B88269CF-ADFE-45F2-8C86-513620E15F1D}"/>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17</a:t>
            </a:r>
          </a:p>
        </p:txBody>
      </p:sp>
      <p:sp>
        <p:nvSpPr>
          <p:cNvPr id="3" name="">
            <a:extLst xmlns:a="http://schemas.openxmlformats.org/drawingml/2006/main">
              <a:ext uri="{FF2B5EF4-FFF2-40B4-BE49-F238E27FC236}">
                <a16:creationId xmlns:a16="http://schemas.microsoft.com/office/drawing/2014/main" id="{BC3813E8-6F3B-4A39-911B-0F8C0A0B9E38}"/>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Le test : des écarts modestes</a:t>
            </a:r>
          </a:p>
        </p:txBody>
      </p:sp>
      <p:graphicFrame>
        <p:nvGraphicFramePr>
          <p:cNvPr id="4" name="">
            <a:extLst xmlns:a="http://schemas.openxmlformats.org/drawingml/2006/main">
              <a:ext uri="{FF2B5EF4-FFF2-40B4-BE49-F238E27FC236}">
                <a16:creationId xmlns:a16="http://schemas.microsoft.com/office/drawing/2014/main" id="{1BC4FEB5-F9B3-40A5-86B7-89FFD8E98D32}"/>
              </a:ext>
            </a:extLst>
          </p:cNvPr>
          <p:cNvGraphicFramePr/>
          <p:nvPr/>
        </p:nvGraphicFramePr>
        <p:xfrm>
          <a:off xmlns:a="http://schemas.openxmlformats.org/drawingml/2006/main" x="571500" y="1952625"/>
          <a:ext xmlns:a="http://schemas.openxmlformats.org/drawingml/2006/main" cx="11049000" cy="3333750"/>
        </p:xfrm>
        <a:graphic xmlns:a="http://schemas.openxmlformats.org/drawingml/2006/main">
          <a:graphicData uri="http://schemas.openxmlformats.org/drawingml/2006/table">
            <a:tbl>
              <a:tblPr/>
              <a:tblGrid>
                <a:gridCol w="5524500"/>
                <a:gridCol w="2762250"/>
                <a:gridCol w="2762250"/>
              </a:tblGrid>
              <a:tr h="555625">
                <a:tc>
                  <a:txBody>
                    <a:bodyPr lIns="123825" tIns="123825" rIns="123825" bIns="123825"/>
                    <a:lstStyle/>
                    <a:p>
                      <a:r>
                        <a:rPr sz="2175" b="1">
                          <a:solidFill>
                            <a:srgbClr val="F3F5F3"/>
                          </a:solidFill>
                          <a:latin typeface="Segoe UI"/>
                          <a:ea typeface="Segoe UI"/>
                          <a:cs typeface="Segoe UI"/>
                        </a:rPr>
                        <a:t>Méthode</a:t>
                      </a:r>
                    </a:p>
                  </a:txBody>
                  <a:tcPr marL="91440" marR="91440" marT="45720" marB="45720" anchor="ctr">
                    <a:lnL w="6668">
                      <a:solidFill>
                        <a:srgbClr val="304151"/>
                      </a:solidFill>
                    </a:lnL>
                    <a:lnR w="6668">
                      <a:solidFill>
                        <a:srgbClr val="304151"/>
                      </a:solidFill>
                    </a:lnR>
                    <a:lnT w="6668">
                      <a:solidFill>
                        <a:srgbClr val="304151"/>
                      </a:solidFill>
                    </a:lnT>
                    <a:lnB w="6668">
                      <a:solidFill>
                        <a:srgbClr val="304151"/>
                      </a:solidFill>
                    </a:lnB>
                    <a:solidFill>
                      <a:srgbClr val="142335"/>
                    </a:solidFill>
                  </a:tcPr>
                </a:tc>
                <a:tc>
                  <a:txBody>
                    <a:bodyPr lIns="123825" tIns="123825" rIns="123825" bIns="123825"/>
                    <a:lstStyle/>
                    <a:p>
                      <a:r>
                        <a:rPr sz="2175" b="1">
                          <a:solidFill>
                            <a:srgbClr val="F3F5F3"/>
                          </a:solidFill>
                          <a:latin typeface="Segoe UI"/>
                          <a:ea typeface="Segoe UI"/>
                          <a:cs typeface="Segoe UI"/>
                        </a:rPr>
                        <a:t>MAE (°C)</a:t>
                      </a:r>
                    </a:p>
                  </a:txBody>
                  <a:tcPr marL="91440" marR="91440" marT="45720" marB="45720" anchor="ctr">
                    <a:lnR w="6668">
                      <a:solidFill>
                        <a:srgbClr val="304151"/>
                      </a:solidFill>
                    </a:lnR>
                    <a:lnT w="6668">
                      <a:solidFill>
                        <a:srgbClr val="304151"/>
                      </a:solidFill>
                    </a:lnT>
                    <a:lnB w="6668">
                      <a:solidFill>
                        <a:srgbClr val="304151"/>
                      </a:solidFill>
                    </a:lnB>
                    <a:solidFill>
                      <a:srgbClr val="142335"/>
                    </a:solidFill>
                  </a:tcPr>
                </a:tc>
                <a:tc>
                  <a:txBody>
                    <a:bodyPr lIns="123825" tIns="123825" rIns="123825" bIns="123825"/>
                    <a:lstStyle/>
                    <a:p>
                      <a:r>
                        <a:rPr sz="2175" b="1">
                          <a:solidFill>
                            <a:srgbClr val="F3F5F3"/>
                          </a:solidFill>
                          <a:latin typeface="Segoe UI"/>
                          <a:ea typeface="Segoe UI"/>
                          <a:cs typeface="Segoe UI"/>
                        </a:rPr>
                        <a:t>RMSE (°C)</a:t>
                      </a:r>
                    </a:p>
                  </a:txBody>
                  <a:tcPr marL="91440" marR="91440" marT="45720" marB="45720" anchor="ctr">
                    <a:lnR w="6668">
                      <a:solidFill>
                        <a:srgbClr val="304151"/>
                      </a:solidFill>
                    </a:lnR>
                    <a:lnT w="6668">
                      <a:solidFill>
                        <a:srgbClr val="304151"/>
                      </a:solidFill>
                    </a:lnT>
                    <a:lnB w="6668">
                      <a:solidFill>
                        <a:srgbClr val="304151"/>
                      </a:solidFill>
                    </a:lnB>
                    <a:solidFill>
                      <a:srgbClr val="142335"/>
                    </a:solidFill>
                  </a:tcPr>
                </a:tc>
              </a:tr>
              <a:tr h="555625">
                <a:tc>
                  <a:txBody>
                    <a:bodyPr lIns="123825" tIns="123825" rIns="123825" bIns="123825"/>
                    <a:lstStyle/>
                    <a:p>
                      <a:r>
                        <a:rPr sz="2175" b="0">
                          <a:solidFill>
                            <a:srgbClr val="F3F5F3"/>
                          </a:solidFill>
                          <a:latin typeface="Segoe UI"/>
                          <a:ea typeface="Segoe UI"/>
                          <a:cs typeface="Segoe UI"/>
                        </a:rPr>
                        <a:t>Persistance</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2,4958</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3,2477</a:t>
                      </a:r>
                    </a:p>
                  </a:txBody>
                  <a:tcPr marL="91440" marR="91440" marT="45720" marB="45720" anchor="ctr">
                    <a:lnR w="6668">
                      <a:solidFill>
                        <a:srgbClr val="304151"/>
                      </a:solidFill>
                    </a:lnR>
                    <a:lnB w="6668">
                      <a:solidFill>
                        <a:srgbClr val="304151"/>
                      </a:solidFill>
                    </a:lnB>
                    <a:solidFill>
                      <a:srgbClr val="0B1522"/>
                    </a:solidFill>
                  </a:tcPr>
                </a:tc>
              </a:tr>
              <a:tr h="555625">
                <a:tc>
                  <a:txBody>
                    <a:bodyPr lIns="123825" tIns="123825" rIns="123825" bIns="123825"/>
                    <a:lstStyle/>
                    <a:p>
                      <a:r>
                        <a:rPr sz="2175" b="0">
                          <a:solidFill>
                            <a:srgbClr val="F3F5F3"/>
                          </a:solidFill>
                          <a:latin typeface="Segoe UI"/>
                          <a:ea typeface="Segoe UI"/>
                          <a:cs typeface="Segoe UI"/>
                        </a:rPr>
                        <a:t>Hebdomadaire</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4,6262</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5,7685</a:t>
                      </a:r>
                    </a:p>
                  </a:txBody>
                  <a:tcPr marL="91440" marR="91440" marT="45720" marB="45720" anchor="ctr">
                    <a:lnR w="6668">
                      <a:solidFill>
                        <a:srgbClr val="304151"/>
                      </a:solidFill>
                    </a:lnR>
                    <a:lnB w="6668">
                      <a:solidFill>
                        <a:srgbClr val="304151"/>
                      </a:solidFill>
                    </a:lnB>
                    <a:solidFill>
                      <a:srgbClr val="0B1522"/>
                    </a:solidFill>
                  </a:tcPr>
                </a:tc>
              </a:tr>
              <a:tr h="555625">
                <a:tc>
                  <a:txBody>
                    <a:bodyPr lIns="123825" tIns="123825" rIns="123825" bIns="123825"/>
                    <a:lstStyle/>
                    <a:p>
                      <a:r>
                        <a:rPr sz="2175" b="0">
                          <a:solidFill>
                            <a:srgbClr val="F3F5F3"/>
                          </a:solidFill>
                          <a:latin typeface="Segoe UI"/>
                          <a:ea typeface="Segoe UI"/>
                          <a:cs typeface="Segoe UI"/>
                        </a:rPr>
                        <a:t>SimpleRNN</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2,5623</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3,2510</a:t>
                      </a:r>
                    </a:p>
                  </a:txBody>
                  <a:tcPr marL="91440" marR="91440" marT="45720" marB="45720" anchor="ctr">
                    <a:lnR w="6668">
                      <a:solidFill>
                        <a:srgbClr val="304151"/>
                      </a:solidFill>
                    </a:lnR>
                    <a:lnB w="6668">
                      <a:solidFill>
                        <a:srgbClr val="304151"/>
                      </a:solidFill>
                    </a:lnB>
                    <a:solidFill>
                      <a:srgbClr val="0B1522"/>
                    </a:solidFill>
                  </a:tcPr>
                </a:tc>
              </a:tr>
              <a:tr h="555625">
                <a:tc>
                  <a:txBody>
                    <a:bodyPr lIns="123825" tIns="123825" rIns="123825" bIns="123825"/>
                    <a:lstStyle/>
                    <a:p>
                      <a:r>
                        <a:rPr sz="2175" b="0">
                          <a:solidFill>
                            <a:srgbClr val="F3F5F3"/>
                          </a:solidFill>
                          <a:latin typeface="Segoe UI"/>
                          <a:ea typeface="Segoe UI"/>
                          <a:cs typeface="Segoe UI"/>
                        </a:rPr>
                        <a:t>LSTM</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2,4666</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75" b="0">
                          <a:solidFill>
                            <a:srgbClr val="F3F5F3"/>
                          </a:solidFill>
                          <a:latin typeface="Segoe UI"/>
                          <a:ea typeface="Segoe UI"/>
                          <a:cs typeface="Segoe UI"/>
                        </a:rPr>
                        <a:t>3,1585</a:t>
                      </a:r>
                    </a:p>
                  </a:txBody>
                  <a:tcPr marL="91440" marR="91440" marT="45720" marB="45720" anchor="ctr">
                    <a:lnR w="6668">
                      <a:solidFill>
                        <a:srgbClr val="304151"/>
                      </a:solidFill>
                    </a:lnR>
                    <a:lnB w="6668">
                      <a:solidFill>
                        <a:srgbClr val="304151"/>
                      </a:solidFill>
                    </a:lnB>
                    <a:solidFill>
                      <a:srgbClr val="0B1522"/>
                    </a:solidFill>
                  </a:tcPr>
                </a:tc>
              </a:tr>
              <a:tr h="555625">
                <a:tc>
                  <a:txBody>
                    <a:bodyPr lIns="123825" tIns="123825" rIns="123825" bIns="123825"/>
                    <a:lstStyle/>
                    <a:p>
                      <a:r>
                        <a:rPr sz="2175" b="1">
                          <a:solidFill>
                            <a:srgbClr val="D0DF8E"/>
                          </a:solidFill>
                          <a:latin typeface="Segoe UI"/>
                          <a:ea typeface="Segoe UI"/>
                          <a:cs typeface="Segoe UI"/>
                        </a:rPr>
                        <a:t>GRU</a:t>
                      </a:r>
                    </a:p>
                  </a:txBody>
                  <a:tcPr marL="91440" marR="91440" marT="45720" marB="45720" anchor="ctr">
                    <a:lnL w="6668">
                      <a:solidFill>
                        <a:srgbClr val="304151"/>
                      </a:solidFill>
                    </a:lnL>
                    <a:lnR w="6668">
                      <a:solidFill>
                        <a:srgbClr val="304151"/>
                      </a:solidFill>
                    </a:lnR>
                    <a:lnB w="6668">
                      <a:solidFill>
                        <a:srgbClr val="304151"/>
                      </a:solidFill>
                    </a:lnB>
                    <a:solidFill>
                      <a:srgbClr val="25382F"/>
                    </a:solidFill>
                  </a:tcPr>
                </a:tc>
                <a:tc>
                  <a:txBody>
                    <a:bodyPr lIns="123825" tIns="123825" rIns="123825" bIns="123825"/>
                    <a:lstStyle/>
                    <a:p>
                      <a:r>
                        <a:rPr sz="2175" b="1">
                          <a:solidFill>
                            <a:srgbClr val="D0DF8E"/>
                          </a:solidFill>
                          <a:latin typeface="Segoe UI"/>
                          <a:ea typeface="Segoe UI"/>
                          <a:cs typeface="Segoe UI"/>
                        </a:rPr>
                        <a:t>2,4621</a:t>
                      </a:r>
                    </a:p>
                  </a:txBody>
                  <a:tcPr marL="91440" marR="91440" marT="45720" marB="45720" anchor="ctr">
                    <a:lnR w="6668">
                      <a:solidFill>
                        <a:srgbClr val="304151"/>
                      </a:solidFill>
                    </a:lnR>
                    <a:lnB w="6668">
                      <a:solidFill>
                        <a:srgbClr val="304151"/>
                      </a:solidFill>
                    </a:lnB>
                    <a:solidFill>
                      <a:srgbClr val="25382F"/>
                    </a:solidFill>
                  </a:tcPr>
                </a:tc>
                <a:tc>
                  <a:txBody>
                    <a:bodyPr lIns="123825" tIns="123825" rIns="123825" bIns="123825"/>
                    <a:lstStyle/>
                    <a:p>
                      <a:r>
                        <a:rPr sz="2175" b="1">
                          <a:solidFill>
                            <a:srgbClr val="D0DF8E"/>
                          </a:solidFill>
                          <a:latin typeface="Segoe UI"/>
                          <a:ea typeface="Segoe UI"/>
                          <a:cs typeface="Segoe UI"/>
                        </a:rPr>
                        <a:t>3,1502</a:t>
                      </a:r>
                    </a:p>
                  </a:txBody>
                  <a:tcPr marL="91440" marR="91440" marT="45720" marB="45720" anchor="ctr">
                    <a:lnR w="6668">
                      <a:solidFill>
                        <a:srgbClr val="304151"/>
                      </a:solidFill>
                    </a:lnR>
                    <a:lnB w="6668">
                      <a:solidFill>
                        <a:srgbClr val="304151"/>
                      </a:solidFill>
                    </a:lnB>
                    <a:solidFill>
                      <a:srgbClr val="25382F"/>
                    </a:solidFill>
                  </a:tcPr>
                </a:tc>
              </a:tr>
            </a:tbl>
          </a:graphicData>
        </a:graphic>
      </p:graphicFrame>
      <p:sp>
        <p:nvSpPr>
          <p:cNvPr id="5" name="">
            <a:extLst xmlns:a="http://schemas.openxmlformats.org/drawingml/2006/main">
              <a:ext uri="{FF2B5EF4-FFF2-40B4-BE49-F238E27FC236}">
                <a16:creationId xmlns:a16="http://schemas.microsoft.com/office/drawing/2014/main" id="{BA473ECC-3432-42B2-A4E6-BF12DDAE2CDF}"/>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10 258 cibles de test. Même période et mêmes règles de disponibilité temporelle.</a:t>
            </a:r>
          </a:p>
        </p:txBody>
      </p:sp>
    </p:spTree>
    <p:extLst>
      <p:ext uri="{BB962C8B-B14F-4D97-AF65-F5344CB8AC3E}">
        <p14:creationId xmlns:p14="http://schemas.microsoft.com/office/powerpoint/2010/main" val="467162551"/>
      </p:ext>
    </p:extLst>
  </p:cSld>
</p:sld>
</file>

<file path=ppt/slides/slide18.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F80CFF-F07C-43B2-86BB-B2B1199ED2A3}"/>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PORTÉE DU RÉSULTAT</a:t>
            </a:r>
          </a:p>
        </p:txBody>
      </p:sp>
      <p:sp>
        <p:nvSpPr>
          <p:cNvPr id="2" name="">
            <a:extLst xmlns:a="http://schemas.openxmlformats.org/drawingml/2006/main">
              <a:ext uri="{FF2B5EF4-FFF2-40B4-BE49-F238E27FC236}">
                <a16:creationId xmlns:a16="http://schemas.microsoft.com/office/drawing/2014/main" id="{78F1171A-CC79-4667-9F9F-DE1B49831153}"/>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18</a:t>
            </a:r>
          </a:p>
        </p:txBody>
      </p:sp>
      <p:sp>
        <p:nvSpPr>
          <p:cNvPr id="3" name="">
            <a:extLst xmlns:a="http://schemas.openxmlformats.org/drawingml/2006/main">
              <a:ext uri="{FF2B5EF4-FFF2-40B4-BE49-F238E27FC236}">
                <a16:creationId xmlns:a16="http://schemas.microsoft.com/office/drawing/2014/main" id="{2CBAC4CA-E596-40AF-9C4F-93921DC05C9D}"/>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GRU : un gain de MAE de 1,35 %</a:t>
            </a:r>
          </a:p>
        </p:txBody>
      </p:sp>
      <p:graphicFrame>
        <p:nvGraphicFramePr>
          <p:cNvPr id="4" name="Chart">
            <a:extLst xmlns:a="http://schemas.openxmlformats.org/drawingml/2006/main">
              <a:ext uri="{FF2B5EF4-FFF2-40B4-BE49-F238E27FC236}">
                <a16:creationId xmlns:a16="http://schemas.microsoft.com/office/drawing/2014/main" id="{5897437B-1363-45CD-8D1A-7906D830985D}"/>
              </a:ext>
            </a:extLst>
          </p:cNvPr>
          <p:cNvGraphicFramePr/>
          <p:nvPr/>
        </p:nvGraphicFramePr>
        <p:xfrm>
          <a:off xmlns:a="http://schemas.openxmlformats.org/drawingml/2006/main" x="476250" y="2047875"/>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8a7d6ba549da4ac1"/>
          </a:graphicData>
        </a:graphic>
      </p:graphicFrame>
      <p:sp>
        <p:nvSpPr>
          <p:cNvPr id="5" name="">
            <a:extLst xmlns:a="http://schemas.openxmlformats.org/drawingml/2006/main">
              <a:ext uri="{FF2B5EF4-FFF2-40B4-BE49-F238E27FC236}">
                <a16:creationId xmlns:a16="http://schemas.microsoft.com/office/drawing/2014/main" id="{00EAF7AB-1566-4B4C-9FE5-72D20440A947}"/>
              </a:ext>
            </a:extLst>
          </p:cNvPr>
          <p:cNvSpPr>
            <a:spLocks xmlns:a="http://schemas.openxmlformats.org/drawingml/2006/main" noGrp="1"/>
          </p:cNvSpPr>
          <p:nvPr/>
        </p:nvSpPr>
        <p:spPr>
          <a:xfrm xmlns:a="http://schemas.openxmlformats.org/drawingml/2006/main">
            <a:off x="8096250" y="2381250"/>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D0DF8E"/>
                </a:solidFill>
                <a:latin typeface="Segoe UI"/>
                <a:ea typeface="Segoe UI"/>
                <a:cs typeface="Segoe UI"/>
              </a:defRPr>
            </a:defPPr>
          </a:lstStyle>
          <a:p xmlns:a="http://schemas.openxmlformats.org/drawingml/2006/main">
            <a:pPr>
              <a:defRPr sz="4350" b="1">
                <a:solidFill>
                  <a:srgbClr val="D0DF8E"/>
                </a:solidFill>
                <a:latin typeface="Segoe UI"/>
                <a:ea typeface="Segoe UI"/>
                <a:cs typeface="Segoe UI"/>
              </a:defRPr>
            </a:pPr>
            <a:r>
              <a:rPr sz="4350" b="1">
                <a:solidFill>
                  <a:srgbClr val="D0DF8E"/>
                </a:solidFill>
                <a:latin typeface="Segoe UI"/>
                <a:ea typeface="Segoe UI"/>
                <a:cs typeface="Segoe UI"/>
              </a:rPr>
              <a:t>−0,034 °C</a:t>
            </a:r>
          </a:p>
        </p:txBody>
      </p:sp>
      <p:sp>
        <p:nvSpPr>
          <p:cNvPr id="6" name="">
            <a:extLst xmlns:a="http://schemas.openxmlformats.org/drawingml/2006/main">
              <a:ext uri="{FF2B5EF4-FFF2-40B4-BE49-F238E27FC236}">
                <a16:creationId xmlns:a16="http://schemas.microsoft.com/office/drawing/2014/main" id="{C9F09D2E-5E17-4A5E-88D1-47A7063756E1}"/>
              </a:ext>
            </a:extLst>
          </p:cNvPr>
          <p:cNvSpPr>
            <a:spLocks xmlns:a="http://schemas.openxmlformats.org/drawingml/2006/main" noGrp="1"/>
          </p:cNvSpPr>
          <p:nvPr/>
        </p:nvSpPr>
        <p:spPr>
          <a:xfrm xmlns:a="http://schemas.openxmlformats.org/drawingml/2006/main">
            <a:off x="8143875" y="35242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3F5F3"/>
                </a:solidFill>
                <a:latin typeface="Segoe UI"/>
                <a:ea typeface="Segoe UI"/>
                <a:cs typeface="Segoe UI"/>
              </a:defRPr>
            </a:defPPr>
          </a:lstStyle>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de MAE par rapport</a:t>
            </a:r>
          </a:p>
          <a:p xmlns:a="http://schemas.openxmlformats.org/drawingml/2006/main">
            <a:pPr>
              <a:defRPr sz="2250" b="0">
                <a:solidFill>
                  <a:srgbClr val="F3F5F3"/>
                </a:solidFill>
                <a:latin typeface="Segoe UI"/>
                <a:ea typeface="Segoe UI"/>
                <a:cs typeface="Segoe UI"/>
              </a:defRPr>
            </a:pPr>
            <a:r>
              <a:rPr sz="2250" b="0">
                <a:solidFill>
                  <a:srgbClr val="F3F5F3"/>
                </a:solidFill>
                <a:latin typeface="Segoe UI"/>
                <a:ea typeface="Segoe UI"/>
                <a:cs typeface="Segoe UI"/>
              </a:rPr>
              <a:t>à la persistance.</a:t>
            </a:r>
          </a:p>
        </p:txBody>
      </p:sp>
      <p:sp>
        <p:nvSpPr>
          <p:cNvPr id="7" name="">
            <a:extLst xmlns:a="http://schemas.openxmlformats.org/drawingml/2006/main">
              <a:ext uri="{FF2B5EF4-FFF2-40B4-BE49-F238E27FC236}">
                <a16:creationId xmlns:a16="http://schemas.microsoft.com/office/drawing/2014/main" id="{0A7D1175-0BE0-41BE-B6EF-D9E49C4C85C0}"/>
              </a:ext>
            </a:extLst>
          </p:cNvPr>
          <p:cNvSpPr>
            <a:spLocks xmlns:a="http://schemas.openxmlformats.org/drawingml/2006/main" noGrp="1"/>
          </p:cNvSpPr>
          <p:nvPr/>
        </p:nvSpPr>
        <p:spPr>
          <a:xfrm xmlns:a="http://schemas.openxmlformats.org/drawingml/2006/main">
            <a:off x="8143875" y="495300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9EAFBF"/>
                </a:solidFill>
                <a:latin typeface="Segoe UI"/>
                <a:ea typeface="Segoe UI"/>
                <a:cs typeface="Segoe UI"/>
              </a:defRPr>
            </a:defPPr>
          </a:lstStyle>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LSTM : gain de 1,17 %</a:t>
            </a:r>
          </a:p>
          <a:p xmlns:a="http://schemas.openxmlformats.org/drawingml/2006/main">
            <a:pPr>
              <a:defRPr sz="1800" b="0">
                <a:solidFill>
                  <a:srgbClr val="9EAFBF"/>
                </a:solidFill>
                <a:latin typeface="Segoe UI"/>
                <a:ea typeface="Segoe UI"/>
                <a:cs typeface="Segoe UI"/>
              </a:defRPr>
            </a:pPr>
            <a:r>
              <a:rPr sz="1800" b="0">
                <a:solidFill>
                  <a:srgbClr val="9EAFBF"/>
                </a:solidFill>
                <a:latin typeface="Segoe UI"/>
                <a:ea typeface="Segoe UI"/>
                <a:cs typeface="Segoe UI"/>
              </a:rPr>
              <a:t>SimpleRNN : perte de 2,66 %</a:t>
            </a:r>
          </a:p>
        </p:txBody>
      </p:sp>
      <p:sp>
        <p:nvSpPr>
          <p:cNvPr id="8" name="">
            <a:extLst xmlns:a="http://schemas.openxmlformats.org/drawingml/2006/main">
              <a:ext uri="{FF2B5EF4-FFF2-40B4-BE49-F238E27FC236}">
                <a16:creationId xmlns:a16="http://schemas.microsoft.com/office/drawing/2014/main" id="{6C084007-B2B8-4729-943D-36998E3A1AB2}"/>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La référence hebdomadaire figure dans le tableau complet. Un faible gain reste un faible gain.</a:t>
            </a:r>
          </a:p>
        </p:txBody>
      </p:sp>
    </p:spTree>
    <p:extLst>
      <p:ext uri="{BB962C8B-B14F-4D97-AF65-F5344CB8AC3E}">
        <p14:creationId xmlns:p14="http://schemas.microsoft.com/office/powerpoint/2010/main" val="2136846029"/>
      </p:ext>
    </p:extLst>
  </p:cSld>
</p:sld>
</file>

<file path=ppt/slides/slide19.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AFE9AE-42F5-424E-8F76-207A677A65B7}"/>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PREMIÈRE SEMAINE DU TEST</a:t>
            </a:r>
          </a:p>
        </p:txBody>
      </p:sp>
      <p:sp>
        <p:nvSpPr>
          <p:cNvPr id="2" name="">
            <a:extLst xmlns:a="http://schemas.openxmlformats.org/drawingml/2006/main">
              <a:ext uri="{FF2B5EF4-FFF2-40B4-BE49-F238E27FC236}">
                <a16:creationId xmlns:a16="http://schemas.microsoft.com/office/drawing/2014/main" id="{443B118A-CA84-4D79-83AD-1C56E0490BE8}"/>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19</a:t>
            </a:r>
          </a:p>
        </p:txBody>
      </p:sp>
      <p:sp>
        <p:nvSpPr>
          <p:cNvPr id="3" name="">
            <a:extLst xmlns:a="http://schemas.openxmlformats.org/drawingml/2006/main">
              <a:ext uri="{FF2B5EF4-FFF2-40B4-BE49-F238E27FC236}">
                <a16:creationId xmlns:a16="http://schemas.microsoft.com/office/drawing/2014/main" id="{6D84E262-3B0D-4A9E-8A3B-C196225D3CD0}"/>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Prévoir les changements reste difficile</a:t>
            </a:r>
          </a:p>
        </p:txBody>
      </p:sp>
      <p:graphicFrame>
        <p:nvGraphicFramePr>
          <p:cNvPr id="4" name="Chart">
            <a:extLst xmlns:a="http://schemas.openxmlformats.org/drawingml/2006/main">
              <a:ext uri="{FF2B5EF4-FFF2-40B4-BE49-F238E27FC236}">
                <a16:creationId xmlns:a16="http://schemas.microsoft.com/office/drawing/2014/main" id="{A0E2BA97-BB09-46D2-A155-F9886DC527CB}"/>
              </a:ext>
            </a:extLst>
          </p:cNvPr>
          <p:cNvGraphicFramePr/>
          <p:nvPr/>
        </p:nvGraphicFramePr>
        <p:xfrm>
          <a:off xmlns:a="http://schemas.openxmlformats.org/drawingml/2006/main" x="571500" y="1857375"/>
          <a:ext xmlns:a="http://schemas.openxmlformats.org/drawingml/2006/main" cx="11049000" cy="3857625"/>
        </p:xfrm>
        <a:graphic xmlns:a="http://schemas.openxmlformats.org/drawingml/2006/main">
          <a:graphicData uri="http://schemas.openxmlformats.org/drawingml/2006/chart">
            <c:chart xmlns:r="http://schemas.openxmlformats.org/officeDocument/2006/relationships" xmlns:c="http://schemas.openxmlformats.org/drawingml/2006/chart" r:id="R49e0e090700749d5"/>
          </a:graphicData>
        </a:graphic>
      </p:graphicFrame>
      <p:sp>
        <p:nvSpPr>
          <p:cNvPr id="5" name="">
            <a:extLst xmlns:a="http://schemas.openxmlformats.org/drawingml/2006/main">
              <a:ext uri="{FF2B5EF4-FFF2-40B4-BE49-F238E27FC236}">
                <a16:creationId xmlns:a16="http://schemas.microsoft.com/office/drawing/2014/main" id="{75D3E29D-04C2-4B84-9360-D50B18CC58FF}"/>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Un point toutes les 6 h pour la lecture. Les métriques portent sur toutes les cibles horaires du test.</a:t>
            </a:r>
          </a:p>
        </p:txBody>
      </p:sp>
    </p:spTree>
    <p:extLst>
      <p:ext uri="{BB962C8B-B14F-4D97-AF65-F5344CB8AC3E}">
        <p14:creationId xmlns:p14="http://schemas.microsoft.com/office/powerpoint/2010/main" val="1460885350"/>
      </p:ext>
    </p:extLst>
  </p:cSld>
</p:sld>
</file>

<file path=ppt/slides/slide20.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43E365-C0A1-4771-A173-6688CDD67C8F}"/>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COÛT MESURÉ</a:t>
            </a:r>
          </a:p>
        </p:txBody>
      </p:sp>
      <p:sp>
        <p:nvSpPr>
          <p:cNvPr id="2" name="">
            <a:extLst xmlns:a="http://schemas.openxmlformats.org/drawingml/2006/main">
              <a:ext uri="{FF2B5EF4-FFF2-40B4-BE49-F238E27FC236}">
                <a16:creationId xmlns:a16="http://schemas.microsoft.com/office/drawing/2014/main" id="{2EC1CD9C-6409-42A5-90E7-48293A8A6201}"/>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20</a:t>
            </a:r>
          </a:p>
        </p:txBody>
      </p:sp>
      <p:sp>
        <p:nvSpPr>
          <p:cNvPr id="3" name="">
            <a:extLst xmlns:a="http://schemas.openxmlformats.org/drawingml/2006/main">
              <a:ext uri="{FF2B5EF4-FFF2-40B4-BE49-F238E27FC236}">
                <a16:creationId xmlns:a16="http://schemas.microsoft.com/office/drawing/2014/main" id="{1136EE90-53D5-4C02-8C72-AE70DFFEFB9A}"/>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GRU est la plus rapide dans cette session</a:t>
            </a:r>
          </a:p>
        </p:txBody>
      </p:sp>
      <p:graphicFrame>
        <p:nvGraphicFramePr>
          <p:cNvPr id="4" name="Chart">
            <a:extLst xmlns:a="http://schemas.openxmlformats.org/drawingml/2006/main">
              <a:ext uri="{FF2B5EF4-FFF2-40B4-BE49-F238E27FC236}">
                <a16:creationId xmlns:a16="http://schemas.microsoft.com/office/drawing/2014/main" id="{1DBA787E-9ABA-411D-884A-AD3B724518EF}"/>
              </a:ext>
            </a:extLst>
          </p:cNvPr>
          <p:cNvGraphicFramePr/>
          <p:nvPr/>
        </p:nvGraphicFramePr>
        <p:xfrm>
          <a:off xmlns:a="http://schemas.openxmlformats.org/drawingml/2006/main" x="428625" y="1952625"/>
          <a:ext xmlns:a="http://schemas.openxmlformats.org/drawingml/2006/main" cx="6905625" cy="3619500"/>
        </p:xfrm>
        <a:graphic xmlns:a="http://schemas.openxmlformats.org/drawingml/2006/main">
          <a:graphicData uri="http://schemas.openxmlformats.org/drawingml/2006/chart">
            <c:chart xmlns:r="http://schemas.openxmlformats.org/officeDocument/2006/relationships" xmlns:c="http://schemas.openxmlformats.org/drawingml/2006/chart" r:id="R20f630c77d3b4abd"/>
          </a:graphicData>
        </a:graphic>
      </p:graphicFrame>
      <p:sp>
        <p:nvSpPr>
          <p:cNvPr id="5" name="">
            <a:extLst xmlns:a="http://schemas.openxmlformats.org/drawingml/2006/main">
              <a:ext uri="{FF2B5EF4-FFF2-40B4-BE49-F238E27FC236}">
                <a16:creationId xmlns:a16="http://schemas.microsoft.com/office/drawing/2014/main" id="{0F6D8E60-A19E-4ACA-BF0D-92045B2E1541}"/>
              </a:ext>
            </a:extLst>
          </p:cNvPr>
          <p:cNvSpPr>
            <a:spLocks xmlns:a="http://schemas.openxmlformats.org/drawingml/2006/main" noGrp="1"/>
          </p:cNvSpPr>
          <p:nvPr/>
        </p:nvSpPr>
        <p:spPr>
          <a:xfrm xmlns:a="http://schemas.openxmlformats.org/drawingml/2006/main">
            <a:off x="8096250" y="20193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9EAFBF"/>
                </a:solidFill>
                <a:latin typeface="Segoe UI"/>
                <a:ea typeface="Segoe UI"/>
                <a:cs typeface="Segoe UI"/>
              </a:defRPr>
            </a:defPPr>
          </a:lstStyle>
          <a:p xmlns:a="http://schemas.openxmlformats.org/drawingml/2006/main">
            <a:pPr>
              <a:defRPr sz="1575" b="1">
                <a:solidFill>
                  <a:srgbClr val="9EAFBF"/>
                </a:solidFill>
                <a:latin typeface="Segoe UI"/>
                <a:ea typeface="Segoe UI"/>
                <a:cs typeface="Segoe UI"/>
              </a:defRPr>
            </a:pPr>
            <a:r>
              <a:rPr sz="1575" b="1">
                <a:solidFill>
                  <a:srgbClr val="9EAFBF"/>
                </a:solidFill>
                <a:latin typeface="Segoe UI"/>
                <a:ea typeface="Segoe UI"/>
                <a:cs typeface="Segoe UI"/>
              </a:rPr>
              <a:t>ÉPOQUE APRÈS DÉMARRAGE</a:t>
            </a:r>
          </a:p>
        </p:txBody>
      </p:sp>
      <p:sp>
        <p:nvSpPr>
          <p:cNvPr id="6" name="">
            <a:extLst xmlns:a="http://schemas.openxmlformats.org/drawingml/2006/main">
              <a:ext uri="{FF2B5EF4-FFF2-40B4-BE49-F238E27FC236}">
                <a16:creationId xmlns:a16="http://schemas.microsoft.com/office/drawing/2014/main" id="{FA5C1490-AE35-493F-9F5C-1A5E6671EDA2}"/>
              </a:ext>
            </a:extLst>
          </p:cNvPr>
          <p:cNvSpPr>
            <a:spLocks xmlns:a="http://schemas.openxmlformats.org/drawingml/2006/main" noGrp="1"/>
          </p:cNvSpPr>
          <p:nvPr/>
        </p:nvSpPr>
        <p:spPr>
          <a:xfrm xmlns:a="http://schemas.openxmlformats.org/drawingml/2006/main">
            <a:off x="8143875" y="27622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B9E8"/>
                </a:solidFill>
                <a:latin typeface="Segoe UI"/>
                <a:ea typeface="Segoe UI"/>
                <a:cs typeface="Segoe UI"/>
              </a:defRPr>
            </a:defPPr>
          </a:lstStyle>
          <a:p xmlns:a="http://schemas.openxmlformats.org/drawingml/2006/main">
            <a:pPr>
              <a:defRPr sz="1800" b="1">
                <a:solidFill>
                  <a:srgbClr val="68B9E8"/>
                </a:solidFill>
                <a:latin typeface="Segoe UI"/>
                <a:ea typeface="Segoe UI"/>
                <a:cs typeface="Segoe UI"/>
              </a:defRPr>
            </a:pPr>
            <a:r>
              <a:rPr sz="1800" b="1">
                <a:solidFill>
                  <a:srgbClr val="68B9E8"/>
                </a:solidFill>
                <a:latin typeface="Segoe UI"/>
                <a:ea typeface="Segoe UI"/>
                <a:cs typeface="Segoe UI"/>
              </a:rPr>
              <a:t>SimpleRNN</a:t>
            </a:r>
          </a:p>
        </p:txBody>
      </p:sp>
      <p:sp>
        <p:nvSpPr>
          <p:cNvPr id="7" name="">
            <a:extLst xmlns:a="http://schemas.openxmlformats.org/drawingml/2006/main">
              <a:ext uri="{FF2B5EF4-FFF2-40B4-BE49-F238E27FC236}">
                <a16:creationId xmlns:a16="http://schemas.microsoft.com/office/drawing/2014/main" id="{31DC48B5-A21E-4503-BA0C-730A98856987}"/>
              </a:ext>
            </a:extLst>
          </p:cNvPr>
          <p:cNvSpPr>
            <a:spLocks xmlns:a="http://schemas.openxmlformats.org/drawingml/2006/main" noGrp="1"/>
          </p:cNvSpPr>
          <p:nvPr/>
        </p:nvSpPr>
        <p:spPr>
          <a:xfrm xmlns:a="http://schemas.openxmlformats.org/drawingml/2006/main">
            <a:off x="10096500" y="2647950"/>
            <a:ext cx="152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68B9E8"/>
                </a:solidFill>
                <a:latin typeface="Segoe UI"/>
                <a:ea typeface="Segoe UI"/>
                <a:cs typeface="Segoe UI"/>
              </a:defRPr>
            </a:defPPr>
          </a:lstStyle>
          <a:p xmlns:a="http://schemas.openxmlformats.org/drawingml/2006/main">
            <a:pPr>
              <a:defRPr sz="2925" b="1">
                <a:solidFill>
                  <a:srgbClr val="68B9E8"/>
                </a:solidFill>
                <a:latin typeface="Segoe UI"/>
                <a:ea typeface="Segoe UI"/>
                <a:cs typeface="Segoe UI"/>
              </a:defRPr>
            </a:pPr>
            <a:r>
              <a:rPr sz="2925" b="1">
                <a:solidFill>
                  <a:srgbClr val="68B9E8"/>
                </a:solidFill>
                <a:latin typeface="Segoe UI"/>
                <a:ea typeface="Segoe UI"/>
                <a:cs typeface="Segoe UI"/>
              </a:rPr>
              <a:t>4,48 s</a:t>
            </a:r>
          </a:p>
        </p:txBody>
      </p:sp>
      <p:sp>
        <p:nvSpPr>
          <p:cNvPr id="8" name="">
            <a:extLst xmlns:a="http://schemas.openxmlformats.org/drawingml/2006/main">
              <a:ext uri="{FF2B5EF4-FFF2-40B4-BE49-F238E27FC236}">
                <a16:creationId xmlns:a16="http://schemas.microsoft.com/office/drawing/2014/main" id="{E252BA4A-ED9F-4013-9DAC-9E8DEF783FC6}"/>
              </a:ext>
            </a:extLst>
          </p:cNvPr>
          <p:cNvSpPr>
            <a:spLocks xmlns:a="http://schemas.openxmlformats.org/drawingml/2006/main" noGrp="1"/>
          </p:cNvSpPr>
          <p:nvPr/>
        </p:nvSpPr>
        <p:spPr>
          <a:xfrm xmlns:a="http://schemas.openxmlformats.org/drawingml/2006/main">
            <a:off x="8143875" y="3667125"/>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EBA36D"/>
                </a:solidFill>
                <a:latin typeface="Segoe UI"/>
                <a:ea typeface="Segoe UI"/>
                <a:cs typeface="Segoe UI"/>
              </a:defRPr>
            </a:defPPr>
          </a:lstStyle>
          <a:p xmlns:a="http://schemas.openxmlformats.org/drawingml/2006/main">
            <a:pPr>
              <a:defRPr sz="1800" b="1">
                <a:solidFill>
                  <a:srgbClr val="EBA36D"/>
                </a:solidFill>
                <a:latin typeface="Segoe UI"/>
                <a:ea typeface="Segoe UI"/>
                <a:cs typeface="Segoe UI"/>
              </a:defRPr>
            </a:pPr>
            <a:r>
              <a:rPr sz="1800" b="1">
                <a:solidFill>
                  <a:srgbClr val="EBA36D"/>
                </a:solidFill>
                <a:latin typeface="Segoe UI"/>
                <a:ea typeface="Segoe UI"/>
                <a:cs typeface="Segoe UI"/>
              </a:rPr>
              <a:t>LSTM</a:t>
            </a:r>
          </a:p>
        </p:txBody>
      </p:sp>
      <p:sp>
        <p:nvSpPr>
          <p:cNvPr id="9" name="">
            <a:extLst xmlns:a="http://schemas.openxmlformats.org/drawingml/2006/main">
              <a:ext uri="{FF2B5EF4-FFF2-40B4-BE49-F238E27FC236}">
                <a16:creationId xmlns:a16="http://schemas.microsoft.com/office/drawing/2014/main" id="{FFC6885C-EA4D-4C6A-ABE8-30D178AE6A7B}"/>
              </a:ext>
            </a:extLst>
          </p:cNvPr>
          <p:cNvSpPr>
            <a:spLocks xmlns:a="http://schemas.openxmlformats.org/drawingml/2006/main" noGrp="1"/>
          </p:cNvSpPr>
          <p:nvPr/>
        </p:nvSpPr>
        <p:spPr>
          <a:xfrm xmlns:a="http://schemas.openxmlformats.org/drawingml/2006/main">
            <a:off x="10096500" y="3552825"/>
            <a:ext cx="152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EBA36D"/>
                </a:solidFill>
                <a:latin typeface="Segoe UI"/>
                <a:ea typeface="Segoe UI"/>
                <a:cs typeface="Segoe UI"/>
              </a:defRPr>
            </a:defPPr>
          </a:lstStyle>
          <a:p xmlns:a="http://schemas.openxmlformats.org/drawingml/2006/main">
            <a:pPr>
              <a:defRPr sz="2925" b="1">
                <a:solidFill>
                  <a:srgbClr val="EBA36D"/>
                </a:solidFill>
                <a:latin typeface="Segoe UI"/>
                <a:ea typeface="Segoe UI"/>
                <a:cs typeface="Segoe UI"/>
              </a:defRPr>
            </a:pPr>
            <a:r>
              <a:rPr sz="2925" b="1">
                <a:solidFill>
                  <a:srgbClr val="EBA36D"/>
                </a:solidFill>
                <a:latin typeface="Segoe UI"/>
                <a:ea typeface="Segoe UI"/>
                <a:cs typeface="Segoe UI"/>
              </a:rPr>
              <a:t>4,36 s</a:t>
            </a:r>
          </a:p>
        </p:txBody>
      </p:sp>
      <p:sp>
        <p:nvSpPr>
          <p:cNvPr id="10" name="">
            <a:extLst xmlns:a="http://schemas.openxmlformats.org/drawingml/2006/main">
              <a:ext uri="{FF2B5EF4-FFF2-40B4-BE49-F238E27FC236}">
                <a16:creationId xmlns:a16="http://schemas.microsoft.com/office/drawing/2014/main" id="{EC1D087E-EAA3-4344-8A8C-8756C1969FE6}"/>
              </a:ext>
            </a:extLst>
          </p:cNvPr>
          <p:cNvSpPr>
            <a:spLocks xmlns:a="http://schemas.openxmlformats.org/drawingml/2006/main" noGrp="1"/>
          </p:cNvSpPr>
          <p:nvPr/>
        </p:nvSpPr>
        <p:spPr>
          <a:xfrm xmlns:a="http://schemas.openxmlformats.org/drawingml/2006/main">
            <a:off x="8143875" y="45720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D0DF8E"/>
                </a:solidFill>
                <a:latin typeface="Segoe UI"/>
                <a:ea typeface="Segoe UI"/>
                <a:cs typeface="Segoe UI"/>
              </a:defRPr>
            </a:defPPr>
          </a:lstStyle>
          <a:p xmlns:a="http://schemas.openxmlformats.org/drawingml/2006/main">
            <a:pPr>
              <a:defRPr sz="1800" b="1">
                <a:solidFill>
                  <a:srgbClr val="D0DF8E"/>
                </a:solidFill>
                <a:latin typeface="Segoe UI"/>
                <a:ea typeface="Segoe UI"/>
                <a:cs typeface="Segoe UI"/>
              </a:defRPr>
            </a:pPr>
            <a:r>
              <a:rPr sz="1800" b="1">
                <a:solidFill>
                  <a:srgbClr val="D0DF8E"/>
                </a:solidFill>
                <a:latin typeface="Segoe UI"/>
                <a:ea typeface="Segoe UI"/>
                <a:cs typeface="Segoe UI"/>
              </a:rPr>
              <a:t>GRU</a:t>
            </a:r>
          </a:p>
        </p:txBody>
      </p:sp>
      <p:sp>
        <p:nvSpPr>
          <p:cNvPr id="11" name="">
            <a:extLst xmlns:a="http://schemas.openxmlformats.org/drawingml/2006/main">
              <a:ext uri="{FF2B5EF4-FFF2-40B4-BE49-F238E27FC236}">
                <a16:creationId xmlns:a16="http://schemas.microsoft.com/office/drawing/2014/main" id="{DBFBEEEB-6ED2-4489-95CA-F8D2BF0C30F3}"/>
              </a:ext>
            </a:extLst>
          </p:cNvPr>
          <p:cNvSpPr>
            <a:spLocks xmlns:a="http://schemas.openxmlformats.org/drawingml/2006/main" noGrp="1"/>
          </p:cNvSpPr>
          <p:nvPr/>
        </p:nvSpPr>
        <p:spPr>
          <a:xfrm xmlns:a="http://schemas.openxmlformats.org/drawingml/2006/main">
            <a:off x="10096500" y="4457700"/>
            <a:ext cx="152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D0DF8E"/>
                </a:solidFill>
                <a:latin typeface="Segoe UI"/>
                <a:ea typeface="Segoe UI"/>
                <a:cs typeface="Segoe UI"/>
              </a:defRPr>
            </a:defPPr>
          </a:lstStyle>
          <a:p xmlns:a="http://schemas.openxmlformats.org/drawingml/2006/main">
            <a:pPr>
              <a:defRPr sz="2925" b="1">
                <a:solidFill>
                  <a:srgbClr val="D0DF8E"/>
                </a:solidFill>
                <a:latin typeface="Segoe UI"/>
                <a:ea typeface="Segoe UI"/>
                <a:cs typeface="Segoe UI"/>
              </a:defRPr>
            </a:pPr>
            <a:r>
              <a:rPr sz="2925" b="1">
                <a:solidFill>
                  <a:srgbClr val="D0DF8E"/>
                </a:solidFill>
                <a:latin typeface="Segoe UI"/>
                <a:ea typeface="Segoe UI"/>
                <a:cs typeface="Segoe UI"/>
              </a:rPr>
              <a:t>3,98 s</a:t>
            </a:r>
          </a:p>
        </p:txBody>
      </p:sp>
      <p:sp>
        <p:nvSpPr>
          <p:cNvPr id="12" name="">
            <a:extLst xmlns:a="http://schemas.openxmlformats.org/drawingml/2006/main">
              <a:ext uri="{FF2B5EF4-FFF2-40B4-BE49-F238E27FC236}">
                <a16:creationId xmlns:a16="http://schemas.microsoft.com/office/drawing/2014/main" id="{1323E5CC-B337-4F1E-B33C-710070A8FD83}"/>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Médiane des époques 2 à 20. Le matériel, l’implémentation et le démarrage influencent les temps.</a:t>
            </a:r>
          </a:p>
        </p:txBody>
      </p:sp>
    </p:spTree>
    <p:extLst>
      <p:ext uri="{BB962C8B-B14F-4D97-AF65-F5344CB8AC3E}">
        <p14:creationId xmlns:p14="http://schemas.microsoft.com/office/powerpoint/2010/main" val="846922292"/>
      </p:ext>
    </p:extLst>
  </p:cSld>
</p:sld>
</file>

<file path=ppt/slides/slide21.xml><?xml version="1.0" encoding="utf-8"?>
<p:sld xmlns:p="http://schemas.openxmlformats.org/presentationml/2006/main">
  <p:cSld>
    <p:bg>
      <p:bgPr>
        <a:solidFill xmlns:a="http://schemas.openxmlformats.org/drawingml/2006/main">
          <a:srgbClr val="F4F2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514E4D-ED16-40D4-B1F5-B845062152D7}"/>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566775"/>
                </a:solidFill>
                <a:latin typeface="Segoe UI"/>
                <a:ea typeface="Segoe UI"/>
                <a:cs typeface="Segoe UI"/>
              </a:defRPr>
            </a:defPPr>
          </a:lstStyle>
          <a:p xmlns:a="http://schemas.openxmlformats.org/drawingml/2006/main">
            <a:pPr>
              <a:defRPr sz="1125" b="1">
                <a:solidFill>
                  <a:srgbClr val="566775"/>
                </a:solidFill>
                <a:latin typeface="Segoe UI"/>
                <a:ea typeface="Segoe UI"/>
                <a:cs typeface="Segoe UI"/>
              </a:defRPr>
            </a:pPr>
            <a:r>
              <a:rPr sz="1125" b="1">
                <a:solidFill>
                  <a:srgbClr val="566775"/>
                </a:solidFill>
                <a:latin typeface="Segoe UI"/>
                <a:ea typeface="Segoe UI"/>
                <a:cs typeface="Segoe UI"/>
              </a:rPr>
              <a:t>LIMITES</a:t>
            </a:r>
          </a:p>
        </p:txBody>
      </p:sp>
      <p:sp>
        <p:nvSpPr>
          <p:cNvPr id="2" name="">
            <a:extLst xmlns:a="http://schemas.openxmlformats.org/drawingml/2006/main">
              <a:ext uri="{FF2B5EF4-FFF2-40B4-BE49-F238E27FC236}">
                <a16:creationId xmlns:a16="http://schemas.microsoft.com/office/drawing/2014/main" id="{4DA49F05-FDDE-4C94-AF2C-804483EE9D99}"/>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5"/>
                </a:solidFill>
                <a:latin typeface="Segoe UI"/>
                <a:ea typeface="Segoe UI"/>
                <a:cs typeface="Segoe UI"/>
              </a:defRPr>
            </a:defPPr>
          </a:lstStyle>
          <a:p xmlns:a="http://schemas.openxmlformats.org/drawingml/2006/main">
            <a:pPr>
              <a:defRPr sz="1275" b="0">
                <a:solidFill>
                  <a:srgbClr val="566775"/>
                </a:solidFill>
                <a:latin typeface="Segoe UI"/>
                <a:ea typeface="Segoe UI"/>
                <a:cs typeface="Segoe UI"/>
              </a:defRPr>
            </a:pPr>
            <a:r>
              <a:rPr sz="1275" b="0">
                <a:solidFill>
                  <a:srgbClr val="566775"/>
                </a:solidFill>
                <a:latin typeface="Segoe UI"/>
                <a:ea typeface="Segoe UI"/>
                <a:cs typeface="Segoe UI"/>
              </a:rPr>
              <a:t>21</a:t>
            </a:r>
          </a:p>
        </p:txBody>
      </p:sp>
      <p:sp>
        <p:nvSpPr>
          <p:cNvPr id="3" name="">
            <a:extLst xmlns:a="http://schemas.openxmlformats.org/drawingml/2006/main">
              <a:ext uri="{FF2B5EF4-FFF2-40B4-BE49-F238E27FC236}">
                <a16:creationId xmlns:a16="http://schemas.microsoft.com/office/drawing/2014/main" id="{C241D906-CAB3-4292-AB8A-C7CFF1FB72B6}"/>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335"/>
                </a:solidFill>
                <a:latin typeface="Segoe UI"/>
                <a:ea typeface="Segoe UI"/>
                <a:cs typeface="Segoe UI"/>
              </a:defRPr>
            </a:defPPr>
          </a:lstStyle>
          <a:p xmlns:a="http://schemas.openxmlformats.org/drawingml/2006/main">
            <a:pPr>
              <a:defRPr sz="3450" b="1">
                <a:solidFill>
                  <a:srgbClr val="142335"/>
                </a:solidFill>
                <a:latin typeface="Segoe UI"/>
                <a:ea typeface="Segoe UI"/>
                <a:cs typeface="Segoe UI"/>
              </a:defRPr>
            </a:pPr>
            <a:r>
              <a:rPr sz="3450" b="1">
                <a:solidFill>
                  <a:srgbClr val="142335"/>
                </a:solidFill>
                <a:latin typeface="Segoe UI"/>
                <a:ea typeface="Segoe UI"/>
                <a:cs typeface="Segoe UI"/>
              </a:rPr>
              <a:t>Ce que cette expérience permet de conclure</a:t>
            </a:r>
          </a:p>
        </p:txBody>
      </p:sp>
      <p:sp>
        <p:nvSpPr>
          <p:cNvPr id="4" name="">
            <a:extLst xmlns:a="http://schemas.openxmlformats.org/drawingml/2006/main">
              <a:ext uri="{FF2B5EF4-FFF2-40B4-BE49-F238E27FC236}">
                <a16:creationId xmlns:a16="http://schemas.microsoft.com/office/drawing/2014/main" id="{8907AE65-A890-4CEC-8E89-05516F2AF3B3}"/>
              </a:ext>
            </a:extLst>
          </p:cNvPr>
          <p:cNvSpPr>
            <a:spLocks xmlns:a="http://schemas.openxmlformats.org/drawingml/2006/main" noGrp="1"/>
          </p:cNvSpPr>
          <p:nvPr/>
        </p:nvSpPr>
        <p:spPr>
          <a:xfrm xmlns:a="http://schemas.openxmlformats.org/drawingml/2006/main">
            <a:off x="571500" y="2238375"/>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42335"/>
                </a:solidFill>
                <a:latin typeface="Segoe UI"/>
                <a:ea typeface="Segoe UI"/>
                <a:cs typeface="Segoe UI"/>
              </a:defRPr>
            </a:defPPr>
          </a:lstStyle>
          <a:p xmlns:a="http://schemas.openxmlformats.org/drawingml/2006/main">
            <a:pPr>
              <a:defRPr sz="5700" b="1">
                <a:solidFill>
                  <a:srgbClr val="142335"/>
                </a:solidFill>
                <a:latin typeface="Segoe UI"/>
                <a:ea typeface="Segoe UI"/>
                <a:cs typeface="Segoe UI"/>
              </a:defRPr>
            </a:pPr>
            <a:r>
              <a:rPr sz="5700" b="1">
                <a:solidFill>
                  <a:srgbClr val="142335"/>
                </a:solidFill>
                <a:latin typeface="Segoe UI"/>
                <a:ea typeface="Segoe UI"/>
                <a:cs typeface="Segoe UI"/>
              </a:rPr>
              <a:t>Un cas</a:t>
            </a:r>
          </a:p>
          <a:p xmlns:a="http://schemas.openxmlformats.org/drawingml/2006/main">
            <a:pPr>
              <a:defRPr sz="5700" b="1">
                <a:solidFill>
                  <a:srgbClr val="142335"/>
                </a:solidFill>
                <a:latin typeface="Segoe UI"/>
                <a:ea typeface="Segoe UI"/>
                <a:cs typeface="Segoe UI"/>
              </a:defRPr>
            </a:pPr>
            <a:r>
              <a:rPr sz="5700" b="1">
                <a:solidFill>
                  <a:srgbClr val="142335"/>
                </a:solidFill>
                <a:latin typeface="Segoe UI"/>
                <a:ea typeface="Segoe UI"/>
                <a:cs typeface="Segoe UI"/>
              </a:rPr>
              <a:t>précis.</a:t>
            </a:r>
          </a:p>
        </p:txBody>
      </p:sp>
      <p:sp>
        <p:nvSpPr>
          <p:cNvPr id="5" name="">
            <a:extLst xmlns:a="http://schemas.openxmlformats.org/drawingml/2006/main">
              <a:ext uri="{FF2B5EF4-FFF2-40B4-BE49-F238E27FC236}">
                <a16:creationId xmlns:a16="http://schemas.microsoft.com/office/drawing/2014/main" id="{A2B178E4-E3CC-4B84-98B0-30A73A1550E9}"/>
              </a:ext>
            </a:extLst>
          </p:cNvPr>
          <p:cNvSpPr>
            <a:spLocks xmlns:a="http://schemas.openxmlformats.org/drawingml/2006/main" noGrp="1"/>
          </p:cNvSpPr>
          <p:nvPr/>
        </p:nvSpPr>
        <p:spPr>
          <a:xfrm xmlns:a="http://schemas.openxmlformats.org/drawingml/2006/main">
            <a:off x="5334000" y="21621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5"/>
                </a:solidFill>
                <a:latin typeface="Segoe UI"/>
                <a:ea typeface="Segoe UI"/>
                <a:cs typeface="Segoe UI"/>
              </a:defRPr>
            </a:defPPr>
          </a:lstStyle>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Une station et une seule variable.</a:t>
            </a:r>
          </a:p>
        </p:txBody>
      </p:sp>
      <p:sp>
        <p:nvSpPr>
          <p:cNvPr id="6" name="">
            <a:extLst xmlns:a="http://schemas.openxmlformats.org/drawingml/2006/main">
              <a:ext uri="{FF2B5EF4-FFF2-40B4-BE49-F238E27FC236}">
                <a16:creationId xmlns:a16="http://schemas.microsoft.com/office/drawing/2014/main" id="{460DE47D-CA58-412C-8219-F6A78F55F9E2}"/>
              </a:ext>
            </a:extLst>
          </p:cNvPr>
          <p:cNvSpPr>
            <a:spLocks xmlns:a="http://schemas.openxmlformats.org/drawingml/2006/main" noGrp="1"/>
          </p:cNvSpPr>
          <p:nvPr/>
        </p:nvSpPr>
        <p:spPr>
          <a:xfrm xmlns:a="http://schemas.openxmlformats.org/drawingml/2006/main">
            <a:off x="5334000" y="29718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5"/>
                </a:solidFill>
                <a:latin typeface="Segoe UI"/>
                <a:ea typeface="Segoe UI"/>
                <a:cs typeface="Segoe UI"/>
              </a:defRPr>
            </a:defPPr>
          </a:lstStyle>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Un horizon fixé à 24 heures.</a:t>
            </a:r>
          </a:p>
        </p:txBody>
      </p:sp>
      <p:sp>
        <p:nvSpPr>
          <p:cNvPr id="7" name="">
            <a:extLst xmlns:a="http://schemas.openxmlformats.org/drawingml/2006/main">
              <a:ext uri="{FF2B5EF4-FFF2-40B4-BE49-F238E27FC236}">
                <a16:creationId xmlns:a16="http://schemas.microsoft.com/office/drawing/2014/main" id="{E4A1227F-32A0-4DCE-8B73-918E1C5818B1}"/>
              </a:ext>
            </a:extLst>
          </p:cNvPr>
          <p:cNvSpPr>
            <a:spLocks xmlns:a="http://schemas.openxmlformats.org/drawingml/2006/main" noGrp="1"/>
          </p:cNvSpPr>
          <p:nvPr/>
        </p:nvSpPr>
        <p:spPr>
          <a:xfrm xmlns:a="http://schemas.openxmlformats.org/drawingml/2006/main">
            <a:off x="5334000" y="37814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5"/>
                </a:solidFill>
                <a:latin typeface="Segoe UI"/>
                <a:ea typeface="Segoe UI"/>
                <a:cs typeface="Segoe UI"/>
              </a:defRPr>
            </a:defPPr>
          </a:lstStyle>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Une graine, des fenêtres recouvrantes.</a:t>
            </a:r>
          </a:p>
        </p:txBody>
      </p:sp>
      <p:sp>
        <p:nvSpPr>
          <p:cNvPr id="8" name="">
            <a:extLst xmlns:a="http://schemas.openxmlformats.org/drawingml/2006/main">
              <a:ext uri="{FF2B5EF4-FFF2-40B4-BE49-F238E27FC236}">
                <a16:creationId xmlns:a16="http://schemas.microsoft.com/office/drawing/2014/main" id="{24946F8D-9AC0-41CF-8B4F-4DCC5B19EAF2}"/>
              </a:ext>
            </a:extLst>
          </p:cNvPr>
          <p:cNvSpPr>
            <a:spLocks xmlns:a="http://schemas.openxmlformats.org/drawingml/2006/main" noGrp="1"/>
          </p:cNvSpPr>
          <p:nvPr/>
        </p:nvSpPr>
        <p:spPr>
          <a:xfrm xmlns:a="http://schemas.openxmlformats.org/drawingml/2006/main">
            <a:off x="5334000" y="45910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5"/>
                </a:solidFill>
                <a:latin typeface="Segoe UI"/>
                <a:ea typeface="Segoe UI"/>
                <a:cs typeface="Segoe UI"/>
              </a:defRPr>
            </a:defPPr>
          </a:lstStyle>
          <a:p xmlns:a="http://schemas.openxmlformats.org/drawingml/2006/main">
            <a:pPr>
              <a:defRPr sz="2175" b="0">
                <a:solidFill>
                  <a:srgbClr val="142335"/>
                </a:solidFill>
                <a:latin typeface="Segoe UI"/>
                <a:ea typeface="Segoe UI"/>
                <a:cs typeface="Segoe UI"/>
              </a:defRPr>
            </a:pPr>
            <a:r>
              <a:rPr sz="2175" b="0">
                <a:solidFill>
                  <a:srgbClr val="142335"/>
                </a:solidFill>
                <a:latin typeface="Segoe UI"/>
                <a:ea typeface="Segoe UI"/>
                <a:cs typeface="Segoe UI"/>
              </a:rPr>
              <a:t>Pas d’optimisation propre à chaque modèle.</a:t>
            </a:r>
          </a:p>
        </p:txBody>
      </p:sp>
      <p:sp>
        <p:nvSpPr>
          <p:cNvPr id="9" name="">
            <a:extLst xmlns:a="http://schemas.openxmlformats.org/drawingml/2006/main">
              <a:ext uri="{FF2B5EF4-FFF2-40B4-BE49-F238E27FC236}">
                <a16:creationId xmlns:a16="http://schemas.microsoft.com/office/drawing/2014/main" id="{DF55AE69-CB7D-4EDA-BFC1-EDD3C56EA57D}"/>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66775"/>
                </a:solidFill>
                <a:latin typeface="Segoe UI"/>
                <a:ea typeface="Segoe UI"/>
                <a:cs typeface="Segoe UI"/>
              </a:defRPr>
            </a:defPPr>
          </a:lstStyle>
          <a:p xmlns:a="http://schemas.openxmlformats.org/drawingml/2006/main">
            <a:pPr>
              <a:defRPr sz="1575" b="0">
                <a:solidFill>
                  <a:srgbClr val="566775"/>
                </a:solidFill>
                <a:latin typeface="Segoe UI"/>
                <a:ea typeface="Segoe UI"/>
                <a:cs typeface="Segoe UI"/>
              </a:defRPr>
            </a:pPr>
            <a:r>
              <a:rPr sz="1575" b="0">
                <a:solidFill>
                  <a:srgbClr val="566775"/>
                </a:solidFill>
                <a:latin typeface="Segoe UI"/>
                <a:ea typeface="Segoe UI"/>
                <a:cs typeface="Segoe UI"/>
              </a:rPr>
              <a:t>Une nouvelle optimisation demande une nouvelle période de test réservée.</a:t>
            </a:r>
          </a:p>
        </p:txBody>
      </p:sp>
    </p:spTree>
    <p:extLst>
      <p:ext uri="{BB962C8B-B14F-4D97-AF65-F5344CB8AC3E}">
        <p14:creationId xmlns:p14="http://schemas.microsoft.com/office/powerpoint/2010/main" val="949718203"/>
      </p:ext>
    </p:extLst>
  </p:cSld>
</p:sld>
</file>

<file path=ppt/slides/slide22.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478C51-412E-4EA9-BC45-D690944F8FAA}"/>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CONCLUSION</a:t>
            </a:r>
          </a:p>
        </p:txBody>
      </p:sp>
      <p:sp>
        <p:nvSpPr>
          <p:cNvPr id="2" name="">
            <a:extLst xmlns:a="http://schemas.openxmlformats.org/drawingml/2006/main">
              <a:ext uri="{FF2B5EF4-FFF2-40B4-BE49-F238E27FC236}">
                <a16:creationId xmlns:a16="http://schemas.microsoft.com/office/drawing/2014/main" id="{F16003FA-E57A-43BC-ABF4-301628D0E0D6}"/>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22</a:t>
            </a:r>
          </a:p>
        </p:txBody>
      </p:sp>
      <p:sp>
        <p:nvSpPr>
          <p:cNvPr id="3" name="">
            <a:extLst xmlns:a="http://schemas.openxmlformats.org/drawingml/2006/main">
              <a:ext uri="{FF2B5EF4-FFF2-40B4-BE49-F238E27FC236}">
                <a16:creationId xmlns:a16="http://schemas.microsoft.com/office/drawing/2014/main" id="{091AE058-03A2-4E16-8F08-0C5983EF8AA4}"/>
              </a:ext>
            </a:extLst>
          </p:cNvPr>
          <p:cNvSpPr>
            <a:spLocks xmlns:a="http://schemas.openxmlformats.org/drawingml/2006/main" noGrp="1"/>
          </p:cNvSpPr>
          <p:nvPr/>
        </p:nvSpPr>
        <p:spPr>
          <a:xfrm xmlns:a="http://schemas.openxmlformats.org/drawingml/2006/main">
            <a:off x="571500" y="1285875"/>
            <a:ext cx="1057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3F5F3"/>
                </a:solidFill>
                <a:latin typeface="Segoe UI"/>
                <a:ea typeface="Segoe UI"/>
                <a:cs typeface="Segoe UI"/>
              </a:defRPr>
            </a:defPPr>
          </a:lstStyle>
          <a:p xmlns:a="http://schemas.openxmlformats.org/drawingml/2006/main">
            <a:pPr>
              <a:defRPr sz="5850" b="1">
                <a:solidFill>
                  <a:srgbClr val="F3F5F3"/>
                </a:solidFill>
                <a:latin typeface="Segoe UI"/>
                <a:ea typeface="Segoe UI"/>
                <a:cs typeface="Segoe UI"/>
              </a:defRPr>
            </a:pPr>
            <a:r>
              <a:rPr sz="5850" b="1">
                <a:solidFill>
                  <a:srgbClr val="F3F5F3"/>
                </a:solidFill>
                <a:latin typeface="Segoe UI"/>
                <a:ea typeface="Segoe UI"/>
                <a:cs typeface="Segoe UI"/>
              </a:rPr>
              <a:t>Plus complexe</a:t>
            </a:r>
          </a:p>
          <a:p xmlns:a="http://schemas.openxmlformats.org/drawingml/2006/main">
            <a:pPr>
              <a:defRPr sz="5850" b="1">
                <a:solidFill>
                  <a:srgbClr val="F3F5F3"/>
                </a:solidFill>
                <a:latin typeface="Segoe UI"/>
                <a:ea typeface="Segoe UI"/>
                <a:cs typeface="Segoe UI"/>
              </a:defRPr>
            </a:pPr>
            <a:r>
              <a:rPr sz="5850" b="1">
                <a:solidFill>
                  <a:srgbClr val="F3F5F3"/>
                </a:solidFill>
                <a:latin typeface="Segoe UI"/>
                <a:ea typeface="Segoe UI"/>
                <a:cs typeface="Segoe UI"/>
              </a:rPr>
              <a:t>ne suffit pas.</a:t>
            </a:r>
          </a:p>
        </p:txBody>
      </p:sp>
      <p:sp>
        <p:nvSpPr>
          <p:cNvPr id="4" name="">
            <a:extLst xmlns:a="http://schemas.openxmlformats.org/drawingml/2006/main">
              <a:ext uri="{FF2B5EF4-FFF2-40B4-BE49-F238E27FC236}">
                <a16:creationId xmlns:a16="http://schemas.microsoft.com/office/drawing/2014/main" id="{A9333A9F-C3CE-4348-AF67-8F171898112C}"/>
              </a:ext>
            </a:extLst>
          </p:cNvPr>
          <p:cNvSpPr>
            <a:spLocks xmlns:a="http://schemas.openxmlformats.org/drawingml/2006/main" noGrp="1"/>
          </p:cNvSpPr>
          <p:nvPr/>
        </p:nvSpPr>
        <p:spPr>
          <a:xfrm xmlns:a="http://schemas.openxmlformats.org/drawingml/2006/main">
            <a:off x="619125" y="35814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D0DF8E"/>
                </a:solidFill>
                <a:latin typeface="Segoe UI"/>
                <a:ea typeface="Segoe UI"/>
                <a:cs typeface="Segoe UI"/>
              </a:defRPr>
            </a:defPPr>
          </a:lstStyle>
          <a:p xmlns:a="http://schemas.openxmlformats.org/drawingml/2006/main">
            <a:pPr>
              <a:defRPr sz="3000" b="1">
                <a:solidFill>
                  <a:srgbClr val="D0DF8E"/>
                </a:solidFill>
                <a:latin typeface="Segoe UI"/>
                <a:ea typeface="Segoe UI"/>
                <a:cs typeface="Segoe UI"/>
              </a:defRPr>
            </a:pPr>
            <a:r>
              <a:rPr sz="3000" b="1">
                <a:solidFill>
                  <a:srgbClr val="D0DF8E"/>
                </a:solidFill>
                <a:latin typeface="Segoe UI"/>
                <a:ea typeface="Segoe UI"/>
                <a:cs typeface="Segoe UI"/>
              </a:rPr>
              <a:t>La référence simple reste indispensable.</a:t>
            </a:r>
          </a:p>
        </p:txBody>
      </p:sp>
      <p:sp>
        <p:nvSpPr>
          <p:cNvPr id="5" name="">
            <a:extLst xmlns:a="http://schemas.openxmlformats.org/drawingml/2006/main">
              <a:ext uri="{FF2B5EF4-FFF2-40B4-BE49-F238E27FC236}">
                <a16:creationId xmlns:a16="http://schemas.microsoft.com/office/drawing/2014/main" id="{1C1609B2-F6F6-4685-A644-79085E35FD9B}"/>
              </a:ext>
            </a:extLst>
          </p:cNvPr>
          <p:cNvSpPr>
            <a:spLocks xmlns:a="http://schemas.openxmlformats.org/drawingml/2006/main" noGrp="1"/>
          </p:cNvSpPr>
          <p:nvPr/>
        </p:nvSpPr>
        <p:spPr>
          <a:xfrm xmlns:a="http://schemas.openxmlformats.org/drawingml/2006/main">
            <a:off x="619125" y="4810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3F5F3"/>
                </a:solidFill>
                <a:latin typeface="Segoe UI"/>
                <a:ea typeface="Segoe UI"/>
                <a:cs typeface="Segoe UI"/>
              </a:defRPr>
            </a:defPPr>
          </a:lstStyle>
          <a:p xmlns:a="http://schemas.openxmlformats.org/drawingml/2006/main">
            <a:pPr>
              <a:defRPr sz="2175" b="0">
                <a:solidFill>
                  <a:srgbClr val="F3F5F3"/>
                </a:solidFill>
                <a:latin typeface="Segoe UI"/>
                <a:ea typeface="Segoe UI"/>
                <a:cs typeface="Segoe UI"/>
              </a:defRPr>
            </a:pPr>
            <a:r>
              <a:rPr sz="2175" b="0">
                <a:solidFill>
                  <a:srgbClr val="F3F5F3"/>
                </a:solidFill>
                <a:latin typeface="Segoe UI"/>
                <a:ea typeface="Segoe UI"/>
                <a:cs typeface="Segoe UI"/>
              </a:rPr>
              <a:t>Sur Jena, LSTM et GRU améliorent légèrement la MAE.</a:t>
            </a:r>
          </a:p>
          <a:p xmlns:a="http://schemas.openxmlformats.org/drawingml/2006/main">
            <a:pPr>
              <a:defRPr sz="2175" b="0">
                <a:solidFill>
                  <a:srgbClr val="F3F5F3"/>
                </a:solidFill>
                <a:latin typeface="Segoe UI"/>
                <a:ea typeface="Segoe UI"/>
                <a:cs typeface="Segoe UI"/>
              </a:defRPr>
            </a:pPr>
            <a:r>
              <a:rPr sz="2175" b="0">
                <a:solidFill>
                  <a:srgbClr val="F3F5F3"/>
                </a:solidFill>
                <a:latin typeface="Segoe UI"/>
                <a:ea typeface="Segoe UI"/>
                <a:cs typeface="Segoe UI"/>
              </a:rPr>
              <a:t>GRU obtient le meilleur compromis observé dans cette session.</a:t>
            </a:r>
          </a:p>
        </p:txBody>
      </p:sp>
    </p:spTree>
    <p:extLst>
      <p:ext uri="{BB962C8B-B14F-4D97-AF65-F5344CB8AC3E}">
        <p14:creationId xmlns:p14="http://schemas.microsoft.com/office/powerpoint/2010/main" val="2074190561"/>
      </p:ext>
    </p:extLst>
  </p:cSld>
</p:sld>
</file>

<file path=ppt/slides/slide23.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C4366A-8B34-4FEF-82EB-DC21FAEC746B}"/>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QUESTIONS</a:t>
            </a:r>
          </a:p>
        </p:txBody>
      </p:sp>
      <p:sp>
        <p:nvSpPr>
          <p:cNvPr id="2" name="">
            <a:extLst xmlns:a="http://schemas.openxmlformats.org/drawingml/2006/main">
              <a:ext uri="{FF2B5EF4-FFF2-40B4-BE49-F238E27FC236}">
                <a16:creationId xmlns:a16="http://schemas.microsoft.com/office/drawing/2014/main" id="{0C4F96DA-2BD5-420C-AC36-2A985CDC1BE1}"/>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23</a:t>
            </a:r>
          </a:p>
        </p:txBody>
      </p:sp>
      <p:pic>
        <p:nvPicPr>
          <p:cNvPr id="3" name="">
            <a:extLst xmlns:a="http://schemas.openxmlformats.org/drawingml/2006/main">
              <a:ext uri="{FF2B5EF4-FFF2-40B4-BE49-F238E27FC236}">
                <a16:creationId xmlns:a16="http://schemas.microsoft.com/office/drawing/2014/main" id="{04C682B2-806B-4775-B158-26119C129C9F}"/>
              </a:ext>
            </a:extLst>
          </p:cNvPr>
          <p:cNvPicPr>
            <a:picLocks xmlns:a="http://schemas.openxmlformats.org/drawingml/2006/main" noChangeAspect="1"/>
          </p:cNvPicPr>
          <p:nvPr/>
        </p:nvPicPr>
        <p:blipFill>
          <a:blip xmlns:r="http://schemas.openxmlformats.org/officeDocument/2006/relationships" xmlns:a="http://schemas.openxmlformats.org/drawingml/2006/main" r:embed="R05ba03fcf96844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6787CD-48E2-4E11-81EB-ABB07373C1FE}"/>
              </a:ext>
            </a:extLst>
          </p:cNvPr>
          <p:cNvSpPr>
            <a:spLocks xmlns:a="http://schemas.openxmlformats.org/drawingml/2006/main" noGrp="1"/>
          </p:cNvSpPr>
          <p:nvPr/>
        </p:nvSpPr>
        <p:spPr>
          <a:xfrm xmlns:a="http://schemas.openxmlformats.org/drawingml/2006/main">
            <a:off x="590550" y="4286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9EAFBF"/>
                </a:solidFill>
                <a:latin typeface="Segoe UI"/>
                <a:ea typeface="Segoe UI"/>
                <a:cs typeface="Segoe UI"/>
              </a:defRPr>
            </a:defPPr>
          </a:lstStyle>
          <a:p xmlns:a="http://schemas.openxmlformats.org/drawingml/2006/main">
            <a:pPr>
              <a:defRPr sz="1350" b="1">
                <a:solidFill>
                  <a:srgbClr val="9EAFBF"/>
                </a:solidFill>
                <a:latin typeface="Segoe UI"/>
                <a:ea typeface="Segoe UI"/>
                <a:cs typeface="Segoe UI"/>
              </a:defRPr>
            </a:pPr>
            <a:r>
              <a:rPr sz="1350" b="1">
                <a:solidFill>
                  <a:srgbClr val="9EAFBF"/>
                </a:solidFill>
                <a:latin typeface="Segoe UI"/>
                <a:ea typeface="Segoe UI"/>
                <a:cs typeface="Segoe UI"/>
              </a:rPr>
              <a:t>QUESTIONS</a:t>
            </a:r>
          </a:p>
        </p:txBody>
      </p:sp>
      <p:sp>
        <p:nvSpPr>
          <p:cNvPr id="5" name="">
            <a:extLst xmlns:a="http://schemas.openxmlformats.org/drawingml/2006/main">
              <a:ext uri="{FF2B5EF4-FFF2-40B4-BE49-F238E27FC236}">
                <a16:creationId xmlns:a16="http://schemas.microsoft.com/office/drawing/2014/main" id="{830DC1C9-3708-4F77-9A12-729C56CF90D2}"/>
              </a:ext>
            </a:extLst>
          </p:cNvPr>
          <p:cNvSpPr>
            <a:spLocks xmlns:a="http://schemas.openxmlformats.org/drawingml/2006/main" noGrp="1"/>
          </p:cNvSpPr>
          <p:nvPr/>
        </p:nvSpPr>
        <p:spPr>
          <a:xfrm xmlns:a="http://schemas.openxmlformats.org/drawingml/2006/main">
            <a:off x="571500" y="1809750"/>
            <a:ext cx="952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3F5F3"/>
                </a:solidFill>
                <a:latin typeface="Segoe UI"/>
                <a:ea typeface="Segoe UI"/>
                <a:cs typeface="Segoe UI"/>
              </a:defRPr>
            </a:defPPr>
          </a:lstStyle>
          <a:p xmlns:a="http://schemas.openxmlformats.org/drawingml/2006/main">
            <a:pPr>
              <a:defRPr sz="5700" b="1">
                <a:solidFill>
                  <a:srgbClr val="F3F5F3"/>
                </a:solidFill>
                <a:latin typeface="Segoe UI"/>
                <a:ea typeface="Segoe UI"/>
                <a:cs typeface="Segoe UI"/>
              </a:defRPr>
            </a:pPr>
            <a:r>
              <a:rPr sz="5700" b="1">
                <a:solidFill>
                  <a:srgbClr val="F3F5F3"/>
                </a:solidFill>
                <a:latin typeface="Segoe UI"/>
                <a:ea typeface="Segoe UI"/>
                <a:cs typeface="Segoe UI"/>
              </a:rPr>
              <a:t>Quel gain justifie</a:t>
            </a:r>
          </a:p>
          <a:p xmlns:a="http://schemas.openxmlformats.org/drawingml/2006/main">
            <a:pPr>
              <a:defRPr sz="5700" b="1">
                <a:solidFill>
                  <a:srgbClr val="F3F5F3"/>
                </a:solidFill>
                <a:latin typeface="Segoe UI"/>
                <a:ea typeface="Segoe UI"/>
                <a:cs typeface="Segoe UI"/>
              </a:defRPr>
            </a:pPr>
            <a:r>
              <a:rPr sz="5700" b="1">
                <a:solidFill>
                  <a:srgbClr val="F3F5F3"/>
                </a:solidFill>
                <a:latin typeface="Segoe UI"/>
                <a:ea typeface="Segoe UI"/>
                <a:cs typeface="Segoe UI"/>
              </a:rPr>
              <a:t>la complexité ?</a:t>
            </a:r>
          </a:p>
        </p:txBody>
      </p:sp>
      <p:sp>
        <p:nvSpPr>
          <p:cNvPr id="6" name="">
            <a:extLst xmlns:a="http://schemas.openxmlformats.org/drawingml/2006/main">
              <a:ext uri="{FF2B5EF4-FFF2-40B4-BE49-F238E27FC236}">
                <a16:creationId xmlns:a16="http://schemas.microsoft.com/office/drawing/2014/main" id="{8BA90F58-A790-4501-807F-BEB02A4E303C}"/>
              </a:ext>
            </a:extLst>
          </p:cNvPr>
          <p:cNvSpPr>
            <a:spLocks xmlns:a="http://schemas.openxmlformats.org/drawingml/2006/main" noGrp="1"/>
          </p:cNvSpPr>
          <p:nvPr/>
        </p:nvSpPr>
        <p:spPr>
          <a:xfrm xmlns:a="http://schemas.openxmlformats.org/drawingml/2006/main">
            <a:off x="609600" y="49530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D0DF8E"/>
                </a:solidFill>
                <a:latin typeface="Segoe UI"/>
                <a:ea typeface="Segoe UI"/>
                <a:cs typeface="Segoe UI"/>
              </a:defRPr>
            </a:defPPr>
          </a:lstStyle>
          <a:p xmlns:a="http://schemas.openxmlformats.org/drawingml/2006/main">
            <a:pPr>
              <a:defRPr sz="2325" b="1">
                <a:solidFill>
                  <a:srgbClr val="D0DF8E"/>
                </a:solidFill>
                <a:latin typeface="Segoe UI"/>
                <a:ea typeface="Segoe UI"/>
                <a:cs typeface="Segoe UI"/>
              </a:defRPr>
            </a:pPr>
            <a:r>
              <a:rPr sz="2325" b="1">
                <a:solidFill>
                  <a:srgbClr val="D0DF8E"/>
                </a:solidFill>
                <a:latin typeface="Segoe UI"/>
                <a:ea typeface="Segoe UI"/>
                <a:cs typeface="Segoe UI"/>
              </a:rPr>
              <a:t>Données. Horizon. Référence. Coût.</a:t>
            </a:r>
          </a:p>
        </p:txBody>
      </p:sp>
    </p:spTree>
    <p:extLst>
      <p:ext uri="{BB962C8B-B14F-4D97-AF65-F5344CB8AC3E}">
        <p14:creationId xmlns:p14="http://schemas.microsoft.com/office/powerpoint/2010/main" val="1890037606"/>
      </p:ext>
    </p:extLst>
  </p:cSld>
</p:sld>
</file>

<file path=ppt/slides/slide24.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7AC73A-9A0C-4528-8340-E6376F092FD8}"/>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ANNEXE TECHNIQUE</a:t>
            </a:r>
          </a:p>
        </p:txBody>
      </p:sp>
      <p:sp>
        <p:nvSpPr>
          <p:cNvPr id="2" name="">
            <a:extLst xmlns:a="http://schemas.openxmlformats.org/drawingml/2006/main">
              <a:ext uri="{FF2B5EF4-FFF2-40B4-BE49-F238E27FC236}">
                <a16:creationId xmlns:a16="http://schemas.microsoft.com/office/drawing/2014/main" id="{A4618A5B-EC0E-4263-9687-458AD220D920}"/>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24</a:t>
            </a:r>
          </a:p>
        </p:txBody>
      </p:sp>
      <p:sp>
        <p:nvSpPr>
          <p:cNvPr id="3" name="">
            <a:extLst xmlns:a="http://schemas.openxmlformats.org/drawingml/2006/main">
              <a:ext uri="{FF2B5EF4-FFF2-40B4-BE49-F238E27FC236}">
                <a16:creationId xmlns:a16="http://schemas.microsoft.com/office/drawing/2014/main" id="{C9A1F917-7A04-40EB-BBB6-990293D16ECE}"/>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D’où viennent les paramètres ?</a:t>
            </a:r>
          </a:p>
        </p:txBody>
      </p:sp>
      <p:graphicFrame>
        <p:nvGraphicFramePr>
          <p:cNvPr id="4" name="">
            <a:extLst xmlns:a="http://schemas.openxmlformats.org/drawingml/2006/main">
              <a:ext uri="{FF2B5EF4-FFF2-40B4-BE49-F238E27FC236}">
                <a16:creationId xmlns:a16="http://schemas.microsoft.com/office/drawing/2014/main" id="{CE9A3EB8-34E4-47EA-8B51-0E99CE1FDCE2}"/>
              </a:ext>
            </a:extLst>
          </p:cNvPr>
          <p:cNvGraphicFramePr/>
          <p:nvPr/>
        </p:nvGraphicFramePr>
        <p:xfrm>
          <a:off xmlns:a="http://schemas.openxmlformats.org/drawingml/2006/main" x="571500" y="1952625"/>
          <a:ext xmlns:a="http://schemas.openxmlformats.org/drawingml/2006/main" cx="11049000" cy="2905125"/>
        </p:xfrm>
        <a:graphic xmlns:a="http://schemas.openxmlformats.org/drawingml/2006/main">
          <a:graphicData uri="http://schemas.openxmlformats.org/drawingml/2006/table">
            <a:tbl>
              <a:tblPr/>
              <a:tblGrid>
                <a:gridCol w="3524250"/>
                <a:gridCol w="4476750"/>
                <a:gridCol w="3048000"/>
              </a:tblGrid>
              <a:tr h="726281">
                <a:tc>
                  <a:txBody>
                    <a:bodyPr lIns="123825" tIns="123825" rIns="123825" bIns="123825"/>
                    <a:lstStyle/>
                    <a:p>
                      <a:r>
                        <a:rPr sz="2100" b="1">
                          <a:solidFill>
                            <a:srgbClr val="F3F5F3"/>
                          </a:solidFill>
                          <a:latin typeface="Segoe UI"/>
                          <a:ea typeface="Segoe UI"/>
                          <a:cs typeface="Segoe UI"/>
                        </a:rPr>
                        <a:t>Couche</a:t>
                      </a:r>
                    </a:p>
                  </a:txBody>
                  <a:tcPr marL="91440" marR="91440" marT="45720" marB="45720" anchor="ctr">
                    <a:lnL w="6668">
                      <a:solidFill>
                        <a:srgbClr val="304151"/>
                      </a:solidFill>
                    </a:lnL>
                    <a:lnR w="6668">
                      <a:solidFill>
                        <a:srgbClr val="304151"/>
                      </a:solidFill>
                    </a:lnR>
                    <a:lnT w="6668">
                      <a:solidFill>
                        <a:srgbClr val="304151"/>
                      </a:solidFill>
                    </a:lnT>
                    <a:lnB w="6668">
                      <a:solidFill>
                        <a:srgbClr val="304151"/>
                      </a:solidFill>
                    </a:lnB>
                    <a:solidFill>
                      <a:srgbClr val="142335"/>
                    </a:solidFill>
                  </a:tcPr>
                </a:tc>
                <a:tc>
                  <a:txBody>
                    <a:bodyPr lIns="123825" tIns="123825" rIns="123825" bIns="123825"/>
                    <a:lstStyle/>
                    <a:p>
                      <a:r>
                        <a:rPr sz="2100" b="1">
                          <a:solidFill>
                            <a:srgbClr val="F3F5F3"/>
                          </a:solidFill>
                          <a:latin typeface="Segoe UI"/>
                          <a:ea typeface="Segoe UI"/>
                          <a:cs typeface="Segoe UI"/>
                        </a:rPr>
                        <a:t>Calcul récurrent</a:t>
                      </a:r>
                    </a:p>
                  </a:txBody>
                  <a:tcPr marL="91440" marR="91440" marT="45720" marB="45720" anchor="ctr">
                    <a:lnR w="6668">
                      <a:solidFill>
                        <a:srgbClr val="304151"/>
                      </a:solidFill>
                    </a:lnR>
                    <a:lnT w="6668">
                      <a:solidFill>
                        <a:srgbClr val="304151"/>
                      </a:solidFill>
                    </a:lnT>
                    <a:lnB w="6668">
                      <a:solidFill>
                        <a:srgbClr val="304151"/>
                      </a:solidFill>
                    </a:lnB>
                    <a:solidFill>
                      <a:srgbClr val="142335"/>
                    </a:solidFill>
                  </a:tcPr>
                </a:tc>
                <a:tc>
                  <a:txBody>
                    <a:bodyPr lIns="123825" tIns="123825" rIns="123825" bIns="123825"/>
                    <a:lstStyle/>
                    <a:p>
                      <a:r>
                        <a:rPr sz="2100" b="1">
                          <a:solidFill>
                            <a:srgbClr val="F3F5F3"/>
                          </a:solidFill>
                          <a:latin typeface="Segoe UI"/>
                          <a:ea typeface="Segoe UI"/>
                          <a:cs typeface="Segoe UI"/>
                        </a:rPr>
                        <a:t>Avec Dense(1)</a:t>
                      </a:r>
                    </a:p>
                  </a:txBody>
                  <a:tcPr marL="91440" marR="91440" marT="45720" marB="45720" anchor="ctr">
                    <a:lnR w="6668">
                      <a:solidFill>
                        <a:srgbClr val="304151"/>
                      </a:solidFill>
                    </a:lnR>
                    <a:lnT w="6668">
                      <a:solidFill>
                        <a:srgbClr val="304151"/>
                      </a:solidFill>
                    </a:lnT>
                    <a:lnB w="6668">
                      <a:solidFill>
                        <a:srgbClr val="304151"/>
                      </a:solidFill>
                    </a:lnB>
                    <a:solidFill>
                      <a:srgbClr val="142335"/>
                    </a:solidFill>
                  </a:tcPr>
                </a:tc>
              </a:tr>
              <a:tr h="726281">
                <a:tc>
                  <a:txBody>
                    <a:bodyPr lIns="123825" tIns="123825" rIns="123825" bIns="123825"/>
                    <a:lstStyle/>
                    <a:p>
                      <a:r>
                        <a:rPr sz="2100" b="0">
                          <a:solidFill>
                            <a:srgbClr val="F3F5F3"/>
                          </a:solidFill>
                          <a:latin typeface="Segoe UI"/>
                          <a:ea typeface="Segoe UI"/>
                          <a:cs typeface="Segoe UI"/>
                        </a:rPr>
                        <a:t>SimpleRNN</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00" b="0">
                          <a:solidFill>
                            <a:srgbClr val="F3F5F3"/>
                          </a:solidFill>
                          <a:latin typeface="Segoe UI"/>
                          <a:ea typeface="Segoe UI"/>
                          <a:cs typeface="Segoe UI"/>
                        </a:rPr>
                        <a:t>u(d + u + 1)</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00" b="0">
                          <a:solidFill>
                            <a:srgbClr val="F3F5F3"/>
                          </a:solidFill>
                          <a:latin typeface="Segoe UI"/>
                          <a:ea typeface="Segoe UI"/>
                          <a:cs typeface="Segoe UI"/>
                        </a:rPr>
                        <a:t>1 121</a:t>
                      </a:r>
                    </a:p>
                  </a:txBody>
                  <a:tcPr marL="91440" marR="91440" marT="45720" marB="45720" anchor="ctr">
                    <a:lnR w="6668">
                      <a:solidFill>
                        <a:srgbClr val="304151"/>
                      </a:solidFill>
                    </a:lnR>
                    <a:lnB w="6668">
                      <a:solidFill>
                        <a:srgbClr val="304151"/>
                      </a:solidFill>
                    </a:lnB>
                    <a:solidFill>
                      <a:srgbClr val="0B1522"/>
                    </a:solidFill>
                  </a:tcPr>
                </a:tc>
              </a:tr>
              <a:tr h="726281">
                <a:tc>
                  <a:txBody>
                    <a:bodyPr lIns="123825" tIns="123825" rIns="123825" bIns="123825"/>
                    <a:lstStyle/>
                    <a:p>
                      <a:r>
                        <a:rPr sz="2100" b="0">
                          <a:solidFill>
                            <a:srgbClr val="F3F5F3"/>
                          </a:solidFill>
                          <a:latin typeface="Segoe UI"/>
                          <a:ea typeface="Segoe UI"/>
                          <a:cs typeface="Segoe UI"/>
                        </a:rPr>
                        <a:t>LSTM</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00" b="0">
                          <a:solidFill>
                            <a:srgbClr val="F3F5F3"/>
                          </a:solidFill>
                          <a:latin typeface="Segoe UI"/>
                          <a:ea typeface="Segoe UI"/>
                          <a:cs typeface="Segoe UI"/>
                        </a:rPr>
                        <a:t>4u(d + u + 1)</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00" b="0">
                          <a:solidFill>
                            <a:srgbClr val="F3F5F3"/>
                          </a:solidFill>
                          <a:latin typeface="Segoe UI"/>
                          <a:ea typeface="Segoe UI"/>
                          <a:cs typeface="Segoe UI"/>
                        </a:rPr>
                        <a:t>4 385</a:t>
                      </a:r>
                    </a:p>
                  </a:txBody>
                  <a:tcPr marL="91440" marR="91440" marT="45720" marB="45720" anchor="ctr">
                    <a:lnR w="6668">
                      <a:solidFill>
                        <a:srgbClr val="304151"/>
                      </a:solidFill>
                    </a:lnR>
                    <a:lnB w="6668">
                      <a:solidFill>
                        <a:srgbClr val="304151"/>
                      </a:solidFill>
                    </a:lnB>
                    <a:solidFill>
                      <a:srgbClr val="0B1522"/>
                    </a:solidFill>
                  </a:tcPr>
                </a:tc>
              </a:tr>
              <a:tr h="726281">
                <a:tc>
                  <a:txBody>
                    <a:bodyPr lIns="123825" tIns="123825" rIns="123825" bIns="123825"/>
                    <a:lstStyle/>
                    <a:p>
                      <a:r>
                        <a:rPr sz="2100" b="0">
                          <a:solidFill>
                            <a:srgbClr val="F3F5F3"/>
                          </a:solidFill>
                          <a:latin typeface="Segoe UI"/>
                          <a:ea typeface="Segoe UI"/>
                          <a:cs typeface="Segoe UI"/>
                        </a:rPr>
                        <a:t>GRU</a:t>
                      </a:r>
                    </a:p>
                  </a:txBody>
                  <a:tcPr marL="91440" marR="91440" marT="45720" marB="45720" anchor="ctr">
                    <a:lnL w="6668">
                      <a:solidFill>
                        <a:srgbClr val="304151"/>
                      </a:solidFill>
                    </a:lnL>
                    <a:lnR w="6668">
                      <a:solidFill>
                        <a:srgbClr val="304151"/>
                      </a:solidFill>
                    </a:lnR>
                    <a:lnB w="6668">
                      <a:solidFill>
                        <a:srgbClr val="304151"/>
                      </a:solidFill>
                    </a:lnB>
                    <a:solidFill>
                      <a:srgbClr val="0B1522"/>
                    </a:solidFill>
                  </a:tcPr>
                </a:tc>
                <a:tc>
                  <a:txBody>
                    <a:bodyPr lIns="123825" tIns="123825" rIns="123825" bIns="123825"/>
                    <a:lstStyle/>
                    <a:p>
                      <a:r>
                        <a:rPr sz="2100" b="0">
                          <a:solidFill>
                            <a:srgbClr val="F3F5F3"/>
                          </a:solidFill>
                          <a:latin typeface="Segoe UI"/>
                          <a:ea typeface="Segoe UI"/>
                          <a:cs typeface="Segoe UI"/>
                        </a:rPr>
                        <a:t>3u(d + u + 2)</a:t>
                      </a:r>
                    </a:p>
                  </a:txBody>
                  <a:tcPr marL="91440" marR="91440" marT="45720" marB="45720" anchor="ctr">
                    <a:lnR w="6668">
                      <a:solidFill>
                        <a:srgbClr val="304151"/>
                      </a:solidFill>
                    </a:lnR>
                    <a:lnB w="6668">
                      <a:solidFill>
                        <a:srgbClr val="304151"/>
                      </a:solidFill>
                    </a:lnB>
                    <a:solidFill>
                      <a:srgbClr val="0B1522"/>
                    </a:solidFill>
                  </a:tcPr>
                </a:tc>
                <a:tc>
                  <a:txBody>
                    <a:bodyPr lIns="123825" tIns="123825" rIns="123825" bIns="123825"/>
                    <a:lstStyle/>
                    <a:p>
                      <a:r>
                        <a:rPr sz="2100" b="0">
                          <a:solidFill>
                            <a:srgbClr val="F3F5F3"/>
                          </a:solidFill>
                          <a:latin typeface="Segoe UI"/>
                          <a:ea typeface="Segoe UI"/>
                          <a:cs typeface="Segoe UI"/>
                        </a:rPr>
                        <a:t>3 393</a:t>
                      </a:r>
                    </a:p>
                  </a:txBody>
                  <a:tcPr marL="91440" marR="91440" marT="45720" marB="45720" anchor="ctr">
                    <a:lnR w="6668">
                      <a:solidFill>
                        <a:srgbClr val="304151"/>
                      </a:solidFill>
                    </a:lnR>
                    <a:lnB w="6668">
                      <a:solidFill>
                        <a:srgbClr val="304151"/>
                      </a:solidFill>
                    </a:lnB>
                    <a:solidFill>
                      <a:srgbClr val="0B1522"/>
                    </a:solidFill>
                  </a:tcPr>
                </a:tc>
              </a:tr>
            </a:tbl>
          </a:graphicData>
        </a:graphic>
      </p:graphicFrame>
      <p:sp>
        <p:nvSpPr>
          <p:cNvPr id="5" name="">
            <a:extLst xmlns:a="http://schemas.openxmlformats.org/drawingml/2006/main">
              <a:ext uri="{FF2B5EF4-FFF2-40B4-BE49-F238E27FC236}">
                <a16:creationId xmlns:a16="http://schemas.microsoft.com/office/drawing/2014/main" id="{3075733C-D754-48B4-A86A-059C9E06C51D}"/>
              </a:ext>
            </a:extLst>
          </p:cNvPr>
          <p:cNvSpPr>
            <a:spLocks xmlns:a="http://schemas.openxmlformats.org/drawingml/2006/main" noGrp="1"/>
          </p:cNvSpPr>
          <p:nvPr/>
        </p:nvSpPr>
        <p:spPr>
          <a:xfrm xmlns:a="http://schemas.openxmlformats.org/drawingml/2006/main">
            <a:off x="5715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EAFBF"/>
                </a:solidFill>
                <a:latin typeface="Segoe UI"/>
                <a:ea typeface="Segoe UI"/>
                <a:cs typeface="Segoe UI"/>
              </a:defRPr>
            </a:defPPr>
          </a:lstStyle>
          <a:p xmlns:a="http://schemas.openxmlformats.org/drawingml/2006/main">
            <a:pPr>
              <a:defRPr sz="1575" b="0">
                <a:solidFill>
                  <a:srgbClr val="9EAFBF"/>
                </a:solidFill>
                <a:latin typeface="Segoe UI"/>
                <a:ea typeface="Segoe UI"/>
                <a:cs typeface="Segoe UI"/>
              </a:defRPr>
            </a:pPr>
            <a:r>
              <a:rPr sz="1575" b="0">
                <a:solidFill>
                  <a:srgbClr val="9EAFBF"/>
                </a:solidFill>
                <a:latin typeface="Segoe UI"/>
                <a:ea typeface="Segoe UI"/>
                <a:cs typeface="Segoe UI"/>
              </a:rPr>
              <a:t>d = 1, u = 32. Dense(1) ajoute 33 paramètres. GRU utilise reset_after=True.</a:t>
            </a:r>
          </a:p>
        </p:txBody>
      </p:sp>
    </p:spTree>
    <p:extLst>
      <p:ext uri="{BB962C8B-B14F-4D97-AF65-F5344CB8AC3E}">
        <p14:creationId xmlns:p14="http://schemas.microsoft.com/office/powerpoint/2010/main" val="1976529660"/>
      </p:ext>
    </p:extLst>
  </p:cSld>
</p:sld>
</file>

<file path=ppt/slides/slide25.xml><?xml version="1.0" encoding="utf-8"?>
<p:sld xmlns:p="http://schemas.openxmlformats.org/presentationml/2006/main">
  <p:cSld>
    <p:bg>
      <p:bgPr>
        <a:solidFill xmlns:a="http://schemas.openxmlformats.org/drawingml/2006/main">
          <a:srgbClr val="0B15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567F94-E322-43BD-9451-E29166E4EB38}"/>
              </a:ext>
            </a:extLst>
          </p:cNvPr>
          <p:cNvSpPr>
            <a:spLocks xmlns:a="http://schemas.openxmlformats.org/drawingml/2006/main" noGrp="1"/>
          </p:cNvSpPr>
          <p:nvPr/>
        </p:nvSpPr>
        <p:spPr>
          <a:xfrm xmlns:a="http://schemas.openxmlformats.org/drawingml/2006/main">
            <a:off x="571500" y="26670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9EAFBF"/>
                </a:solidFill>
                <a:latin typeface="Segoe UI"/>
                <a:ea typeface="Segoe UI"/>
                <a:cs typeface="Segoe UI"/>
              </a:defRPr>
            </a:defPPr>
          </a:lstStyle>
          <a:p xmlns:a="http://schemas.openxmlformats.org/drawingml/2006/main">
            <a:pPr>
              <a:defRPr sz="1125" b="1">
                <a:solidFill>
                  <a:srgbClr val="9EAFBF"/>
                </a:solidFill>
                <a:latin typeface="Segoe UI"/>
                <a:ea typeface="Segoe UI"/>
                <a:cs typeface="Segoe UI"/>
              </a:defRPr>
            </a:pPr>
            <a:r>
              <a:rPr sz="1125" b="1">
                <a:solidFill>
                  <a:srgbClr val="9EAFBF"/>
                </a:solidFill>
                <a:latin typeface="Segoe UI"/>
                <a:ea typeface="Segoe UI"/>
                <a:cs typeface="Segoe UI"/>
              </a:rPr>
              <a:t>ANNEXE</a:t>
            </a:r>
          </a:p>
        </p:txBody>
      </p:sp>
      <p:sp>
        <p:nvSpPr>
          <p:cNvPr id="2" name="">
            <a:extLst xmlns:a="http://schemas.openxmlformats.org/drawingml/2006/main">
              <a:ext uri="{FF2B5EF4-FFF2-40B4-BE49-F238E27FC236}">
                <a16:creationId xmlns:a16="http://schemas.microsoft.com/office/drawing/2014/main" id="{5174F38D-899A-412F-8666-790F02716C4A}"/>
              </a:ext>
            </a:extLst>
          </p:cNvPr>
          <p:cNvSpPr>
            <a:spLocks xmlns:a="http://schemas.openxmlformats.org/drawingml/2006/main" noGrp="1"/>
          </p:cNvSpPr>
          <p:nvPr/>
        </p:nvSpPr>
        <p:spPr>
          <a:xfrm xmlns:a="http://schemas.openxmlformats.org/drawingml/2006/main">
            <a:off x="11239500" y="63341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9EAFBF"/>
                </a:solidFill>
                <a:latin typeface="Segoe UI"/>
                <a:ea typeface="Segoe UI"/>
                <a:cs typeface="Segoe UI"/>
              </a:defRPr>
            </a:defPPr>
          </a:lstStyle>
          <a:p xmlns:a="http://schemas.openxmlformats.org/drawingml/2006/main">
            <a:pPr>
              <a:defRPr sz="1275" b="0">
                <a:solidFill>
                  <a:srgbClr val="9EAFBF"/>
                </a:solidFill>
                <a:latin typeface="Segoe UI"/>
                <a:ea typeface="Segoe UI"/>
                <a:cs typeface="Segoe UI"/>
              </a:defRPr>
            </a:pPr>
            <a:r>
              <a:rPr sz="1275" b="0">
                <a:solidFill>
                  <a:srgbClr val="9EAFBF"/>
                </a:solidFill>
                <a:latin typeface="Segoe UI"/>
                <a:ea typeface="Segoe UI"/>
                <a:cs typeface="Segoe UI"/>
              </a:rPr>
              <a:t>25</a:t>
            </a:r>
          </a:p>
        </p:txBody>
      </p:sp>
      <p:sp>
        <p:nvSpPr>
          <p:cNvPr id="3" name="">
            <a:extLst xmlns:a="http://schemas.openxmlformats.org/drawingml/2006/main">
              <a:ext uri="{FF2B5EF4-FFF2-40B4-BE49-F238E27FC236}">
                <a16:creationId xmlns:a16="http://schemas.microsoft.com/office/drawing/2014/main" id="{51B0E0DF-3338-4705-A101-3E4CE49BCE88}"/>
              </a:ext>
            </a:extLst>
          </p:cNvPr>
          <p:cNvSpPr>
            <a:spLocks xmlns:a="http://schemas.openxmlformats.org/drawingml/2006/main" noGrp="1"/>
          </p:cNvSpPr>
          <p:nvPr/>
        </p:nvSpPr>
        <p:spPr>
          <a:xfrm xmlns:a="http://schemas.openxmlformats.org/drawingml/2006/main">
            <a:off x="571500" y="73342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3F5F3"/>
                </a:solidFill>
                <a:latin typeface="Segoe UI"/>
                <a:ea typeface="Segoe UI"/>
                <a:cs typeface="Segoe UI"/>
              </a:defRPr>
            </a:defPPr>
          </a:lstStyle>
          <a:p xmlns:a="http://schemas.openxmlformats.org/drawingml/2006/main">
            <a:pPr>
              <a:defRPr sz="3450" b="1">
                <a:solidFill>
                  <a:srgbClr val="F3F5F3"/>
                </a:solidFill>
                <a:latin typeface="Segoe UI"/>
                <a:ea typeface="Segoe UI"/>
                <a:cs typeface="Segoe UI"/>
              </a:defRPr>
            </a:pPr>
            <a:r>
              <a:rPr sz="3450" b="1">
                <a:solidFill>
                  <a:srgbClr val="F3F5F3"/>
                </a:solidFill>
                <a:latin typeface="Segoe UI"/>
                <a:ea typeface="Segoe UI"/>
                <a:cs typeface="Segoe UI"/>
              </a:rPr>
              <a:t>Sources et traçabilité</a:t>
            </a:r>
          </a:p>
        </p:txBody>
      </p:sp>
      <p:sp>
        <p:nvSpPr>
          <p:cNvPr id="4" name="">
            <a:extLst xmlns:a="http://schemas.openxmlformats.org/drawingml/2006/main">
              <a:ext uri="{FF2B5EF4-FFF2-40B4-BE49-F238E27FC236}">
                <a16:creationId xmlns:a16="http://schemas.microsoft.com/office/drawing/2014/main" id="{119D6665-E6B2-4C15-9DBB-A13D3FC0F492}"/>
              </a:ext>
            </a:extLst>
          </p:cNvPr>
          <p:cNvSpPr>
            <a:spLocks xmlns:a="http://schemas.openxmlformats.org/drawingml/2006/main" noGrp="1"/>
          </p:cNvSpPr>
          <p:nvPr/>
        </p:nvSpPr>
        <p:spPr>
          <a:xfrm xmlns:a="http://schemas.openxmlformats.org/drawingml/2006/main">
            <a:off x="619125" y="204787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68B9E8"/>
                </a:solidFill>
                <a:latin typeface="Segoe UI"/>
                <a:ea typeface="Segoe UI"/>
                <a:cs typeface="Segoe UI"/>
              </a:defRPr>
            </a:defPPr>
          </a:lstStyle>
          <a:p xmlns:a="http://schemas.openxmlformats.org/drawingml/2006/main">
            <a:pPr>
              <a:defRPr sz="1575" b="1">
                <a:solidFill>
                  <a:srgbClr val="68B9E8"/>
                </a:solidFill>
                <a:latin typeface="Segoe UI"/>
                <a:ea typeface="Segoe UI"/>
                <a:cs typeface="Segoe UI"/>
              </a:defRPr>
            </a:pPr>
            <a:r>
              <a:rPr sz="1575" b="1">
                <a:solidFill>
                  <a:srgbClr val="68B9E8"/>
                </a:solidFill>
                <a:latin typeface="Segoe UI"/>
                <a:ea typeface="Segoe UI"/>
                <a:cs typeface="Segoe UI"/>
              </a:rPr>
              <a:t>DONNÉES</a:t>
            </a:r>
          </a:p>
        </p:txBody>
      </p:sp>
      <p:sp>
        <p:nvSpPr>
          <p:cNvPr id="5" name="">
            <a:extLst xmlns:a="http://schemas.openxmlformats.org/drawingml/2006/main">
              <a:ext uri="{FF2B5EF4-FFF2-40B4-BE49-F238E27FC236}">
                <a16:creationId xmlns:a16="http://schemas.microsoft.com/office/drawing/2014/main" id="{6DE391A1-1FBE-4AFC-A121-BE6D049677D1}"/>
              </a:ext>
            </a:extLst>
          </p:cNvPr>
          <p:cNvSpPr>
            <a:spLocks xmlns:a="http://schemas.openxmlformats.org/drawingml/2006/main" noGrp="1"/>
          </p:cNvSpPr>
          <p:nvPr/>
        </p:nvSpPr>
        <p:spPr>
          <a:xfrm xmlns:a="http://schemas.openxmlformats.org/drawingml/2006/main">
            <a:off x="619125" y="2476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3F5F3"/>
                </a:solidFill>
                <a:latin typeface="Segoe UI"/>
                <a:ea typeface="Segoe UI"/>
                <a:cs typeface="Segoe UI"/>
              </a:defRPr>
            </a:defPPr>
          </a:lstStyle>
          <a:p xmlns:a="http://schemas.openxmlformats.org/drawingml/2006/main">
            <a:pPr>
              <a:defRPr sz="2100" b="0">
                <a:solidFill>
                  <a:srgbClr val="F3F5F3"/>
                </a:solidFill>
                <a:latin typeface="Segoe UI"/>
                <a:ea typeface="Segoe UI"/>
                <a:cs typeface="Segoe UI"/>
              </a:defRPr>
            </a:pPr>
            <a:r>
              <a:rPr sz="2100" b="0">
                <a:solidFill>
                  <a:srgbClr val="F3F5F3"/>
                </a:solidFill>
                <a:latin typeface="Segoe UI"/>
                <a:ea typeface="Segoe UI"/>
                <a:cs typeface="Segoe UI"/>
              </a:rPr>
              <a:t>TensorFlow : Time series forecasting</a:t>
            </a:r>
          </a:p>
          <a:p xmlns:a="http://schemas.openxmlformats.org/drawingml/2006/main">
            <a:pPr>
              <a:defRPr sz="2100" b="0">
                <a:solidFill>
                  <a:srgbClr val="F3F5F3"/>
                </a:solidFill>
                <a:latin typeface="Segoe UI"/>
                <a:ea typeface="Segoe UI"/>
                <a:cs typeface="Segoe UI"/>
              </a:defRPr>
            </a:pPr>
            <a:r>
              <a:rPr sz="2100" b="0">
                <a:solidFill>
                  <a:srgbClr val="F3F5F3"/>
                </a:solidFill>
                <a:latin typeface="Segoe UI"/>
                <a:ea typeface="Segoe UI"/>
                <a:cs typeface="Segoe UI"/>
              </a:rPr>
              <a:t>tensorflow.org/tutorials/structured_data/time_series</a:t>
            </a:r>
          </a:p>
        </p:txBody>
      </p:sp>
      <p:sp>
        <p:nvSpPr>
          <p:cNvPr id="6" name="">
            <a:extLst xmlns:a="http://schemas.openxmlformats.org/drawingml/2006/main">
              <a:ext uri="{FF2B5EF4-FFF2-40B4-BE49-F238E27FC236}">
                <a16:creationId xmlns:a16="http://schemas.microsoft.com/office/drawing/2014/main" id="{8C190438-F6B3-4643-BE76-B6D3755A9838}"/>
              </a:ext>
            </a:extLst>
          </p:cNvPr>
          <p:cNvSpPr>
            <a:spLocks xmlns:a="http://schemas.openxmlformats.org/drawingml/2006/main" noGrp="1"/>
          </p:cNvSpPr>
          <p:nvPr/>
        </p:nvSpPr>
        <p:spPr>
          <a:xfrm xmlns:a="http://schemas.openxmlformats.org/drawingml/2006/main">
            <a:off x="619125" y="36195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EBA36D"/>
                </a:solidFill>
                <a:latin typeface="Segoe UI"/>
                <a:ea typeface="Segoe UI"/>
                <a:cs typeface="Segoe UI"/>
              </a:defRPr>
            </a:defPPr>
          </a:lstStyle>
          <a:p xmlns:a="http://schemas.openxmlformats.org/drawingml/2006/main">
            <a:pPr>
              <a:defRPr sz="1575" b="1">
                <a:solidFill>
                  <a:srgbClr val="EBA36D"/>
                </a:solidFill>
                <a:latin typeface="Segoe UI"/>
                <a:ea typeface="Segoe UI"/>
                <a:cs typeface="Segoe UI"/>
              </a:defRPr>
            </a:pPr>
            <a:r>
              <a:rPr sz="1575" b="1">
                <a:solidFill>
                  <a:srgbClr val="EBA36D"/>
                </a:solidFill>
                <a:latin typeface="Segoe UI"/>
                <a:ea typeface="Segoe UI"/>
                <a:cs typeface="Segoe UI"/>
              </a:rPr>
              <a:t>ARCHITECTURES</a:t>
            </a:r>
          </a:p>
        </p:txBody>
      </p:sp>
      <p:sp>
        <p:nvSpPr>
          <p:cNvPr id="7" name="">
            <a:extLst xmlns:a="http://schemas.openxmlformats.org/drawingml/2006/main">
              <a:ext uri="{FF2B5EF4-FFF2-40B4-BE49-F238E27FC236}">
                <a16:creationId xmlns:a16="http://schemas.microsoft.com/office/drawing/2014/main" id="{DD6D7B9D-315E-4C69-A463-5D16EB978B77}"/>
              </a:ext>
            </a:extLst>
          </p:cNvPr>
          <p:cNvSpPr>
            <a:spLocks xmlns:a="http://schemas.openxmlformats.org/drawingml/2006/main" noGrp="1"/>
          </p:cNvSpPr>
          <p:nvPr/>
        </p:nvSpPr>
        <p:spPr>
          <a:xfrm xmlns:a="http://schemas.openxmlformats.org/drawingml/2006/main">
            <a:off x="619125"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3F5F3"/>
                </a:solidFill>
                <a:latin typeface="Segoe UI"/>
                <a:ea typeface="Segoe UI"/>
                <a:cs typeface="Segoe UI"/>
              </a:defRPr>
            </a:defPPr>
          </a:lstStyle>
          <a:p xmlns:a="http://schemas.openxmlformats.org/drawingml/2006/main">
            <a:pPr>
              <a:defRPr sz="2100" b="0">
                <a:solidFill>
                  <a:srgbClr val="F3F5F3"/>
                </a:solidFill>
                <a:latin typeface="Segoe UI"/>
                <a:ea typeface="Segoe UI"/>
                <a:cs typeface="Segoe UI"/>
              </a:defRPr>
            </a:pPr>
            <a:r>
              <a:rPr sz="2100" b="0">
                <a:solidFill>
                  <a:srgbClr val="F3F5F3"/>
                </a:solidFill>
                <a:latin typeface="Segoe UI"/>
                <a:ea typeface="Segoe UI"/>
                <a:cs typeface="Segoe UI"/>
              </a:rPr>
              <a:t>Documentation Keras : SimpleRNN, LSTM, GRU</a:t>
            </a:r>
          </a:p>
          <a:p xmlns:a="http://schemas.openxmlformats.org/drawingml/2006/main">
            <a:pPr>
              <a:defRPr sz="2100" b="0">
                <a:solidFill>
                  <a:srgbClr val="F3F5F3"/>
                </a:solidFill>
                <a:latin typeface="Segoe UI"/>
                <a:ea typeface="Segoe UI"/>
                <a:cs typeface="Segoe UI"/>
              </a:defRPr>
            </a:pPr>
            <a:r>
              <a:rPr sz="2100" b="0">
                <a:solidFill>
                  <a:srgbClr val="F3F5F3"/>
                </a:solidFill>
                <a:latin typeface="Segoe UI"/>
                <a:ea typeface="Segoe UI"/>
                <a:cs typeface="Segoe UI"/>
              </a:rPr>
              <a:t>keras.io/api/layers/recurrent_layers/</a:t>
            </a:r>
          </a:p>
        </p:txBody>
      </p:sp>
      <p:sp>
        <p:nvSpPr>
          <p:cNvPr id="8" name="">
            <a:extLst xmlns:a="http://schemas.openxmlformats.org/drawingml/2006/main">
              <a:ext uri="{FF2B5EF4-FFF2-40B4-BE49-F238E27FC236}">
                <a16:creationId xmlns:a16="http://schemas.microsoft.com/office/drawing/2014/main" id="{CE621FFC-DBAA-48F3-913C-72E3A207F2DB}"/>
              </a:ext>
            </a:extLst>
          </p:cNvPr>
          <p:cNvSpPr>
            <a:spLocks xmlns:a="http://schemas.openxmlformats.org/drawingml/2006/main" noGrp="1"/>
          </p:cNvSpPr>
          <p:nvPr/>
        </p:nvSpPr>
        <p:spPr>
          <a:xfrm xmlns:a="http://schemas.openxmlformats.org/drawingml/2006/main">
            <a:off x="619125" y="51911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D0DF8E"/>
                </a:solidFill>
                <a:latin typeface="Segoe UI"/>
                <a:ea typeface="Segoe UI"/>
                <a:cs typeface="Segoe UI"/>
              </a:defRPr>
            </a:defPPr>
          </a:lstStyle>
          <a:p xmlns:a="http://schemas.openxmlformats.org/drawingml/2006/main">
            <a:pPr>
              <a:defRPr sz="1575" b="1">
                <a:solidFill>
                  <a:srgbClr val="D0DF8E"/>
                </a:solidFill>
                <a:latin typeface="Segoe UI"/>
                <a:ea typeface="Segoe UI"/>
                <a:cs typeface="Segoe UI"/>
              </a:defRPr>
            </a:pPr>
            <a:r>
              <a:rPr sz="1575" b="1">
                <a:solidFill>
                  <a:srgbClr val="D0DF8E"/>
                </a:solidFill>
                <a:latin typeface="Segoe UI"/>
                <a:ea typeface="Segoe UI"/>
                <a:cs typeface="Segoe UI"/>
              </a:rPr>
              <a:t>EXPÉRIENCE LOCALE</a:t>
            </a:r>
          </a:p>
        </p:txBody>
      </p:sp>
      <p:sp>
        <p:nvSpPr>
          <p:cNvPr id="9" name="">
            <a:extLst xmlns:a="http://schemas.openxmlformats.org/drawingml/2006/main">
              <a:ext uri="{FF2B5EF4-FFF2-40B4-BE49-F238E27FC236}">
                <a16:creationId xmlns:a16="http://schemas.microsoft.com/office/drawing/2014/main" id="{35C5488B-1FB4-4DE8-96E1-A25650B48FF4}"/>
              </a:ext>
            </a:extLst>
          </p:cNvPr>
          <p:cNvSpPr>
            <a:spLocks xmlns:a="http://schemas.openxmlformats.org/drawingml/2006/main" noGrp="1"/>
          </p:cNvSpPr>
          <p:nvPr/>
        </p:nvSpPr>
        <p:spPr>
          <a:xfrm xmlns:a="http://schemas.openxmlformats.org/drawingml/2006/main">
            <a:off x="619125" y="55816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3F5F3"/>
                </a:solidFill>
                <a:latin typeface="Segoe UI"/>
                <a:ea typeface="Segoe UI"/>
                <a:cs typeface="Segoe UI"/>
              </a:defRPr>
            </a:defPPr>
          </a:lstStyle>
          <a:p xmlns:a="http://schemas.openxmlformats.org/drawingml/2006/main">
            <a:pPr>
              <a:defRPr sz="1875" b="0">
                <a:solidFill>
                  <a:srgbClr val="F3F5F3"/>
                </a:solidFill>
                <a:latin typeface="Segoe UI"/>
                <a:ea typeface="Segoe UI"/>
                <a:cs typeface="Segoe UI"/>
              </a:defRPr>
            </a:pPr>
            <a:r>
              <a:rPr sz="1875" b="0">
                <a:solidFill>
                  <a:srgbClr val="F3F5F3"/>
                </a:solidFill>
                <a:latin typeface="Segoe UI"/>
                <a:ea typeface="Segoe UI"/>
                <a:cs typeface="Segoe UI"/>
              </a:rPr>
              <a:t>4614d659431c : modèles, historiques, scores et prévisions conservés.</a:t>
            </a:r>
          </a:p>
        </p:txBody>
      </p:sp>
    </p:spTree>
    <p:extLst>
      <p:ext uri="{BB962C8B-B14F-4D97-AF65-F5344CB8AC3E}">
        <p14:creationId xmlns:p14="http://schemas.microsoft.com/office/powerpoint/2010/main" val="1754171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2026-10-15T00:07:22.0300000Z</dcterms:created>
  <dcterms:modified xsi:type="dcterms:W3CDTF">2026-10-15T00:07:22.0300000Z</dcterms:modified>
</coreProperties>
</file>